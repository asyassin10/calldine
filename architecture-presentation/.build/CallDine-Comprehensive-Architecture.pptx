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980677785bf46dc" /><Relationship Type="http://schemas.openxmlformats.org/officeDocument/2006/relationships/extended-properties" Target="/docProps/app.xml" Id="R449bc2dd11ea4e16" /><Relationship Type="http://schemas.openxmlformats.org/officeDocument/2006/relationships/officeDocument" Target="/ppt/presentation.xml" Id="R5df7cf7b90974017" /></Relationships>
</file>

<file path=ppt/presentation.xml><?xml version="1.0" encoding="utf-8"?>
<p:presentation xmlns:p="http://schemas.openxmlformats.org/presentationml/2006/main">
  <p:sldMasterIdLst>
    <p:sldMasterId xmlns:r="http://schemas.openxmlformats.org/officeDocument/2006/relationships" id="2147483648" r:id="R334b168a47ea49a1"/>
  </p:sldMasterIdLst>
  <p:notesMasterIdLst>
    <p:notesMasterId xmlns:r="http://schemas.openxmlformats.org/officeDocument/2006/relationships" r:id="R3f4178c8ddf7459e"/>
  </p:notesMasterIdLst>
  <p:sldIdLst>
    <p:sldId xmlns:r="http://schemas.openxmlformats.org/officeDocument/2006/relationships" id="256" r:id="Rc28fedc66a364219"/>
  </p:sldIdLst>
  <p:sldSz cx="36576000" cy="20574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d4e9beb1a504c34" /><Relationship Type="http://schemas.openxmlformats.org/officeDocument/2006/relationships/slideMaster" Target="/ppt/slideMasters/slideMaster1.xml" Id="R334b168a47ea49a1" /><Relationship Type="http://schemas.openxmlformats.org/officeDocument/2006/relationships/notesMaster" Target="/ppt/notesMasters/notesMaster1.xml" Id="R3f4178c8ddf7459e" /><Relationship Type="http://schemas.openxmlformats.org/officeDocument/2006/relationships/presProps" Target="/ppt/presProps.xml" Id="Ref6353ef23f544ab" /><Relationship Type="http://schemas.openxmlformats.org/officeDocument/2006/relationships/tableStyles" Target="/ppt/tableStyles.xml" Id="R05c26c69d9d74ac8" /><Relationship Type="http://schemas.openxmlformats.org/officeDocument/2006/relationships/slide" Target="/ppt/slides/slide1.xml" Id="Rc28fedc66a36421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4f580638f8444b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34d372465a94350" /><Relationship Type="http://schemas.openxmlformats.org/officeDocument/2006/relationships/notesMaster" Target="/ppt/notesMasters/notesMaster1.xml" Id="R5661b354283947c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full map covers application runtime, operational persistence, PDF ingestion, Titan text embeddings, Qdrant storage and retrieval, Bedrock tool execution, the eight business tools, the complete voice loop, Chime session setup, recordings and S3 prefixes, and planned SageMaker forecasting. Workflow arrows show logical stages; backend services coordinate calls. Bedrock never connects directly to SQLite or Qdrant. Qdrant runs in Docker. Optional Guardrails attach to chat requests; policy configuration was not verified. Order and booking approval relies on model-supplied flags and backend business validation; concurrency and idempotency guarantees are not established. Knowledge processing is in-process rather than an external queue. Native token streaming applies only to some answer paths. Voice playback is turn-based. The separate MCP adapter is not part of the main chat path.</a:t>
            </a:r>
          </a:p>
          <a:p xmlns:a="http://schemas.openxmlformats.org/drawingml/2006/main">
            <a:r>
              <a:t>Source: CallDine repository scanned 12 September 2026. AWS icons: https://aws.amazon.com/architecture/icons/ . AWS logo: https://a0.awsstatic.com/libra-css/images/logos/aws_logo_smile_1200x630.png . Next.js logo: https://assets.vercel.com/image/upload/v1662130559/nextjs/Icon_light_background.png . FastAPI icon: https://github.com/fastapi/fastapi/blob/master/docs/en/docs/img/icon-white.svg . CallDine logo: Frontend/components/ui/Logo.tsx. Brand colors: Frontend/app/globals.css. Guardrails policy documentation: https://docs.aws.amazon.com/bedrock/latest/userguide/guardrails-components.html and https://docs.aws.amazon.com/bedrock/latest/userguide/guardrails-prompt-attack.html . Policies are configuration-dependent and not verified as enabled in this AWS account. SQLite logo: https://sqlite.org/images/sqlite370_banner.gif . Qdrant logo: https://github.com/qdrant/qdrant/blob/master/docs/logo.svg . Docker logo: https://www.docker.com/company/newsroom/media-resources/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dbbc76705c449a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201c182639647da" /><Relationship Type="http://schemas.openxmlformats.org/officeDocument/2006/relationships/slideLayout" Target="/ppt/slideLayouts/slideLayout1.xml" Id="R760d8ca64505419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60d8ca64505419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0c4464eb6914585" /><Relationship Type="http://schemas.openxmlformats.org/officeDocument/2006/relationships/image" Target="/ppt/media/image.png" Id="R0ab83e029143412c" /><Relationship Type="http://schemas.openxmlformats.org/officeDocument/2006/relationships/image" Target="/ppt/media/image2.png" Id="R2e7b00f9fe19490a" /><Relationship Type="http://schemas.openxmlformats.org/officeDocument/2006/relationships/image" Target="/ppt/media/image3.png" Id="R39273c45330b49da" /><Relationship Type="http://schemas.openxmlformats.org/officeDocument/2006/relationships/image" Target="/ppt/media/image4.png" Id="R6cafce27f0ce43b9" /><Relationship Type="http://schemas.openxmlformats.org/officeDocument/2006/relationships/image" Target="/ppt/media/image5.png" Id="Rcc1491118f074e2c" /><Relationship Type="http://schemas.openxmlformats.org/officeDocument/2006/relationships/image" Target="/ppt/media/image6.png" Id="R4bd42da49aa444e8" /><Relationship Type="http://schemas.openxmlformats.org/officeDocument/2006/relationships/image" Target="/ppt/media/image7.png" Id="R91c4dfd53ade49f7" /><Relationship Type="http://schemas.openxmlformats.org/officeDocument/2006/relationships/image" Target="/ppt/media/image8.png" Id="R3f615f5683604cc7" /><Relationship Type="http://schemas.openxmlformats.org/officeDocument/2006/relationships/image" Target="/ppt/media/image9.png" Id="R46bc875865a847e4" /><Relationship Type="http://schemas.openxmlformats.org/officeDocument/2006/relationships/image" Target="/ppt/media/image10.png" Id="R81b2e5e58cc84dc9" /><Relationship Type="http://schemas.openxmlformats.org/officeDocument/2006/relationships/image" Target="/ppt/media/image11.png" Id="Rf25d3b77ba8c4239" /><Relationship Type="http://schemas.openxmlformats.org/officeDocument/2006/relationships/image" Target="/ppt/media/image12.png" Id="R15a75e1f00094718" /><Relationship Type="http://schemas.openxmlformats.org/officeDocument/2006/relationships/image" Target="/ppt/media/image13.png" Id="Rf0b3a5cf802f407a" /><Relationship Type="http://schemas.openxmlformats.org/officeDocument/2006/relationships/image" Target="/ppt/media/image14.png" Id="Rc9254c23739d48af" /><Relationship Type="http://schemas.openxmlformats.org/officeDocument/2006/relationships/image" Target="/ppt/media/image15.png" Id="Rf81b4b8698664c41" /><Relationship Type="http://schemas.openxmlformats.org/officeDocument/2006/relationships/image" Target="/ppt/media/image16.png" Id="R5dd8d6012b004a1c" /><Relationship Type="http://schemas.openxmlformats.org/officeDocument/2006/relationships/image" Target="/ppt/media/image17.png" Id="Ra44bcc7dcb7e4205" /><Relationship Type="http://schemas.openxmlformats.org/officeDocument/2006/relationships/image" Target="/ppt/media/image18.png" Id="R77100194ca464a06" /><Relationship Type="http://schemas.openxmlformats.org/officeDocument/2006/relationships/image" Target="/ppt/media/image19.png" Id="R9725cef51bb946b7" /><Relationship Type="http://schemas.openxmlformats.org/officeDocument/2006/relationships/image" Target="/ppt/media/image20.png" Id="Refee1a68dc984127" /><Relationship Type="http://schemas.openxmlformats.org/officeDocument/2006/relationships/image" Target="/ppt/media/image21.png" Id="R7809307854b2434a" /><Relationship Type="http://schemas.openxmlformats.org/officeDocument/2006/relationships/image" Target="/ppt/media/image22.png" Id="R4593060bd6e24432" /><Relationship Type="http://schemas.openxmlformats.org/officeDocument/2006/relationships/image" Target="/ppt/media/image23.png" Id="R740d632b7bae4d00" /><Relationship Type="http://schemas.openxmlformats.org/officeDocument/2006/relationships/image" Target="/ppt/media/image24.png" Id="R313bd4847c7c4452" /><Relationship Type="http://schemas.openxmlformats.org/officeDocument/2006/relationships/image" Target="/ppt/media/image25.png" Id="Ra5c9c60d8bfc4884" /><Relationship Type="http://schemas.openxmlformats.org/officeDocument/2006/relationships/image" Target="/ppt/media/image26.png" Id="Rcc9c31a915384518" /><Relationship Type="http://schemas.openxmlformats.org/officeDocument/2006/relationships/image" Target="/ppt/media/image27.png" Id="R11bfce2fcd064fc7" /><Relationship Type="http://schemas.openxmlformats.org/officeDocument/2006/relationships/image" Target="/ppt/media/image28.png" Id="R39a1c14589f246be" /><Relationship Type="http://schemas.openxmlformats.org/officeDocument/2006/relationships/image" Target="/ppt/media/image29.png" Id="R4ca83b0eeddb4b3b" /><Relationship Type="http://schemas.openxmlformats.org/officeDocument/2006/relationships/image" Target="/ppt/media/image30.png" Id="R756d3991ba7a4db6" /><Relationship Type="http://schemas.openxmlformats.org/officeDocument/2006/relationships/image" Target="/ppt/media/image31.png" Id="Ra23e4a1c389d4ea2" /><Relationship Type="http://schemas.openxmlformats.org/officeDocument/2006/relationships/image" Target="/ppt/media/image32.png" Id="R198a0a3dff9247a4" /><Relationship Type="http://schemas.openxmlformats.org/officeDocument/2006/relationships/image" Target="/ppt/media/image33.png" Id="Re145b9a5caca444d" /><Relationship Type="http://schemas.openxmlformats.org/officeDocument/2006/relationships/notesSlide" Target="/ppt/notesSlides/notesSlide1.xml" Id="R6ea08c983e194e8f" /></Relationships>
</file>

<file path=ppt/slides/slide1.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pic>
        <p:nvPicPr>
          <p:cNvPr id="194" name=""/>
          <p:cNvPicPr>
            <a:picLocks xmlns:a="http://schemas.openxmlformats.org/drawingml/2006/main" noChangeAspect="1"/>
          </p:cNvPicPr>
          <p:nvPr/>
        </p:nvPicPr>
        <p:blipFill>
          <a:blip xmlns:r="http://schemas.openxmlformats.org/officeDocument/2006/relationships" xmlns:a="http://schemas.openxmlformats.org/drawingml/2006/main" r:embed="R0ab83e029143412c"/>
          <a:stretch xmlns:a="http://schemas.openxmlformats.org/drawingml/2006/main"/>
        </p:blipFill>
        <p:spPr>
          <a:xfrm xmlns:a="http://schemas.openxmlformats.org/drawingml/2006/main">
            <a:off x="571500" y="333375"/>
            <a:ext cx="742950" cy="7429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74869E4-02A1-4F34-A5E1-A648CC84A5AD}"/>
              </a:ext>
            </a:extLst>
          </p:cNvPr>
          <p:cNvSpPr>
            <a:spLocks xmlns:a="http://schemas.openxmlformats.org/drawingml/2006/main" noGrp="1"/>
          </p:cNvSpPr>
          <p:nvPr/>
        </p:nvSpPr>
        <p:spPr>
          <a:xfrm xmlns:a="http://schemas.openxmlformats.org/drawingml/2006/main">
            <a:off x="1485900" y="409575"/>
            <a:ext cx="5048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C9502F"/>
                </a:solidFill>
                <a:latin typeface="Arial"/>
                <a:ea typeface="Arial"/>
                <a:cs typeface="Arial"/>
              </a:defRPr>
            </a:pPr>
            <a:r>
              <a:rPr sz="4500" b="1">
                <a:solidFill>
                  <a:srgbClr val="C9502F"/>
                </a:solidFill>
                <a:latin typeface="Arial"/>
                <a:ea typeface="Arial"/>
                <a:cs typeface="Arial"/>
              </a:rPr>
              <a:t>CallDine</a:t>
            </a:r>
          </a:p>
        </p:txBody>
      </p:sp>
      <p:pic>
        <p:nvPicPr>
          <p:cNvPr id="196" name=""/>
          <p:cNvPicPr>
            <a:picLocks xmlns:a="http://schemas.openxmlformats.org/drawingml/2006/main" noChangeAspect="1"/>
          </p:cNvPicPr>
          <p:nvPr/>
        </p:nvPicPr>
        <p:blipFill>
          <a:blip xmlns:r="http://schemas.openxmlformats.org/officeDocument/2006/relationships" xmlns:a="http://schemas.openxmlformats.org/drawingml/2006/main" r:embed="R2e7b00f9fe19490a"/>
          <a:stretch xmlns:a="http://schemas.openxmlformats.org/drawingml/2006/main"/>
        </p:blipFill>
        <p:spPr>
          <a:xfrm xmlns:a="http://schemas.openxmlformats.org/drawingml/2006/main">
            <a:off x="31904214" y="142875"/>
            <a:ext cx="3628571" cy="1905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BDD304A-697A-440F-9F88-C3DCC177F1B6}"/>
              </a:ext>
            </a:extLst>
          </p:cNvPr>
          <p:cNvSpPr>
            <a:spLocks xmlns:a="http://schemas.openxmlformats.org/drawingml/2006/main" noGrp="1"/>
          </p:cNvSpPr>
          <p:nvPr/>
        </p:nvSpPr>
        <p:spPr>
          <a:xfrm xmlns:a="http://schemas.openxmlformats.org/drawingml/2006/main">
            <a:off x="571500" y="1428750"/>
            <a:ext cx="2971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34231D"/>
                </a:solidFill>
                <a:latin typeface="Arial"/>
                <a:ea typeface="Arial"/>
                <a:cs typeface="Arial"/>
              </a:defRPr>
            </a:pPr>
            <a:r>
              <a:rPr sz="5700" b="1">
                <a:solidFill>
                  <a:srgbClr val="34231D"/>
                </a:solidFill>
                <a:latin typeface="Arial"/>
                <a:ea typeface="Arial"/>
                <a:cs typeface="Arial"/>
              </a:rPr>
              <a:t>Complete architecture and workflow map</a:t>
            </a:r>
          </a:p>
        </p:txBody>
      </p:sp>
      <p:sp>
        <p:nvSpPr>
          <p:cNvPr id="5" name="">
            <a:extLst xmlns:a="http://schemas.openxmlformats.org/drawingml/2006/main">
              <a:ext uri="{FF2B5EF4-FFF2-40B4-BE49-F238E27FC236}">
                <a16:creationId xmlns:a16="http://schemas.microsoft.com/office/drawing/2014/main" id="{52397AD8-EDAE-4160-B63B-39AC574BD85D}"/>
              </a:ext>
            </a:extLst>
          </p:cNvPr>
          <p:cNvSpPr>
            <a:spLocks xmlns:a="http://schemas.openxmlformats.org/drawingml/2006/main" noGrp="1"/>
          </p:cNvSpPr>
          <p:nvPr/>
        </p:nvSpPr>
        <p:spPr>
          <a:xfrm xmlns:a="http://schemas.openxmlformats.org/drawingml/2006/main">
            <a:off x="619125" y="2505075"/>
            <a:ext cx="3333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0">
                <a:solidFill>
                  <a:srgbClr val="88766B"/>
                </a:solidFill>
                <a:latin typeface="Arial"/>
                <a:ea typeface="Arial"/>
                <a:cs typeface="Arial"/>
              </a:defRPr>
            </a:pPr>
            <a:r>
              <a:rPr sz="2850" b="0">
                <a:solidFill>
                  <a:srgbClr val="88766B"/>
                </a:solidFill>
                <a:latin typeface="Arial"/>
                <a:ea typeface="Arial"/>
                <a:cs typeface="Arial"/>
              </a:rPr>
              <a:t>Workflow arrows show processing order. FastAPI coordinates AWS calls, tool execution and data access.</a:t>
            </a:r>
          </a:p>
        </p:txBody>
      </p:sp>
      <p:sp>
        <p:nvSpPr>
          <p:cNvPr id="6" name="">
            <a:extLst xmlns:a="http://schemas.openxmlformats.org/drawingml/2006/main">
              <a:ext uri="{FF2B5EF4-FFF2-40B4-BE49-F238E27FC236}">
                <a16:creationId xmlns:a16="http://schemas.microsoft.com/office/drawing/2014/main" id="{58697EFB-71A9-4BC9-A635-7DF74E0028F1}"/>
              </a:ext>
            </a:extLst>
          </p:cNvPr>
          <p:cNvSpPr>
            <a:spLocks xmlns:a="http://schemas.openxmlformats.org/drawingml/2006/main" noGrp="1"/>
          </p:cNvSpPr>
          <p:nvPr/>
        </p:nvSpPr>
        <p:spPr>
          <a:xfrm xmlns:a="http://schemas.openxmlformats.org/drawingml/2006/main">
            <a:off x="571500" y="3429000"/>
            <a:ext cx="5334000"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200" name=""/>
          <p:cNvPicPr>
            <a:picLocks xmlns:a="http://schemas.openxmlformats.org/drawingml/2006/main" noChangeAspect="1"/>
          </p:cNvPicPr>
          <p:nvPr/>
        </p:nvPicPr>
        <p:blipFill>
          <a:blip xmlns:r="http://schemas.openxmlformats.org/officeDocument/2006/relationships" xmlns:a="http://schemas.openxmlformats.org/drawingml/2006/main" r:embed="R39273c45330b49da"/>
          <a:stretch xmlns:a="http://schemas.openxmlformats.org/drawingml/2006/main"/>
        </p:blipFill>
        <p:spPr>
          <a:xfrm xmlns:a="http://schemas.openxmlformats.org/drawingml/2006/main">
            <a:off x="742950" y="3581400"/>
            <a:ext cx="552450" cy="5524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A658A447-4AD8-48DE-9A0A-892F8508DA19}"/>
              </a:ext>
            </a:extLst>
          </p:cNvPr>
          <p:cNvSpPr>
            <a:spLocks xmlns:a="http://schemas.openxmlformats.org/drawingml/2006/main" noGrp="1"/>
          </p:cNvSpPr>
          <p:nvPr/>
        </p:nvSpPr>
        <p:spPr>
          <a:xfrm xmlns:a="http://schemas.openxmlformats.org/drawingml/2006/main">
            <a:off x="762000" y="4210050"/>
            <a:ext cx="4953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34231D"/>
                </a:solidFill>
                <a:latin typeface="Arial"/>
                <a:ea typeface="Arial"/>
                <a:cs typeface="Arial"/>
              </a:defRPr>
            </a:pPr>
            <a:r>
              <a:rPr sz="2325" b="1">
                <a:solidFill>
                  <a:srgbClr val="34231D"/>
                </a:solidFill>
                <a:latin typeface="Arial"/>
                <a:ea typeface="Arial"/>
                <a:cs typeface="Arial"/>
              </a:rPr>
              <a:t>Customer + admin</a:t>
            </a:r>
          </a:p>
        </p:txBody>
      </p:sp>
      <p:sp>
        <p:nvSpPr>
          <p:cNvPr id="9" name="">
            <a:extLst xmlns:a="http://schemas.openxmlformats.org/drawingml/2006/main">
              <a:ext uri="{FF2B5EF4-FFF2-40B4-BE49-F238E27FC236}">
                <a16:creationId xmlns:a16="http://schemas.microsoft.com/office/drawing/2014/main" id="{5AC0C8AC-3CEA-4186-9E51-3BE427942FB6}"/>
              </a:ext>
            </a:extLst>
          </p:cNvPr>
          <p:cNvSpPr>
            <a:spLocks xmlns:a="http://schemas.openxmlformats.org/drawingml/2006/main" noGrp="1"/>
          </p:cNvSpPr>
          <p:nvPr/>
        </p:nvSpPr>
        <p:spPr>
          <a:xfrm xmlns:a="http://schemas.openxmlformats.org/drawingml/2006/main">
            <a:off x="762000" y="4838700"/>
            <a:ext cx="4953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Chat, voice, orders, menu, bookings</a:t>
            </a:r>
          </a:p>
        </p:txBody>
      </p:sp>
      <p:sp>
        <p:nvSpPr>
          <p:cNvPr id="10" name="">
            <a:extLst xmlns:a="http://schemas.openxmlformats.org/drawingml/2006/main">
              <a:ext uri="{FF2B5EF4-FFF2-40B4-BE49-F238E27FC236}">
                <a16:creationId xmlns:a16="http://schemas.microsoft.com/office/drawing/2014/main" id="{7874D6A2-8A4A-4DC7-A6C3-0175FCD2472F}"/>
              </a:ext>
            </a:extLst>
          </p:cNvPr>
          <p:cNvSpPr>
            <a:spLocks xmlns:a="http://schemas.openxmlformats.org/drawingml/2006/main" noGrp="1"/>
          </p:cNvSpPr>
          <p:nvPr/>
        </p:nvSpPr>
        <p:spPr>
          <a:xfrm xmlns:a="http://schemas.openxmlformats.org/drawingml/2006/main">
            <a:off x="6572250" y="3429000"/>
            <a:ext cx="5334000"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204" name=""/>
          <p:cNvPicPr>
            <a:picLocks xmlns:a="http://schemas.openxmlformats.org/drawingml/2006/main" noChangeAspect="1"/>
          </p:cNvPicPr>
          <p:nvPr/>
        </p:nvPicPr>
        <p:blipFill>
          <a:blip xmlns:r="http://schemas.openxmlformats.org/officeDocument/2006/relationships" xmlns:a="http://schemas.openxmlformats.org/drawingml/2006/main" r:embed="R6cafce27f0ce43b9"/>
          <a:stretch xmlns:a="http://schemas.openxmlformats.org/drawingml/2006/main"/>
        </p:blipFill>
        <p:spPr>
          <a:xfrm xmlns:a="http://schemas.openxmlformats.org/drawingml/2006/main">
            <a:off x="6743700" y="3581400"/>
            <a:ext cx="552450" cy="552450"/>
          </a:xfrm>
          <a:prstGeom xmlns:a="http://schemas.openxmlformats.org/drawingml/2006/main" prst="rect">
            <a:avLst/>
          </a:prstGeom>
        </p:spPr>
      </p:pic>
      <p:sp>
        <p:nvSpPr>
          <p:cNvPr id="12" name="">
            <a:extLst xmlns:a="http://schemas.openxmlformats.org/drawingml/2006/main">
              <a:ext uri="{FF2B5EF4-FFF2-40B4-BE49-F238E27FC236}">
                <a16:creationId xmlns:a16="http://schemas.microsoft.com/office/drawing/2014/main" id="{5ECF92A9-7A3A-4BF8-8D21-B8CD45D9C50C}"/>
              </a:ext>
            </a:extLst>
          </p:cNvPr>
          <p:cNvSpPr>
            <a:spLocks xmlns:a="http://schemas.openxmlformats.org/drawingml/2006/main" noGrp="1"/>
          </p:cNvSpPr>
          <p:nvPr/>
        </p:nvSpPr>
        <p:spPr>
          <a:xfrm xmlns:a="http://schemas.openxmlformats.org/drawingml/2006/main">
            <a:off x="6762750" y="4210050"/>
            <a:ext cx="4953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34231D"/>
                </a:solidFill>
                <a:latin typeface="Arial"/>
                <a:ea typeface="Arial"/>
                <a:cs typeface="Arial"/>
              </a:defRPr>
            </a:pPr>
            <a:r>
              <a:rPr sz="2325" b="1">
                <a:solidFill>
                  <a:srgbClr val="34231D"/>
                </a:solidFill>
                <a:latin typeface="Arial"/>
                <a:ea typeface="Arial"/>
                <a:cs typeface="Arial"/>
              </a:rPr>
              <a:t>Next.js frontend + API</a:t>
            </a:r>
          </a:p>
        </p:txBody>
      </p:sp>
      <p:sp>
        <p:nvSpPr>
          <p:cNvPr id="13" name="">
            <a:extLst xmlns:a="http://schemas.openxmlformats.org/drawingml/2006/main">
              <a:ext uri="{FF2B5EF4-FFF2-40B4-BE49-F238E27FC236}">
                <a16:creationId xmlns:a16="http://schemas.microsoft.com/office/drawing/2014/main" id="{B2FED2CD-6FBE-45F0-A258-AB5A0EC2D9C6}"/>
              </a:ext>
            </a:extLst>
          </p:cNvPr>
          <p:cNvSpPr>
            <a:spLocks xmlns:a="http://schemas.openxmlformats.org/drawingml/2006/main" noGrp="1"/>
          </p:cNvSpPr>
          <p:nvPr/>
        </p:nvSpPr>
        <p:spPr>
          <a:xfrm xmlns:a="http://schemas.openxmlformats.org/drawingml/2006/main">
            <a:off x="6762750" y="4838700"/>
            <a:ext cx="4953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Session cookie forwarded as bearer token</a:t>
            </a:r>
          </a:p>
        </p:txBody>
      </p:sp>
      <p:sp>
        <p:nvSpPr>
          <p:cNvPr id="14" name="">
            <a:extLst xmlns:a="http://schemas.openxmlformats.org/drawingml/2006/main">
              <a:ext uri="{FF2B5EF4-FFF2-40B4-BE49-F238E27FC236}">
                <a16:creationId xmlns:a16="http://schemas.microsoft.com/office/drawing/2014/main" id="{986D3F43-ACDD-44BD-AF44-B78BFE5E848A}"/>
              </a:ext>
            </a:extLst>
          </p:cNvPr>
          <p:cNvSpPr>
            <a:spLocks xmlns:a="http://schemas.openxmlformats.org/drawingml/2006/main" noGrp="1"/>
          </p:cNvSpPr>
          <p:nvPr/>
        </p:nvSpPr>
        <p:spPr>
          <a:xfrm xmlns:a="http://schemas.openxmlformats.org/drawingml/2006/main">
            <a:off x="12573000" y="3429000"/>
            <a:ext cx="5334000"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5" name="">
            <a:extLst xmlns:a="http://schemas.openxmlformats.org/drawingml/2006/main">
              <a:ext uri="{FF2B5EF4-FFF2-40B4-BE49-F238E27FC236}">
                <a16:creationId xmlns:a16="http://schemas.microsoft.com/office/drawing/2014/main" id="{7885578D-5AD6-4AC3-88E9-14302AC59C80}"/>
              </a:ext>
            </a:extLst>
          </p:cNvPr>
          <p:cNvSpPr>
            <a:spLocks xmlns:a="http://schemas.openxmlformats.org/drawingml/2006/main" noGrp="1"/>
          </p:cNvSpPr>
          <p:nvPr/>
        </p:nvSpPr>
        <p:spPr>
          <a:xfrm xmlns:a="http://schemas.openxmlformats.org/drawingml/2006/main">
            <a:off x="12744450" y="3581400"/>
            <a:ext cx="552450" cy="55245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209" name=""/>
          <p:cNvPicPr>
            <a:picLocks xmlns:a="http://schemas.openxmlformats.org/drawingml/2006/main" noChangeAspect="1"/>
          </p:cNvPicPr>
          <p:nvPr/>
        </p:nvPicPr>
        <p:blipFill>
          <a:blip xmlns:r="http://schemas.openxmlformats.org/officeDocument/2006/relationships" xmlns:a="http://schemas.openxmlformats.org/drawingml/2006/main" r:embed="Rcc1491118f074e2c"/>
          <a:stretch xmlns:a="http://schemas.openxmlformats.org/drawingml/2006/main"/>
        </p:blipFill>
        <p:spPr>
          <a:xfrm xmlns:a="http://schemas.openxmlformats.org/drawingml/2006/main">
            <a:off x="12744450" y="3581400"/>
            <a:ext cx="552450" cy="552450"/>
          </a:xfrm>
          <a:prstGeom xmlns:a="http://schemas.openxmlformats.org/drawingml/2006/main" prst="rect">
            <a:avLst/>
          </a:prstGeom>
        </p:spPr>
      </p:pic>
      <p:sp>
        <p:nvSpPr>
          <p:cNvPr id="17" name="">
            <a:extLst xmlns:a="http://schemas.openxmlformats.org/drawingml/2006/main">
              <a:ext uri="{FF2B5EF4-FFF2-40B4-BE49-F238E27FC236}">
                <a16:creationId xmlns:a16="http://schemas.microsoft.com/office/drawing/2014/main" id="{9D6B6908-308D-4AFA-BE39-4C0291EFC02C}"/>
              </a:ext>
            </a:extLst>
          </p:cNvPr>
          <p:cNvSpPr>
            <a:spLocks xmlns:a="http://schemas.openxmlformats.org/drawingml/2006/main" noGrp="1"/>
          </p:cNvSpPr>
          <p:nvPr/>
        </p:nvSpPr>
        <p:spPr>
          <a:xfrm xmlns:a="http://schemas.openxmlformats.org/drawingml/2006/main">
            <a:off x="12763500" y="4210050"/>
            <a:ext cx="4953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34231D"/>
                </a:solidFill>
                <a:latin typeface="Arial"/>
                <a:ea typeface="Arial"/>
                <a:cs typeface="Arial"/>
              </a:defRPr>
            </a:pPr>
            <a:r>
              <a:rPr sz="2325" b="1">
                <a:solidFill>
                  <a:srgbClr val="34231D"/>
                </a:solidFill>
                <a:latin typeface="Arial"/>
                <a:ea typeface="Arial"/>
                <a:cs typeface="Arial"/>
              </a:rPr>
              <a:t>FastAPI API routes</a:t>
            </a:r>
          </a:p>
        </p:txBody>
      </p:sp>
      <p:sp>
        <p:nvSpPr>
          <p:cNvPr id="18" name="">
            <a:extLst xmlns:a="http://schemas.openxmlformats.org/drawingml/2006/main">
              <a:ext uri="{FF2B5EF4-FFF2-40B4-BE49-F238E27FC236}">
                <a16:creationId xmlns:a16="http://schemas.microsoft.com/office/drawing/2014/main" id="{F8F53204-E09D-4773-B232-031429F8C5AD}"/>
              </a:ext>
            </a:extLst>
          </p:cNvPr>
          <p:cNvSpPr>
            <a:spLocks xmlns:a="http://schemas.openxmlformats.org/drawingml/2006/main" noGrp="1"/>
          </p:cNvSpPr>
          <p:nvPr/>
        </p:nvSpPr>
        <p:spPr>
          <a:xfrm xmlns:a="http://schemas.openxmlformats.org/drawingml/2006/main">
            <a:off x="12763500" y="4838700"/>
            <a:ext cx="4953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Authentication and request validation</a:t>
            </a:r>
          </a:p>
        </p:txBody>
      </p:sp>
      <p:sp>
        <p:nvSpPr>
          <p:cNvPr id="19" name="">
            <a:extLst xmlns:a="http://schemas.openxmlformats.org/drawingml/2006/main">
              <a:ext uri="{FF2B5EF4-FFF2-40B4-BE49-F238E27FC236}">
                <a16:creationId xmlns:a16="http://schemas.microsoft.com/office/drawing/2014/main" id="{48A4EA46-B08A-4C82-BFA0-3908FFFD1C55}"/>
              </a:ext>
            </a:extLst>
          </p:cNvPr>
          <p:cNvSpPr>
            <a:spLocks xmlns:a="http://schemas.openxmlformats.org/drawingml/2006/main" noGrp="1"/>
          </p:cNvSpPr>
          <p:nvPr/>
        </p:nvSpPr>
        <p:spPr>
          <a:xfrm xmlns:a="http://schemas.openxmlformats.org/drawingml/2006/main">
            <a:off x="18573750" y="3429000"/>
            <a:ext cx="5334000"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0" name="">
            <a:extLst xmlns:a="http://schemas.openxmlformats.org/drawingml/2006/main">
              <a:ext uri="{FF2B5EF4-FFF2-40B4-BE49-F238E27FC236}">
                <a16:creationId xmlns:a16="http://schemas.microsoft.com/office/drawing/2014/main" id="{DE7DDE6E-2E99-495B-88AD-EA5C2F13C452}"/>
              </a:ext>
            </a:extLst>
          </p:cNvPr>
          <p:cNvSpPr>
            <a:spLocks xmlns:a="http://schemas.openxmlformats.org/drawingml/2006/main" noGrp="1"/>
          </p:cNvSpPr>
          <p:nvPr/>
        </p:nvSpPr>
        <p:spPr>
          <a:xfrm xmlns:a="http://schemas.openxmlformats.org/drawingml/2006/main">
            <a:off x="18745200" y="3581400"/>
            <a:ext cx="552450" cy="55245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214" name=""/>
          <p:cNvPicPr>
            <a:picLocks xmlns:a="http://schemas.openxmlformats.org/drawingml/2006/main" noChangeAspect="1"/>
          </p:cNvPicPr>
          <p:nvPr/>
        </p:nvPicPr>
        <p:blipFill>
          <a:blip xmlns:r="http://schemas.openxmlformats.org/officeDocument/2006/relationships" xmlns:a="http://schemas.openxmlformats.org/drawingml/2006/main" r:embed="R4bd42da49aa444e8"/>
          <a:stretch xmlns:a="http://schemas.openxmlformats.org/drawingml/2006/main"/>
        </p:blipFill>
        <p:spPr>
          <a:xfrm xmlns:a="http://schemas.openxmlformats.org/drawingml/2006/main">
            <a:off x="18745200" y="3581400"/>
            <a:ext cx="552450" cy="552450"/>
          </a:xfrm>
          <a:prstGeom xmlns:a="http://schemas.openxmlformats.org/drawingml/2006/main" prst="rect">
            <a:avLst/>
          </a:prstGeom>
        </p:spPr>
      </p:pic>
      <p:sp>
        <p:nvSpPr>
          <p:cNvPr id="22" name="">
            <a:extLst xmlns:a="http://schemas.openxmlformats.org/drawingml/2006/main">
              <a:ext uri="{FF2B5EF4-FFF2-40B4-BE49-F238E27FC236}">
                <a16:creationId xmlns:a16="http://schemas.microsoft.com/office/drawing/2014/main" id="{5D13333C-04CA-4289-B0B2-56AC4844D238}"/>
              </a:ext>
            </a:extLst>
          </p:cNvPr>
          <p:cNvSpPr>
            <a:spLocks xmlns:a="http://schemas.openxmlformats.org/drawingml/2006/main" noGrp="1"/>
          </p:cNvSpPr>
          <p:nvPr/>
        </p:nvSpPr>
        <p:spPr>
          <a:xfrm xmlns:a="http://schemas.openxmlformats.org/drawingml/2006/main">
            <a:off x="18764250" y="4210050"/>
            <a:ext cx="4953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34231D"/>
                </a:solidFill>
                <a:latin typeface="Arial"/>
                <a:ea typeface="Arial"/>
                <a:cs typeface="Arial"/>
              </a:defRPr>
            </a:pPr>
            <a:r>
              <a:rPr sz="2325" b="1">
                <a:solidFill>
                  <a:srgbClr val="34231D"/>
                </a:solidFill>
                <a:latin typeface="Arial"/>
                <a:ea typeface="Arial"/>
                <a:cs typeface="Arial"/>
              </a:rPr>
              <a:t>Application services</a:t>
            </a:r>
          </a:p>
        </p:txBody>
      </p:sp>
      <p:sp>
        <p:nvSpPr>
          <p:cNvPr id="23" name="">
            <a:extLst xmlns:a="http://schemas.openxmlformats.org/drawingml/2006/main">
              <a:ext uri="{FF2B5EF4-FFF2-40B4-BE49-F238E27FC236}">
                <a16:creationId xmlns:a16="http://schemas.microsoft.com/office/drawing/2014/main" id="{9F7781E4-2C58-4DC9-AD77-99543C764AF3}"/>
              </a:ext>
            </a:extLst>
          </p:cNvPr>
          <p:cNvSpPr>
            <a:spLocks xmlns:a="http://schemas.openxmlformats.org/drawingml/2006/main" noGrp="1"/>
          </p:cNvSpPr>
          <p:nvPr/>
        </p:nvSpPr>
        <p:spPr>
          <a:xfrm xmlns:a="http://schemas.openxmlformats.org/drawingml/2006/main">
            <a:off x="18764250" y="4838700"/>
            <a:ext cx="4953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Chat, voice, knowledge, menu, orders, reservations</a:t>
            </a:r>
          </a:p>
        </p:txBody>
      </p:sp>
      <p:sp>
        <p:nvSpPr>
          <p:cNvPr id="24" name="">
            <a:extLst xmlns:a="http://schemas.openxmlformats.org/drawingml/2006/main">
              <a:ext uri="{FF2B5EF4-FFF2-40B4-BE49-F238E27FC236}">
                <a16:creationId xmlns:a16="http://schemas.microsoft.com/office/drawing/2014/main" id="{EF8977DA-862C-4A45-9F15-5EB739ED1AE1}"/>
              </a:ext>
            </a:extLst>
          </p:cNvPr>
          <p:cNvSpPr>
            <a:spLocks xmlns:a="http://schemas.openxmlformats.org/drawingml/2006/main" noGrp="1"/>
          </p:cNvSpPr>
          <p:nvPr/>
        </p:nvSpPr>
        <p:spPr>
          <a:xfrm xmlns:a="http://schemas.openxmlformats.org/drawingml/2006/main">
            <a:off x="24574500" y="3429000"/>
            <a:ext cx="5334000"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5" name="">
            <a:extLst xmlns:a="http://schemas.openxmlformats.org/drawingml/2006/main">
              <a:ext uri="{FF2B5EF4-FFF2-40B4-BE49-F238E27FC236}">
                <a16:creationId xmlns:a16="http://schemas.microsoft.com/office/drawing/2014/main" id="{F64DAFBD-CE58-4257-AED4-738FB7784013}"/>
              </a:ext>
            </a:extLst>
          </p:cNvPr>
          <p:cNvSpPr>
            <a:spLocks xmlns:a="http://schemas.openxmlformats.org/drawingml/2006/main" noGrp="1"/>
          </p:cNvSpPr>
          <p:nvPr/>
        </p:nvSpPr>
        <p:spPr>
          <a:xfrm xmlns:a="http://schemas.openxmlformats.org/drawingml/2006/main">
            <a:off x="24765000" y="3600450"/>
            <a:ext cx="4953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34231D"/>
                </a:solidFill>
                <a:latin typeface="Arial"/>
                <a:ea typeface="Arial"/>
                <a:cs typeface="Arial"/>
              </a:defRPr>
            </a:pPr>
            <a:r>
              <a:rPr sz="2325" b="1">
                <a:solidFill>
                  <a:srgbClr val="34231D"/>
                </a:solidFill>
                <a:latin typeface="Arial"/>
                <a:ea typeface="Arial"/>
                <a:cs typeface="Arial"/>
              </a:rPr>
              <a:t>SQLModel repositories</a:t>
            </a:r>
          </a:p>
        </p:txBody>
      </p:sp>
      <p:sp>
        <p:nvSpPr>
          <p:cNvPr id="26" name="">
            <a:extLst xmlns:a="http://schemas.openxmlformats.org/drawingml/2006/main">
              <a:ext uri="{FF2B5EF4-FFF2-40B4-BE49-F238E27FC236}">
                <a16:creationId xmlns:a16="http://schemas.microsoft.com/office/drawing/2014/main" id="{113921DF-D868-4882-9BC6-B1BB5DF872C8}"/>
              </a:ext>
            </a:extLst>
          </p:cNvPr>
          <p:cNvSpPr>
            <a:spLocks xmlns:a="http://schemas.openxmlformats.org/drawingml/2006/main" noGrp="1"/>
          </p:cNvSpPr>
          <p:nvPr/>
        </p:nvSpPr>
        <p:spPr>
          <a:xfrm xmlns:a="http://schemas.openxmlformats.org/drawingml/2006/main">
            <a:off x="24765000" y="4229100"/>
            <a:ext cx="495300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Controlled database reads and writes</a:t>
            </a:r>
          </a:p>
        </p:txBody>
      </p:sp>
      <p:sp>
        <p:nvSpPr>
          <p:cNvPr id="27" name="">
            <a:extLst xmlns:a="http://schemas.openxmlformats.org/drawingml/2006/main">
              <a:ext uri="{FF2B5EF4-FFF2-40B4-BE49-F238E27FC236}">
                <a16:creationId xmlns:a16="http://schemas.microsoft.com/office/drawing/2014/main" id="{42B18A59-0997-4483-BD20-99F89B2765EB}"/>
              </a:ext>
            </a:extLst>
          </p:cNvPr>
          <p:cNvSpPr>
            <a:spLocks xmlns:a="http://schemas.openxmlformats.org/drawingml/2006/main" noGrp="1"/>
          </p:cNvSpPr>
          <p:nvPr/>
        </p:nvSpPr>
        <p:spPr>
          <a:xfrm xmlns:a="http://schemas.openxmlformats.org/drawingml/2006/main">
            <a:off x="30575250" y="3429000"/>
            <a:ext cx="5334000"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221" name=""/>
          <p:cNvPicPr>
            <a:picLocks xmlns:a="http://schemas.openxmlformats.org/drawingml/2006/main" noChangeAspect="1"/>
          </p:cNvPicPr>
          <p:nvPr/>
        </p:nvPicPr>
        <p:blipFill>
          <a:blip xmlns:r="http://schemas.openxmlformats.org/officeDocument/2006/relationships" xmlns:a="http://schemas.openxmlformats.org/drawingml/2006/main" r:embed="R91c4dfd53ade49f7"/>
          <a:stretch xmlns:a="http://schemas.openxmlformats.org/drawingml/2006/main"/>
        </p:blipFill>
        <p:spPr>
          <a:xfrm xmlns:a="http://schemas.openxmlformats.org/drawingml/2006/main">
            <a:off x="30991379" y="3552825"/>
            <a:ext cx="1120366" cy="514350"/>
          </a:xfrm>
          <a:prstGeom xmlns:a="http://schemas.openxmlformats.org/drawingml/2006/main" prst="rect">
            <a:avLst/>
          </a:prstGeom>
        </p:spPr>
      </p:pic>
      <p:sp>
        <p:nvSpPr>
          <p:cNvPr id="29" name="">
            <a:extLst xmlns:a="http://schemas.openxmlformats.org/drawingml/2006/main">
              <a:ext uri="{FF2B5EF4-FFF2-40B4-BE49-F238E27FC236}">
                <a16:creationId xmlns:a16="http://schemas.microsoft.com/office/drawing/2014/main" id="{4EE2C33A-8EC1-4362-B952-B4285B1F8064}"/>
              </a:ext>
            </a:extLst>
          </p:cNvPr>
          <p:cNvSpPr>
            <a:spLocks xmlns:a="http://schemas.openxmlformats.org/drawingml/2006/main" noGrp="1"/>
          </p:cNvSpPr>
          <p:nvPr/>
        </p:nvSpPr>
        <p:spPr>
          <a:xfrm xmlns:a="http://schemas.openxmlformats.org/drawingml/2006/main">
            <a:off x="30765750" y="4210050"/>
            <a:ext cx="4953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34231D"/>
                </a:solidFill>
                <a:latin typeface="Arial"/>
                <a:ea typeface="Arial"/>
                <a:cs typeface="Arial"/>
              </a:defRPr>
            </a:pPr>
            <a:r>
              <a:rPr sz="2325" b="1">
                <a:solidFill>
                  <a:srgbClr val="34231D"/>
                </a:solidFill>
                <a:latin typeface="Arial"/>
                <a:ea typeface="Arial"/>
                <a:cs typeface="Arial"/>
              </a:rPr>
              <a:t>SQLite operational data</a:t>
            </a:r>
          </a:p>
        </p:txBody>
      </p:sp>
      <p:sp>
        <p:nvSpPr>
          <p:cNvPr id="30" name="">
            <a:extLst xmlns:a="http://schemas.openxmlformats.org/drawingml/2006/main">
              <a:ext uri="{FF2B5EF4-FFF2-40B4-BE49-F238E27FC236}">
                <a16:creationId xmlns:a16="http://schemas.microsoft.com/office/drawing/2014/main" id="{3BC1BBDF-68AA-4FFF-B3C2-B2A299FE239A}"/>
              </a:ext>
            </a:extLst>
          </p:cNvPr>
          <p:cNvSpPr>
            <a:spLocks xmlns:a="http://schemas.openxmlformats.org/drawingml/2006/main" noGrp="1"/>
          </p:cNvSpPr>
          <p:nvPr/>
        </p:nvSpPr>
        <p:spPr>
          <a:xfrm xmlns:a="http://schemas.openxmlformats.org/drawingml/2006/main">
            <a:off x="30765750" y="4838700"/>
            <a:ext cx="4953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Users, messages, orders, stock, tables, jobs, voice settings</a:t>
            </a:r>
          </a:p>
        </p:txBody>
      </p:sp>
      <p:cxnSp>
        <p:nvCxnSpPr>
          <p:cNvPr id="224" name=""/>
          <p:cNvCxnSpPr>
            <a:stCxn xmlns:a="http://schemas.openxmlformats.org/drawingml/2006/main" id="6" idx="3"/>
            <a:endCxn xmlns:a="http://schemas.openxmlformats.org/drawingml/2006/main" id="10" idx="1"/>
          </p:cNvCxnSpPr>
          <p:nvPr/>
        </p:nvCxnSpPr>
        <p:spPr>
          <a:xfrm xmlns:a="http://schemas.openxmlformats.org/drawingml/2006/main">
            <a:off x="5905500" y="4452938"/>
            <a:ext cx="66675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225" name=""/>
          <p:cNvCxnSpPr>
            <a:stCxn xmlns:a="http://schemas.openxmlformats.org/drawingml/2006/main" id="10" idx="3"/>
            <a:endCxn xmlns:a="http://schemas.openxmlformats.org/drawingml/2006/main" id="14" idx="1"/>
          </p:cNvCxnSpPr>
          <p:nvPr/>
        </p:nvCxnSpPr>
        <p:spPr>
          <a:xfrm xmlns:a="http://schemas.openxmlformats.org/drawingml/2006/main">
            <a:off x="11906250" y="4452938"/>
            <a:ext cx="66675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226" name=""/>
          <p:cNvCxnSpPr>
            <a:stCxn xmlns:a="http://schemas.openxmlformats.org/drawingml/2006/main" id="14" idx="3"/>
            <a:endCxn xmlns:a="http://schemas.openxmlformats.org/drawingml/2006/main" id="19" idx="1"/>
          </p:cNvCxnSpPr>
          <p:nvPr/>
        </p:nvCxnSpPr>
        <p:spPr>
          <a:xfrm xmlns:a="http://schemas.openxmlformats.org/drawingml/2006/main">
            <a:off x="17907000" y="4452938"/>
            <a:ext cx="66675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227" name=""/>
          <p:cNvCxnSpPr>
            <a:stCxn xmlns:a="http://schemas.openxmlformats.org/drawingml/2006/main" id="19" idx="3"/>
            <a:endCxn xmlns:a="http://schemas.openxmlformats.org/drawingml/2006/main" id="24" idx="1"/>
          </p:cNvCxnSpPr>
          <p:nvPr/>
        </p:nvCxnSpPr>
        <p:spPr>
          <a:xfrm xmlns:a="http://schemas.openxmlformats.org/drawingml/2006/main">
            <a:off x="23907750" y="4452938"/>
            <a:ext cx="66675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228" name=""/>
          <p:cNvCxnSpPr>
            <a:stCxn xmlns:a="http://schemas.openxmlformats.org/drawingml/2006/main" id="24" idx="3"/>
            <a:endCxn xmlns:a="http://schemas.openxmlformats.org/drawingml/2006/main" id="27" idx="1"/>
          </p:cNvCxnSpPr>
          <p:nvPr/>
        </p:nvCxnSpPr>
        <p:spPr>
          <a:xfrm xmlns:a="http://schemas.openxmlformats.org/drawingml/2006/main">
            <a:off x="29908500" y="4452938"/>
            <a:ext cx="66675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sp>
        <p:nvSpPr>
          <p:cNvPr id="36" name="">
            <a:extLst xmlns:a="http://schemas.openxmlformats.org/drawingml/2006/main">
              <a:ext uri="{FF2B5EF4-FFF2-40B4-BE49-F238E27FC236}">
                <a16:creationId xmlns:a16="http://schemas.microsoft.com/office/drawing/2014/main" id="{B4EEBBC0-9D12-42D9-B540-435F82BAD1EA}"/>
              </a:ext>
            </a:extLst>
          </p:cNvPr>
          <p:cNvSpPr>
            <a:spLocks xmlns:a="http://schemas.openxmlformats.org/drawingml/2006/main" noGrp="1"/>
          </p:cNvSpPr>
          <p:nvPr/>
        </p:nvSpPr>
        <p:spPr>
          <a:xfrm xmlns:a="http://schemas.openxmlformats.org/drawingml/2006/main">
            <a:off x="571500" y="5953125"/>
            <a:ext cx="16859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C9502F"/>
                </a:solidFill>
                <a:latin typeface="Arial"/>
                <a:ea typeface="Arial"/>
                <a:cs typeface="Arial"/>
              </a:defRPr>
            </a:pPr>
            <a:r>
              <a:rPr sz="2925" b="1">
                <a:solidFill>
                  <a:srgbClr val="C9502F"/>
                </a:solidFill>
                <a:latin typeface="Arial"/>
                <a:ea typeface="Arial"/>
                <a:cs typeface="Arial"/>
              </a:rPr>
              <a:t>A. Restaurant knowledge ingestion</a:t>
            </a:r>
          </a:p>
        </p:txBody>
      </p:sp>
      <p:sp>
        <p:nvSpPr>
          <p:cNvPr id="37" name="">
            <a:extLst xmlns:a="http://schemas.openxmlformats.org/drawingml/2006/main">
              <a:ext uri="{FF2B5EF4-FFF2-40B4-BE49-F238E27FC236}">
                <a16:creationId xmlns:a16="http://schemas.microsoft.com/office/drawing/2014/main" id="{8E72A699-949D-4C0B-9C97-EAFA82BE7809}"/>
              </a:ext>
            </a:extLst>
          </p:cNvPr>
          <p:cNvSpPr>
            <a:spLocks xmlns:a="http://schemas.openxmlformats.org/drawingml/2006/main" noGrp="1"/>
          </p:cNvSpPr>
          <p:nvPr/>
        </p:nvSpPr>
        <p:spPr>
          <a:xfrm xmlns:a="http://schemas.openxmlformats.org/drawingml/2006/main">
            <a:off x="571500" y="6467475"/>
            <a:ext cx="1685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88766B"/>
                </a:solidFill>
                <a:latin typeface="Arial"/>
                <a:ea typeface="Arial"/>
                <a:cs typeface="Arial"/>
              </a:defRPr>
            </a:pPr>
            <a:r>
              <a:rPr sz="2025" b="0">
                <a:solidFill>
                  <a:srgbClr val="88766B"/>
                </a:solidFill>
                <a:latin typeface="Arial"/>
                <a:ea typeface="Arial"/>
                <a:cs typeface="Arial"/>
              </a:rPr>
              <a:t>FastAPI Knowledge Service + in-process BackgroundTasks</a:t>
            </a:r>
          </a:p>
        </p:txBody>
      </p:sp>
      <p:sp>
        <p:nvSpPr>
          <p:cNvPr id="38" name="">
            <a:extLst xmlns:a="http://schemas.openxmlformats.org/drawingml/2006/main">
              <a:ext uri="{FF2B5EF4-FFF2-40B4-BE49-F238E27FC236}">
                <a16:creationId xmlns:a16="http://schemas.microsoft.com/office/drawing/2014/main" id="{30E6377F-B4B8-47E9-B384-330B0946735C}"/>
              </a:ext>
            </a:extLst>
          </p:cNvPr>
          <p:cNvSpPr>
            <a:spLocks xmlns:a="http://schemas.openxmlformats.org/drawingml/2006/main" noGrp="1"/>
          </p:cNvSpPr>
          <p:nvPr/>
        </p:nvSpPr>
        <p:spPr>
          <a:xfrm xmlns:a="http://schemas.openxmlformats.org/drawingml/2006/main">
            <a:off x="571500" y="6953250"/>
            <a:ext cx="5286375"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232" name=""/>
          <p:cNvPicPr>
            <a:picLocks xmlns:a="http://schemas.openxmlformats.org/drawingml/2006/main" noChangeAspect="1"/>
          </p:cNvPicPr>
          <p:nvPr/>
        </p:nvPicPr>
        <p:blipFill>
          <a:blip xmlns:r="http://schemas.openxmlformats.org/officeDocument/2006/relationships" xmlns:a="http://schemas.openxmlformats.org/drawingml/2006/main" r:embed="R3f615f5683604cc7"/>
          <a:stretch xmlns:a="http://schemas.openxmlformats.org/drawingml/2006/main"/>
        </p:blipFill>
        <p:spPr>
          <a:xfrm xmlns:a="http://schemas.openxmlformats.org/drawingml/2006/main">
            <a:off x="742950" y="7105650"/>
            <a:ext cx="552450" cy="552450"/>
          </a:xfrm>
          <a:prstGeom xmlns:a="http://schemas.openxmlformats.org/drawingml/2006/main" prst="rect">
            <a:avLst/>
          </a:prstGeom>
        </p:spPr>
      </p:pic>
      <p:sp>
        <p:nvSpPr>
          <p:cNvPr id="40" name="">
            <a:extLst xmlns:a="http://schemas.openxmlformats.org/drawingml/2006/main">
              <a:ext uri="{FF2B5EF4-FFF2-40B4-BE49-F238E27FC236}">
                <a16:creationId xmlns:a16="http://schemas.microsoft.com/office/drawing/2014/main" id="{1647787D-FF19-4AAE-B51C-8AE66648432A}"/>
              </a:ext>
            </a:extLst>
          </p:cNvPr>
          <p:cNvSpPr>
            <a:spLocks xmlns:a="http://schemas.openxmlformats.org/drawingml/2006/main" noGrp="1"/>
          </p:cNvSpPr>
          <p:nvPr/>
        </p:nvSpPr>
        <p:spPr>
          <a:xfrm xmlns:a="http://schemas.openxmlformats.org/drawingml/2006/main">
            <a:off x="762000" y="7734300"/>
            <a:ext cx="4905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34231D"/>
                </a:solidFill>
                <a:latin typeface="Arial"/>
                <a:ea typeface="Arial"/>
                <a:cs typeface="Arial"/>
              </a:defRPr>
            </a:pPr>
            <a:r>
              <a:rPr sz="2325" b="1">
                <a:solidFill>
                  <a:srgbClr val="34231D"/>
                </a:solidFill>
                <a:latin typeface="Arial"/>
                <a:ea typeface="Arial"/>
                <a:cs typeface="Arial"/>
              </a:rPr>
              <a:t>1. Admin uploads PDF</a:t>
            </a:r>
          </a:p>
        </p:txBody>
      </p:sp>
      <p:sp>
        <p:nvSpPr>
          <p:cNvPr id="41" name="">
            <a:extLst xmlns:a="http://schemas.openxmlformats.org/drawingml/2006/main">
              <a:ext uri="{FF2B5EF4-FFF2-40B4-BE49-F238E27FC236}">
                <a16:creationId xmlns:a16="http://schemas.microsoft.com/office/drawing/2014/main" id="{5E79CA48-E0EB-4519-9617-EC0621BEE4BA}"/>
              </a:ext>
            </a:extLst>
          </p:cNvPr>
          <p:cNvSpPr>
            <a:spLocks xmlns:a="http://schemas.openxmlformats.org/drawingml/2006/main" noGrp="1"/>
          </p:cNvSpPr>
          <p:nvPr/>
        </p:nvSpPr>
        <p:spPr>
          <a:xfrm xmlns:a="http://schemas.openxmlformats.org/drawingml/2006/main">
            <a:off x="762000" y="8362950"/>
            <a:ext cx="4905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Next.js forwards the PDF to FastAPI</a:t>
            </a:r>
          </a:p>
        </p:txBody>
      </p:sp>
      <p:sp>
        <p:nvSpPr>
          <p:cNvPr id="42" name="">
            <a:extLst xmlns:a="http://schemas.openxmlformats.org/drawingml/2006/main">
              <a:ext uri="{FF2B5EF4-FFF2-40B4-BE49-F238E27FC236}">
                <a16:creationId xmlns:a16="http://schemas.microsoft.com/office/drawing/2014/main" id="{E806D104-60E0-40B0-919E-CC1AD1B8C440}"/>
              </a:ext>
            </a:extLst>
          </p:cNvPr>
          <p:cNvSpPr>
            <a:spLocks xmlns:a="http://schemas.openxmlformats.org/drawingml/2006/main" noGrp="1"/>
          </p:cNvSpPr>
          <p:nvPr/>
        </p:nvSpPr>
        <p:spPr>
          <a:xfrm xmlns:a="http://schemas.openxmlformats.org/drawingml/2006/main">
            <a:off x="6429375" y="6953250"/>
            <a:ext cx="5286375"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236" name=""/>
          <p:cNvPicPr>
            <a:picLocks xmlns:a="http://schemas.openxmlformats.org/drawingml/2006/main" noChangeAspect="1"/>
          </p:cNvPicPr>
          <p:nvPr/>
        </p:nvPicPr>
        <p:blipFill>
          <a:blip xmlns:r="http://schemas.openxmlformats.org/officeDocument/2006/relationships" xmlns:a="http://schemas.openxmlformats.org/drawingml/2006/main" r:embed="R46bc875865a847e4"/>
          <a:stretch xmlns:a="http://schemas.openxmlformats.org/drawingml/2006/main"/>
        </p:blipFill>
        <p:spPr>
          <a:xfrm xmlns:a="http://schemas.openxmlformats.org/drawingml/2006/main">
            <a:off x="6600825" y="7105650"/>
            <a:ext cx="552450" cy="552450"/>
          </a:xfrm>
          <a:prstGeom xmlns:a="http://schemas.openxmlformats.org/drawingml/2006/main" prst="rect">
            <a:avLst/>
          </a:prstGeom>
        </p:spPr>
      </p:pic>
      <p:sp>
        <p:nvSpPr>
          <p:cNvPr id="44" name="">
            <a:extLst xmlns:a="http://schemas.openxmlformats.org/drawingml/2006/main">
              <a:ext uri="{FF2B5EF4-FFF2-40B4-BE49-F238E27FC236}">
                <a16:creationId xmlns:a16="http://schemas.microsoft.com/office/drawing/2014/main" id="{E02AEFC6-2988-40ED-8D4C-120A7F38CBEA}"/>
              </a:ext>
            </a:extLst>
          </p:cNvPr>
          <p:cNvSpPr>
            <a:spLocks xmlns:a="http://schemas.openxmlformats.org/drawingml/2006/main" noGrp="1"/>
          </p:cNvSpPr>
          <p:nvPr/>
        </p:nvSpPr>
        <p:spPr>
          <a:xfrm xmlns:a="http://schemas.openxmlformats.org/drawingml/2006/main">
            <a:off x="6619875" y="7734300"/>
            <a:ext cx="4905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34231D"/>
                </a:solidFill>
                <a:latin typeface="Arial"/>
                <a:ea typeface="Arial"/>
                <a:cs typeface="Arial"/>
              </a:defRPr>
            </a:pPr>
            <a:r>
              <a:rPr sz="2325" b="1">
                <a:solidFill>
                  <a:srgbClr val="34231D"/>
                </a:solidFill>
                <a:latin typeface="Arial"/>
                <a:ea typeface="Arial"/>
                <a:cs typeface="Arial"/>
              </a:rPr>
              <a:t>2. Amazon S3 stores PDF</a:t>
            </a:r>
          </a:p>
        </p:txBody>
      </p:sp>
      <p:sp>
        <p:nvSpPr>
          <p:cNvPr id="45" name="">
            <a:extLst xmlns:a="http://schemas.openxmlformats.org/drawingml/2006/main">
              <a:ext uri="{FF2B5EF4-FFF2-40B4-BE49-F238E27FC236}">
                <a16:creationId xmlns:a16="http://schemas.microsoft.com/office/drawing/2014/main" id="{46F3903F-8622-433D-A235-2979A13E217C}"/>
              </a:ext>
            </a:extLst>
          </p:cNvPr>
          <p:cNvSpPr>
            <a:spLocks xmlns:a="http://schemas.openxmlformats.org/drawingml/2006/main" noGrp="1"/>
          </p:cNvSpPr>
          <p:nvPr/>
        </p:nvSpPr>
        <p:spPr>
          <a:xfrm xmlns:a="http://schemas.openxmlformats.org/drawingml/2006/main">
            <a:off x="6619875" y="8362950"/>
            <a:ext cx="4905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knowledge/ + SQLite processing job</a:t>
            </a:r>
          </a:p>
        </p:txBody>
      </p:sp>
      <p:sp>
        <p:nvSpPr>
          <p:cNvPr id="46" name="">
            <a:extLst xmlns:a="http://schemas.openxmlformats.org/drawingml/2006/main">
              <a:ext uri="{FF2B5EF4-FFF2-40B4-BE49-F238E27FC236}">
                <a16:creationId xmlns:a16="http://schemas.microsoft.com/office/drawing/2014/main" id="{E3D0DA60-2F37-4F11-914C-14DC7136DC35}"/>
              </a:ext>
            </a:extLst>
          </p:cNvPr>
          <p:cNvSpPr>
            <a:spLocks xmlns:a="http://schemas.openxmlformats.org/drawingml/2006/main" noGrp="1"/>
          </p:cNvSpPr>
          <p:nvPr/>
        </p:nvSpPr>
        <p:spPr>
          <a:xfrm xmlns:a="http://schemas.openxmlformats.org/drawingml/2006/main">
            <a:off x="12287250" y="6953250"/>
            <a:ext cx="5286375"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240" name=""/>
          <p:cNvPicPr>
            <a:picLocks xmlns:a="http://schemas.openxmlformats.org/drawingml/2006/main" noChangeAspect="1"/>
          </p:cNvPicPr>
          <p:nvPr/>
        </p:nvPicPr>
        <p:blipFill>
          <a:blip xmlns:r="http://schemas.openxmlformats.org/officeDocument/2006/relationships" xmlns:a="http://schemas.openxmlformats.org/drawingml/2006/main" r:embed="R81b2e5e58cc84dc9"/>
          <a:stretch xmlns:a="http://schemas.openxmlformats.org/drawingml/2006/main"/>
        </p:blipFill>
        <p:spPr>
          <a:xfrm xmlns:a="http://schemas.openxmlformats.org/drawingml/2006/main">
            <a:off x="12458700" y="7105650"/>
            <a:ext cx="552450" cy="552450"/>
          </a:xfrm>
          <a:prstGeom xmlns:a="http://schemas.openxmlformats.org/drawingml/2006/main" prst="rect">
            <a:avLst/>
          </a:prstGeom>
        </p:spPr>
      </p:pic>
      <p:sp>
        <p:nvSpPr>
          <p:cNvPr id="48" name="">
            <a:extLst xmlns:a="http://schemas.openxmlformats.org/drawingml/2006/main">
              <a:ext uri="{FF2B5EF4-FFF2-40B4-BE49-F238E27FC236}">
                <a16:creationId xmlns:a16="http://schemas.microsoft.com/office/drawing/2014/main" id="{808A5CF2-1A00-4AA4-8043-455FB2131397}"/>
              </a:ext>
            </a:extLst>
          </p:cNvPr>
          <p:cNvSpPr>
            <a:spLocks xmlns:a="http://schemas.openxmlformats.org/drawingml/2006/main" noGrp="1"/>
          </p:cNvSpPr>
          <p:nvPr/>
        </p:nvSpPr>
        <p:spPr>
          <a:xfrm xmlns:a="http://schemas.openxmlformats.org/drawingml/2006/main">
            <a:off x="12477750" y="7734300"/>
            <a:ext cx="4905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34231D"/>
                </a:solidFill>
                <a:latin typeface="Arial"/>
                <a:ea typeface="Arial"/>
                <a:cs typeface="Arial"/>
              </a:defRPr>
            </a:pPr>
            <a:r>
              <a:rPr sz="2325" b="1">
                <a:solidFill>
                  <a:srgbClr val="34231D"/>
                </a:solidFill>
                <a:latin typeface="Arial"/>
                <a:ea typeface="Arial"/>
                <a:cs typeface="Arial"/>
              </a:rPr>
              <a:t>3. Amazon Textract extracts text</a:t>
            </a:r>
          </a:p>
        </p:txBody>
      </p:sp>
      <p:sp>
        <p:nvSpPr>
          <p:cNvPr id="49" name="">
            <a:extLst xmlns:a="http://schemas.openxmlformats.org/drawingml/2006/main">
              <a:ext uri="{FF2B5EF4-FFF2-40B4-BE49-F238E27FC236}">
                <a16:creationId xmlns:a16="http://schemas.microsoft.com/office/drawing/2014/main" id="{171EE8EB-3DAB-41BE-B753-CB4312F0EDE2}"/>
              </a:ext>
            </a:extLst>
          </p:cNvPr>
          <p:cNvSpPr>
            <a:spLocks xmlns:a="http://schemas.openxmlformats.org/drawingml/2006/main" noGrp="1"/>
          </p:cNvSpPr>
          <p:nvPr/>
        </p:nvSpPr>
        <p:spPr>
          <a:xfrm xmlns:a="http://schemas.openxmlformats.org/drawingml/2006/main">
            <a:off x="12477750" y="8362950"/>
            <a:ext cx="4905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FastAPI starts, polls and fetches all pages</a:t>
            </a:r>
          </a:p>
        </p:txBody>
      </p:sp>
      <p:sp>
        <p:nvSpPr>
          <p:cNvPr id="50" name="">
            <a:extLst xmlns:a="http://schemas.openxmlformats.org/drawingml/2006/main">
              <a:ext uri="{FF2B5EF4-FFF2-40B4-BE49-F238E27FC236}">
                <a16:creationId xmlns:a16="http://schemas.microsoft.com/office/drawing/2014/main" id="{87F14F28-314C-47F1-8251-4E078C824FAC}"/>
              </a:ext>
            </a:extLst>
          </p:cNvPr>
          <p:cNvSpPr>
            <a:spLocks xmlns:a="http://schemas.openxmlformats.org/drawingml/2006/main" noGrp="1"/>
          </p:cNvSpPr>
          <p:nvPr/>
        </p:nvSpPr>
        <p:spPr>
          <a:xfrm xmlns:a="http://schemas.openxmlformats.org/drawingml/2006/main">
            <a:off x="12287250" y="9429750"/>
            <a:ext cx="5286375"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51" name="">
            <a:extLst xmlns:a="http://schemas.openxmlformats.org/drawingml/2006/main">
              <a:ext uri="{FF2B5EF4-FFF2-40B4-BE49-F238E27FC236}">
                <a16:creationId xmlns:a16="http://schemas.microsoft.com/office/drawing/2014/main" id="{364D5680-DD23-446B-95AF-7D5065C678F7}"/>
              </a:ext>
            </a:extLst>
          </p:cNvPr>
          <p:cNvSpPr>
            <a:spLocks xmlns:a="http://schemas.openxmlformats.org/drawingml/2006/main" noGrp="1"/>
          </p:cNvSpPr>
          <p:nvPr/>
        </p:nvSpPr>
        <p:spPr>
          <a:xfrm xmlns:a="http://schemas.openxmlformats.org/drawingml/2006/main">
            <a:off x="12458700" y="9582150"/>
            <a:ext cx="552450" cy="55245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245" name=""/>
          <p:cNvPicPr>
            <a:picLocks xmlns:a="http://schemas.openxmlformats.org/drawingml/2006/main" noChangeAspect="1"/>
          </p:cNvPicPr>
          <p:nvPr/>
        </p:nvPicPr>
        <p:blipFill>
          <a:blip xmlns:r="http://schemas.openxmlformats.org/officeDocument/2006/relationships" xmlns:a="http://schemas.openxmlformats.org/drawingml/2006/main" r:embed="Rf25d3b77ba8c4239"/>
          <a:stretch xmlns:a="http://schemas.openxmlformats.org/drawingml/2006/main"/>
        </p:blipFill>
        <p:spPr>
          <a:xfrm xmlns:a="http://schemas.openxmlformats.org/drawingml/2006/main">
            <a:off x="12458700" y="9582150"/>
            <a:ext cx="552450" cy="552450"/>
          </a:xfrm>
          <a:prstGeom xmlns:a="http://schemas.openxmlformats.org/drawingml/2006/main" prst="rect">
            <a:avLst/>
          </a:prstGeom>
        </p:spPr>
      </p:pic>
      <p:sp>
        <p:nvSpPr>
          <p:cNvPr id="53" name="">
            <a:extLst xmlns:a="http://schemas.openxmlformats.org/drawingml/2006/main">
              <a:ext uri="{FF2B5EF4-FFF2-40B4-BE49-F238E27FC236}">
                <a16:creationId xmlns:a16="http://schemas.microsoft.com/office/drawing/2014/main" id="{875F46CA-443E-41F1-B8AB-CAA8DD1A94E1}"/>
              </a:ext>
            </a:extLst>
          </p:cNvPr>
          <p:cNvSpPr>
            <a:spLocks xmlns:a="http://schemas.openxmlformats.org/drawingml/2006/main" noGrp="1"/>
          </p:cNvSpPr>
          <p:nvPr/>
        </p:nvSpPr>
        <p:spPr>
          <a:xfrm xmlns:a="http://schemas.openxmlformats.org/drawingml/2006/main">
            <a:off x="12477750" y="10210800"/>
            <a:ext cx="4905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34231D"/>
                </a:solidFill>
                <a:latin typeface="Arial"/>
                <a:ea typeface="Arial"/>
                <a:cs typeface="Arial"/>
              </a:defRPr>
            </a:pPr>
            <a:r>
              <a:rPr sz="2325" b="1">
                <a:solidFill>
                  <a:srgbClr val="34231D"/>
                </a:solidFill>
                <a:latin typeface="Arial"/>
                <a:ea typeface="Arial"/>
                <a:cs typeface="Arial"/>
              </a:rPr>
              <a:t>4. Text chunking in FastAPI</a:t>
            </a:r>
          </a:p>
        </p:txBody>
      </p:sp>
      <p:sp>
        <p:nvSpPr>
          <p:cNvPr id="54" name="">
            <a:extLst xmlns:a="http://schemas.openxmlformats.org/drawingml/2006/main">
              <a:ext uri="{FF2B5EF4-FFF2-40B4-BE49-F238E27FC236}">
                <a16:creationId xmlns:a16="http://schemas.microsoft.com/office/drawing/2014/main" id="{E5FCF7CB-4F29-497E-A490-D078ABD320FA}"/>
              </a:ext>
            </a:extLst>
          </p:cNvPr>
          <p:cNvSpPr>
            <a:spLocks xmlns:a="http://schemas.openxmlformats.org/drawingml/2006/main" noGrp="1"/>
          </p:cNvSpPr>
          <p:nvPr/>
        </p:nvSpPr>
        <p:spPr>
          <a:xfrm xmlns:a="http://schemas.openxmlformats.org/drawingml/2006/main">
            <a:off x="12477750" y="10839450"/>
            <a:ext cx="4905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1,000-character chunks, no overlap</a:t>
            </a:r>
          </a:p>
        </p:txBody>
      </p:sp>
      <p:sp>
        <p:nvSpPr>
          <p:cNvPr id="55" name="">
            <a:extLst xmlns:a="http://schemas.openxmlformats.org/drawingml/2006/main">
              <a:ext uri="{FF2B5EF4-FFF2-40B4-BE49-F238E27FC236}">
                <a16:creationId xmlns:a16="http://schemas.microsoft.com/office/drawing/2014/main" id="{EBDB100E-67F8-400B-8965-64844E57CE95}"/>
              </a:ext>
            </a:extLst>
          </p:cNvPr>
          <p:cNvSpPr>
            <a:spLocks xmlns:a="http://schemas.openxmlformats.org/drawingml/2006/main" noGrp="1"/>
          </p:cNvSpPr>
          <p:nvPr/>
        </p:nvSpPr>
        <p:spPr>
          <a:xfrm xmlns:a="http://schemas.openxmlformats.org/drawingml/2006/main">
            <a:off x="6429375" y="9429750"/>
            <a:ext cx="5286375"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249" name=""/>
          <p:cNvPicPr>
            <a:picLocks xmlns:a="http://schemas.openxmlformats.org/drawingml/2006/main" noChangeAspect="1"/>
          </p:cNvPicPr>
          <p:nvPr/>
        </p:nvPicPr>
        <p:blipFill>
          <a:blip xmlns:r="http://schemas.openxmlformats.org/officeDocument/2006/relationships" xmlns:a="http://schemas.openxmlformats.org/drawingml/2006/main" r:embed="R15a75e1f00094718"/>
          <a:stretch xmlns:a="http://schemas.openxmlformats.org/drawingml/2006/main"/>
        </p:blipFill>
        <p:spPr>
          <a:xfrm xmlns:a="http://schemas.openxmlformats.org/drawingml/2006/main">
            <a:off x="6600825" y="9582150"/>
            <a:ext cx="552450" cy="552450"/>
          </a:xfrm>
          <a:prstGeom xmlns:a="http://schemas.openxmlformats.org/drawingml/2006/main" prst="rect">
            <a:avLst/>
          </a:prstGeom>
        </p:spPr>
      </p:pic>
      <p:sp>
        <p:nvSpPr>
          <p:cNvPr id="57" name="">
            <a:extLst xmlns:a="http://schemas.openxmlformats.org/drawingml/2006/main">
              <a:ext uri="{FF2B5EF4-FFF2-40B4-BE49-F238E27FC236}">
                <a16:creationId xmlns:a16="http://schemas.microsoft.com/office/drawing/2014/main" id="{14ED178E-17BA-42E2-86E5-B032096D5766}"/>
              </a:ext>
            </a:extLst>
          </p:cNvPr>
          <p:cNvSpPr>
            <a:spLocks xmlns:a="http://schemas.openxmlformats.org/drawingml/2006/main" noGrp="1"/>
          </p:cNvSpPr>
          <p:nvPr/>
        </p:nvSpPr>
        <p:spPr>
          <a:xfrm xmlns:a="http://schemas.openxmlformats.org/drawingml/2006/main">
            <a:off x="6619875" y="10210800"/>
            <a:ext cx="4905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34231D"/>
                </a:solidFill>
                <a:latin typeface="Arial"/>
                <a:ea typeface="Arial"/>
                <a:cs typeface="Arial"/>
              </a:defRPr>
            </a:pPr>
            <a:r>
              <a:rPr sz="2325" b="1">
                <a:solidFill>
                  <a:srgbClr val="34231D"/>
                </a:solidFill>
                <a:latin typeface="Arial"/>
                <a:ea typeface="Arial"/>
                <a:cs typeface="Arial"/>
              </a:rPr>
              <a:t>5. Amazon Titan Text Embeddings V2</a:t>
            </a:r>
          </a:p>
        </p:txBody>
      </p:sp>
      <p:sp>
        <p:nvSpPr>
          <p:cNvPr id="58" name="">
            <a:extLst xmlns:a="http://schemas.openxmlformats.org/drawingml/2006/main">
              <a:ext uri="{FF2B5EF4-FFF2-40B4-BE49-F238E27FC236}">
                <a16:creationId xmlns:a16="http://schemas.microsoft.com/office/drawing/2014/main" id="{9C7E4C32-6DE3-4B75-8030-4E7749D34255}"/>
              </a:ext>
            </a:extLst>
          </p:cNvPr>
          <p:cNvSpPr>
            <a:spLocks xmlns:a="http://schemas.openxmlformats.org/drawingml/2006/main" noGrp="1"/>
          </p:cNvSpPr>
          <p:nvPr/>
        </p:nvSpPr>
        <p:spPr>
          <a:xfrm xmlns:a="http://schemas.openxmlformats.org/drawingml/2006/main">
            <a:off x="6619875" y="10839450"/>
            <a:ext cx="4905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Bedrock model creates normalized 1,024-D embeddings</a:t>
            </a:r>
          </a:p>
        </p:txBody>
      </p:sp>
      <p:sp>
        <p:nvSpPr>
          <p:cNvPr id="59" name="">
            <a:extLst xmlns:a="http://schemas.openxmlformats.org/drawingml/2006/main">
              <a:ext uri="{FF2B5EF4-FFF2-40B4-BE49-F238E27FC236}">
                <a16:creationId xmlns:a16="http://schemas.microsoft.com/office/drawing/2014/main" id="{C5C56B91-60B7-400B-8BCB-F6357DC5C3A8}"/>
              </a:ext>
            </a:extLst>
          </p:cNvPr>
          <p:cNvSpPr>
            <a:spLocks xmlns:a="http://schemas.openxmlformats.org/drawingml/2006/main" noGrp="1"/>
          </p:cNvSpPr>
          <p:nvPr/>
        </p:nvSpPr>
        <p:spPr>
          <a:xfrm xmlns:a="http://schemas.openxmlformats.org/drawingml/2006/main">
            <a:off x="571500" y="9429750"/>
            <a:ext cx="5286375"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253" name=""/>
          <p:cNvPicPr>
            <a:picLocks xmlns:a="http://schemas.openxmlformats.org/drawingml/2006/main" noChangeAspect="1"/>
          </p:cNvPicPr>
          <p:nvPr/>
        </p:nvPicPr>
        <p:blipFill>
          <a:blip xmlns:r="http://schemas.openxmlformats.org/officeDocument/2006/relationships" xmlns:a="http://schemas.openxmlformats.org/drawingml/2006/main" r:embed="Rf0b3a5cf802f407a"/>
          <a:stretch xmlns:a="http://schemas.openxmlformats.org/drawingml/2006/main"/>
        </p:blipFill>
        <p:spPr>
          <a:xfrm xmlns:a="http://schemas.openxmlformats.org/drawingml/2006/main">
            <a:off x="762000" y="9573233"/>
            <a:ext cx="1714500" cy="455984"/>
          </a:xfrm>
          <a:prstGeom xmlns:a="http://schemas.openxmlformats.org/drawingml/2006/main" prst="rect">
            <a:avLst/>
          </a:prstGeom>
        </p:spPr>
      </p:pic>
      <p:pic>
        <p:nvPicPr>
          <p:cNvPr id="254" name=""/>
          <p:cNvPicPr>
            <a:picLocks xmlns:a="http://schemas.openxmlformats.org/drawingml/2006/main" noChangeAspect="1"/>
          </p:cNvPicPr>
          <p:nvPr/>
        </p:nvPicPr>
        <p:blipFill>
          <a:blip xmlns:r="http://schemas.openxmlformats.org/officeDocument/2006/relationships" xmlns:a="http://schemas.openxmlformats.org/drawingml/2006/main" r:embed="Rc9254c23739d48af"/>
          <a:stretch xmlns:a="http://schemas.openxmlformats.org/drawingml/2006/main"/>
        </p:blipFill>
        <p:spPr>
          <a:xfrm xmlns:a="http://schemas.openxmlformats.org/drawingml/2006/main">
            <a:off x="2691310" y="9591675"/>
            <a:ext cx="580030" cy="457200"/>
          </a:xfrm>
          <a:prstGeom xmlns:a="http://schemas.openxmlformats.org/drawingml/2006/main" prst="rect">
            <a:avLst/>
          </a:prstGeom>
        </p:spPr>
      </p:pic>
      <p:sp>
        <p:nvSpPr>
          <p:cNvPr id="62" name="">
            <a:extLst xmlns:a="http://schemas.openxmlformats.org/drawingml/2006/main">
              <a:ext uri="{FF2B5EF4-FFF2-40B4-BE49-F238E27FC236}">
                <a16:creationId xmlns:a16="http://schemas.microsoft.com/office/drawing/2014/main" id="{ABB514D0-3662-48AB-9DB2-2299C7AE0A19}"/>
              </a:ext>
            </a:extLst>
          </p:cNvPr>
          <p:cNvSpPr>
            <a:spLocks xmlns:a="http://schemas.openxmlformats.org/drawingml/2006/main" noGrp="1"/>
          </p:cNvSpPr>
          <p:nvPr/>
        </p:nvSpPr>
        <p:spPr>
          <a:xfrm xmlns:a="http://schemas.openxmlformats.org/drawingml/2006/main">
            <a:off x="762000" y="10210800"/>
            <a:ext cx="4905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34231D"/>
                </a:solidFill>
                <a:latin typeface="Arial"/>
                <a:ea typeface="Arial"/>
                <a:cs typeface="Arial"/>
              </a:defRPr>
            </a:pPr>
            <a:r>
              <a:rPr sz="2325" b="1">
                <a:solidFill>
                  <a:srgbClr val="34231D"/>
                </a:solidFill>
                <a:latin typeface="Arial"/>
                <a:ea typeface="Arial"/>
                <a:cs typeface="Arial"/>
              </a:rPr>
              <a:t>6. Store embeddings in Qdrant</a:t>
            </a:r>
          </a:p>
        </p:txBody>
      </p:sp>
      <p:sp>
        <p:nvSpPr>
          <p:cNvPr id="63" name="">
            <a:extLst xmlns:a="http://schemas.openxmlformats.org/drawingml/2006/main">
              <a:ext uri="{FF2B5EF4-FFF2-40B4-BE49-F238E27FC236}">
                <a16:creationId xmlns:a16="http://schemas.microsoft.com/office/drawing/2014/main" id="{AD9A6078-1E69-4DFD-A15D-6F83EB27A888}"/>
              </a:ext>
            </a:extLst>
          </p:cNvPr>
          <p:cNvSpPr>
            <a:spLocks xmlns:a="http://schemas.openxmlformats.org/drawingml/2006/main" noGrp="1"/>
          </p:cNvSpPr>
          <p:nvPr/>
        </p:nvSpPr>
        <p:spPr>
          <a:xfrm xmlns:a="http://schemas.openxmlformats.org/drawingml/2006/main">
            <a:off x="762000" y="10839450"/>
            <a:ext cx="4905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Vectors + text + document metadata; cosine distance</a:t>
            </a:r>
          </a:p>
        </p:txBody>
      </p:sp>
      <p:cxnSp>
        <p:nvCxnSpPr>
          <p:cNvPr id="257" name=""/>
          <p:cNvCxnSpPr>
            <a:stCxn xmlns:a="http://schemas.openxmlformats.org/drawingml/2006/main" id="38" idx="3"/>
            <a:endCxn xmlns:a="http://schemas.openxmlformats.org/drawingml/2006/main" id="42" idx="1"/>
          </p:cNvCxnSpPr>
          <p:nvPr/>
        </p:nvCxnSpPr>
        <p:spPr>
          <a:xfrm xmlns:a="http://schemas.openxmlformats.org/drawingml/2006/main">
            <a:off x="5857875" y="7977188"/>
            <a:ext cx="57150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258" name=""/>
          <p:cNvCxnSpPr>
            <a:stCxn xmlns:a="http://schemas.openxmlformats.org/drawingml/2006/main" id="42" idx="3"/>
            <a:endCxn xmlns:a="http://schemas.openxmlformats.org/drawingml/2006/main" id="46" idx="1"/>
          </p:cNvCxnSpPr>
          <p:nvPr/>
        </p:nvCxnSpPr>
        <p:spPr>
          <a:xfrm xmlns:a="http://schemas.openxmlformats.org/drawingml/2006/main">
            <a:off x="11715750" y="7977188"/>
            <a:ext cx="57150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259" name=""/>
          <p:cNvCxnSpPr>
            <a:stCxn xmlns:a="http://schemas.openxmlformats.org/drawingml/2006/main" id="46" idx="2"/>
            <a:endCxn xmlns:a="http://schemas.openxmlformats.org/drawingml/2006/main" id="50" idx="0"/>
          </p:cNvCxnSpPr>
          <p:nvPr/>
        </p:nvCxnSpPr>
        <p:spPr>
          <a:xfrm xmlns:a="http://schemas.openxmlformats.org/drawingml/2006/main">
            <a:off x="14930438" y="9001125"/>
            <a:ext cx="0" cy="428625"/>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260" name=""/>
          <p:cNvCxnSpPr>
            <a:stCxn xmlns:a="http://schemas.openxmlformats.org/drawingml/2006/main" id="50" idx="1"/>
            <a:endCxn xmlns:a="http://schemas.openxmlformats.org/drawingml/2006/main" id="55" idx="3"/>
          </p:cNvCxnSpPr>
          <p:nvPr/>
        </p:nvCxnSpPr>
        <p:spPr>
          <a:xfrm xmlns:a="http://schemas.openxmlformats.org/drawingml/2006/main" flipH="1">
            <a:off x="11715750" y="10453688"/>
            <a:ext cx="57150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261" name=""/>
          <p:cNvCxnSpPr>
            <a:stCxn xmlns:a="http://schemas.openxmlformats.org/drawingml/2006/main" id="55" idx="1"/>
            <a:endCxn xmlns:a="http://schemas.openxmlformats.org/drawingml/2006/main" id="59" idx="3"/>
          </p:cNvCxnSpPr>
          <p:nvPr/>
        </p:nvCxnSpPr>
        <p:spPr>
          <a:xfrm xmlns:a="http://schemas.openxmlformats.org/drawingml/2006/main" flipH="1">
            <a:off x="5857875" y="10453688"/>
            <a:ext cx="57150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sp>
        <p:nvSpPr>
          <p:cNvPr id="69" name="">
            <a:extLst xmlns:a="http://schemas.openxmlformats.org/drawingml/2006/main">
              <a:ext uri="{FF2B5EF4-FFF2-40B4-BE49-F238E27FC236}">
                <a16:creationId xmlns:a16="http://schemas.microsoft.com/office/drawing/2014/main" id="{62D20BB8-2C69-4B6F-8146-0A2DB3A9CEFD}"/>
              </a:ext>
            </a:extLst>
          </p:cNvPr>
          <p:cNvSpPr>
            <a:spLocks xmlns:a="http://schemas.openxmlformats.org/drawingml/2006/main" noGrp="1"/>
          </p:cNvSpPr>
          <p:nvPr/>
        </p:nvSpPr>
        <p:spPr>
          <a:xfrm xmlns:a="http://schemas.openxmlformats.org/drawingml/2006/main">
            <a:off x="571500" y="11953875"/>
            <a:ext cx="16859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C9502F"/>
                </a:solidFill>
                <a:latin typeface="Arial"/>
                <a:ea typeface="Arial"/>
                <a:cs typeface="Arial"/>
              </a:defRPr>
            </a:pPr>
            <a:r>
              <a:rPr sz="2925" b="1">
                <a:solidFill>
                  <a:srgbClr val="C9502F"/>
                </a:solidFill>
                <a:latin typeface="Arial"/>
                <a:ea typeface="Arial"/>
                <a:cs typeface="Arial"/>
              </a:rPr>
              <a:t>B. Knowledge search and RAG</a:t>
            </a:r>
          </a:p>
        </p:txBody>
      </p:sp>
      <p:sp>
        <p:nvSpPr>
          <p:cNvPr id="70" name="">
            <a:extLst xmlns:a="http://schemas.openxmlformats.org/drawingml/2006/main">
              <a:ext uri="{FF2B5EF4-FFF2-40B4-BE49-F238E27FC236}">
                <a16:creationId xmlns:a16="http://schemas.microsoft.com/office/drawing/2014/main" id="{6288D6E2-44F7-4978-ACDB-6516F6634E9C}"/>
              </a:ext>
            </a:extLst>
          </p:cNvPr>
          <p:cNvSpPr>
            <a:spLocks xmlns:a="http://schemas.openxmlformats.org/drawingml/2006/main" noGrp="1"/>
          </p:cNvSpPr>
          <p:nvPr/>
        </p:nvSpPr>
        <p:spPr>
          <a:xfrm xmlns:a="http://schemas.openxmlformats.org/drawingml/2006/main">
            <a:off x="571500" y="12468225"/>
            <a:ext cx="1685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88766B"/>
                </a:solidFill>
                <a:latin typeface="Arial"/>
                <a:ea typeface="Arial"/>
                <a:cs typeface="Arial"/>
              </a:defRPr>
            </a:pPr>
            <a:r>
              <a:rPr sz="2025" b="0">
                <a:solidFill>
                  <a:srgbClr val="88766B"/>
                </a:solidFill>
                <a:latin typeface="Arial"/>
                <a:ea typeface="Arial"/>
                <a:cs typeface="Arial"/>
              </a:rPr>
              <a:t>search-knowledge executes in FastAPI; the model never queries Qdrant directly</a:t>
            </a:r>
          </a:p>
        </p:txBody>
      </p:sp>
      <p:sp>
        <p:nvSpPr>
          <p:cNvPr id="71" name="">
            <a:extLst xmlns:a="http://schemas.openxmlformats.org/drawingml/2006/main">
              <a:ext uri="{FF2B5EF4-FFF2-40B4-BE49-F238E27FC236}">
                <a16:creationId xmlns:a16="http://schemas.microsoft.com/office/drawing/2014/main" id="{F30C634F-0BD1-4354-8F76-F9BCD3C36B54}"/>
              </a:ext>
            </a:extLst>
          </p:cNvPr>
          <p:cNvSpPr>
            <a:spLocks xmlns:a="http://schemas.openxmlformats.org/drawingml/2006/main" noGrp="1"/>
          </p:cNvSpPr>
          <p:nvPr/>
        </p:nvSpPr>
        <p:spPr>
          <a:xfrm xmlns:a="http://schemas.openxmlformats.org/drawingml/2006/main">
            <a:off x="571500" y="12954000"/>
            <a:ext cx="3000375"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265" name=""/>
          <p:cNvPicPr>
            <a:picLocks xmlns:a="http://schemas.openxmlformats.org/drawingml/2006/main" noChangeAspect="1"/>
          </p:cNvPicPr>
          <p:nvPr/>
        </p:nvPicPr>
        <p:blipFill>
          <a:blip xmlns:r="http://schemas.openxmlformats.org/officeDocument/2006/relationships" xmlns:a="http://schemas.openxmlformats.org/drawingml/2006/main" r:embed="Rf81b4b8698664c41"/>
          <a:stretch xmlns:a="http://schemas.openxmlformats.org/drawingml/2006/main"/>
        </p:blipFill>
        <p:spPr>
          <a:xfrm xmlns:a="http://schemas.openxmlformats.org/drawingml/2006/main">
            <a:off x="742950" y="13106400"/>
            <a:ext cx="552450" cy="552450"/>
          </a:xfrm>
          <a:prstGeom xmlns:a="http://schemas.openxmlformats.org/drawingml/2006/main" prst="rect">
            <a:avLst/>
          </a:prstGeom>
        </p:spPr>
      </p:pic>
      <p:sp>
        <p:nvSpPr>
          <p:cNvPr id="73" name="">
            <a:extLst xmlns:a="http://schemas.openxmlformats.org/drawingml/2006/main">
              <a:ext uri="{FF2B5EF4-FFF2-40B4-BE49-F238E27FC236}">
                <a16:creationId xmlns:a16="http://schemas.microsoft.com/office/drawing/2014/main" id="{A381B16A-91FD-4380-B266-5BBA7C6827C1}"/>
              </a:ext>
            </a:extLst>
          </p:cNvPr>
          <p:cNvSpPr>
            <a:spLocks xmlns:a="http://schemas.openxmlformats.org/drawingml/2006/main" noGrp="1"/>
          </p:cNvSpPr>
          <p:nvPr/>
        </p:nvSpPr>
        <p:spPr>
          <a:xfrm xmlns:a="http://schemas.openxmlformats.org/drawingml/2006/main">
            <a:off x="762000" y="13735050"/>
            <a:ext cx="2619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34231D"/>
                </a:solidFill>
                <a:latin typeface="Arial"/>
                <a:ea typeface="Arial"/>
                <a:cs typeface="Arial"/>
              </a:defRPr>
            </a:pPr>
            <a:r>
              <a:rPr sz="1950" b="1">
                <a:solidFill>
                  <a:srgbClr val="34231D"/>
                </a:solidFill>
                <a:latin typeface="Arial"/>
                <a:ea typeface="Arial"/>
                <a:cs typeface="Arial"/>
              </a:rPr>
              <a:t>Question</a:t>
            </a:r>
          </a:p>
        </p:txBody>
      </p:sp>
      <p:sp>
        <p:nvSpPr>
          <p:cNvPr id="74" name="">
            <a:extLst xmlns:a="http://schemas.openxmlformats.org/drawingml/2006/main">
              <a:ext uri="{FF2B5EF4-FFF2-40B4-BE49-F238E27FC236}">
                <a16:creationId xmlns:a16="http://schemas.microsoft.com/office/drawing/2014/main" id="{E56A380C-B46E-46A5-911B-9C39F2E96C66}"/>
              </a:ext>
            </a:extLst>
          </p:cNvPr>
          <p:cNvSpPr>
            <a:spLocks xmlns:a="http://schemas.openxmlformats.org/drawingml/2006/main" noGrp="1"/>
          </p:cNvSpPr>
          <p:nvPr/>
        </p:nvSpPr>
        <p:spPr>
          <a:xfrm xmlns:a="http://schemas.openxmlformats.org/drawingml/2006/main">
            <a:off x="762000" y="14363700"/>
            <a:ext cx="2619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Bedrock selects the knowledge tool</a:t>
            </a:r>
          </a:p>
        </p:txBody>
      </p:sp>
      <p:sp>
        <p:nvSpPr>
          <p:cNvPr id="75" name="">
            <a:extLst xmlns:a="http://schemas.openxmlformats.org/drawingml/2006/main">
              <a:ext uri="{FF2B5EF4-FFF2-40B4-BE49-F238E27FC236}">
                <a16:creationId xmlns:a16="http://schemas.microsoft.com/office/drawing/2014/main" id="{291CD6C9-7D23-4E70-9CA0-AE8424A70869}"/>
              </a:ext>
            </a:extLst>
          </p:cNvPr>
          <p:cNvSpPr>
            <a:spLocks xmlns:a="http://schemas.openxmlformats.org/drawingml/2006/main" noGrp="1"/>
          </p:cNvSpPr>
          <p:nvPr/>
        </p:nvSpPr>
        <p:spPr>
          <a:xfrm xmlns:a="http://schemas.openxmlformats.org/drawingml/2006/main">
            <a:off x="4095750" y="12954000"/>
            <a:ext cx="3000375"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269" name=""/>
          <p:cNvPicPr>
            <a:picLocks xmlns:a="http://schemas.openxmlformats.org/drawingml/2006/main" noChangeAspect="1"/>
          </p:cNvPicPr>
          <p:nvPr/>
        </p:nvPicPr>
        <p:blipFill>
          <a:blip xmlns:r="http://schemas.openxmlformats.org/officeDocument/2006/relationships" xmlns:a="http://schemas.openxmlformats.org/drawingml/2006/main" r:embed="R5dd8d6012b004a1c"/>
          <a:stretch xmlns:a="http://schemas.openxmlformats.org/drawingml/2006/main"/>
        </p:blipFill>
        <p:spPr>
          <a:xfrm xmlns:a="http://schemas.openxmlformats.org/drawingml/2006/main">
            <a:off x="4267200" y="13106400"/>
            <a:ext cx="552450" cy="552450"/>
          </a:xfrm>
          <a:prstGeom xmlns:a="http://schemas.openxmlformats.org/drawingml/2006/main" prst="rect">
            <a:avLst/>
          </a:prstGeom>
        </p:spPr>
      </p:pic>
      <p:sp>
        <p:nvSpPr>
          <p:cNvPr id="77" name="">
            <a:extLst xmlns:a="http://schemas.openxmlformats.org/drawingml/2006/main">
              <a:ext uri="{FF2B5EF4-FFF2-40B4-BE49-F238E27FC236}">
                <a16:creationId xmlns:a16="http://schemas.microsoft.com/office/drawing/2014/main" id="{19087909-D775-423E-9D03-5CA9535DA2ED}"/>
              </a:ext>
            </a:extLst>
          </p:cNvPr>
          <p:cNvSpPr>
            <a:spLocks xmlns:a="http://schemas.openxmlformats.org/drawingml/2006/main" noGrp="1"/>
          </p:cNvSpPr>
          <p:nvPr/>
        </p:nvSpPr>
        <p:spPr>
          <a:xfrm xmlns:a="http://schemas.openxmlformats.org/drawingml/2006/main">
            <a:off x="4286250" y="13735050"/>
            <a:ext cx="2619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34231D"/>
                </a:solidFill>
                <a:latin typeface="Arial"/>
                <a:ea typeface="Arial"/>
                <a:cs typeface="Arial"/>
              </a:defRPr>
            </a:pPr>
            <a:r>
              <a:rPr sz="1950" b="1">
                <a:solidFill>
                  <a:srgbClr val="34231D"/>
                </a:solidFill>
                <a:latin typeface="Arial"/>
                <a:ea typeface="Arial"/>
                <a:cs typeface="Arial"/>
              </a:rPr>
              <a:t>Query embedding</a:t>
            </a:r>
          </a:p>
        </p:txBody>
      </p:sp>
      <p:sp>
        <p:nvSpPr>
          <p:cNvPr id="78" name="">
            <a:extLst xmlns:a="http://schemas.openxmlformats.org/drawingml/2006/main">
              <a:ext uri="{FF2B5EF4-FFF2-40B4-BE49-F238E27FC236}">
                <a16:creationId xmlns:a16="http://schemas.microsoft.com/office/drawing/2014/main" id="{1F48B977-D57B-42A1-93F2-59236ED9BE9F}"/>
              </a:ext>
            </a:extLst>
          </p:cNvPr>
          <p:cNvSpPr>
            <a:spLocks xmlns:a="http://schemas.openxmlformats.org/drawingml/2006/main" noGrp="1"/>
          </p:cNvSpPr>
          <p:nvPr/>
        </p:nvSpPr>
        <p:spPr>
          <a:xfrm xmlns:a="http://schemas.openxmlformats.org/drawingml/2006/main">
            <a:off x="4286250" y="14363700"/>
            <a:ext cx="2619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Amazon Titan Text Embeddings V2</a:t>
            </a:r>
          </a:p>
        </p:txBody>
      </p:sp>
      <p:sp>
        <p:nvSpPr>
          <p:cNvPr id="79" name="">
            <a:extLst xmlns:a="http://schemas.openxmlformats.org/drawingml/2006/main">
              <a:ext uri="{FF2B5EF4-FFF2-40B4-BE49-F238E27FC236}">
                <a16:creationId xmlns:a16="http://schemas.microsoft.com/office/drawing/2014/main" id="{EE91C1D1-CA02-4FEF-BBBC-DFFD23485843}"/>
              </a:ext>
            </a:extLst>
          </p:cNvPr>
          <p:cNvSpPr>
            <a:spLocks xmlns:a="http://schemas.openxmlformats.org/drawingml/2006/main" noGrp="1"/>
          </p:cNvSpPr>
          <p:nvPr/>
        </p:nvSpPr>
        <p:spPr>
          <a:xfrm xmlns:a="http://schemas.openxmlformats.org/drawingml/2006/main">
            <a:off x="7620000" y="12954000"/>
            <a:ext cx="3000375"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273" name=""/>
          <p:cNvPicPr>
            <a:picLocks xmlns:a="http://schemas.openxmlformats.org/drawingml/2006/main" noChangeAspect="1"/>
          </p:cNvPicPr>
          <p:nvPr/>
        </p:nvPicPr>
        <p:blipFill>
          <a:blip xmlns:r="http://schemas.openxmlformats.org/officeDocument/2006/relationships" xmlns:a="http://schemas.openxmlformats.org/drawingml/2006/main" r:embed="Ra44bcc7dcb7e4205"/>
          <a:stretch xmlns:a="http://schemas.openxmlformats.org/drawingml/2006/main"/>
        </p:blipFill>
        <p:spPr>
          <a:xfrm xmlns:a="http://schemas.openxmlformats.org/drawingml/2006/main">
            <a:off x="7810500" y="13129149"/>
            <a:ext cx="1476375" cy="392653"/>
          </a:xfrm>
          <a:prstGeom xmlns:a="http://schemas.openxmlformats.org/drawingml/2006/main" prst="rect">
            <a:avLst/>
          </a:prstGeom>
        </p:spPr>
      </p:pic>
      <p:pic>
        <p:nvPicPr>
          <p:cNvPr id="274" name=""/>
          <p:cNvPicPr>
            <a:picLocks xmlns:a="http://schemas.openxmlformats.org/drawingml/2006/main" noChangeAspect="1"/>
          </p:cNvPicPr>
          <p:nvPr/>
        </p:nvPicPr>
        <p:blipFill>
          <a:blip xmlns:r="http://schemas.openxmlformats.org/officeDocument/2006/relationships" xmlns:a="http://schemas.openxmlformats.org/drawingml/2006/main" r:embed="R77100194ca464a06"/>
          <a:stretch xmlns:a="http://schemas.openxmlformats.org/drawingml/2006/main"/>
        </p:blipFill>
        <p:spPr>
          <a:xfrm xmlns:a="http://schemas.openxmlformats.org/drawingml/2006/main">
            <a:off x="9644560" y="13115925"/>
            <a:ext cx="580030" cy="457200"/>
          </a:xfrm>
          <a:prstGeom xmlns:a="http://schemas.openxmlformats.org/drawingml/2006/main" prst="rect">
            <a:avLst/>
          </a:prstGeom>
        </p:spPr>
      </p:pic>
      <p:sp>
        <p:nvSpPr>
          <p:cNvPr id="82" name="">
            <a:extLst xmlns:a="http://schemas.openxmlformats.org/drawingml/2006/main">
              <a:ext uri="{FF2B5EF4-FFF2-40B4-BE49-F238E27FC236}">
                <a16:creationId xmlns:a16="http://schemas.microsoft.com/office/drawing/2014/main" id="{7A06C56C-2606-4527-A07A-376E76B85EA3}"/>
              </a:ext>
            </a:extLst>
          </p:cNvPr>
          <p:cNvSpPr>
            <a:spLocks xmlns:a="http://schemas.openxmlformats.org/drawingml/2006/main" noGrp="1"/>
          </p:cNvSpPr>
          <p:nvPr/>
        </p:nvSpPr>
        <p:spPr>
          <a:xfrm xmlns:a="http://schemas.openxmlformats.org/drawingml/2006/main">
            <a:off x="7810500" y="13735050"/>
            <a:ext cx="2619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34231D"/>
                </a:solidFill>
                <a:latin typeface="Arial"/>
                <a:ea typeface="Arial"/>
                <a:cs typeface="Arial"/>
              </a:defRPr>
            </a:pPr>
            <a:r>
              <a:rPr sz="1950" b="1">
                <a:solidFill>
                  <a:srgbClr val="34231D"/>
                </a:solidFill>
                <a:latin typeface="Arial"/>
                <a:ea typeface="Arial"/>
                <a:cs typeface="Arial"/>
              </a:rPr>
              <a:t>Vector search</a:t>
            </a:r>
          </a:p>
        </p:txBody>
      </p:sp>
      <p:sp>
        <p:nvSpPr>
          <p:cNvPr id="83" name="">
            <a:extLst xmlns:a="http://schemas.openxmlformats.org/drawingml/2006/main">
              <a:ext uri="{FF2B5EF4-FFF2-40B4-BE49-F238E27FC236}">
                <a16:creationId xmlns:a16="http://schemas.microsoft.com/office/drawing/2014/main" id="{4BDF6795-1C3C-4108-AE1E-2C6BD3B6F160}"/>
              </a:ext>
            </a:extLst>
          </p:cNvPr>
          <p:cNvSpPr>
            <a:spLocks xmlns:a="http://schemas.openxmlformats.org/drawingml/2006/main" noGrp="1"/>
          </p:cNvSpPr>
          <p:nvPr/>
        </p:nvSpPr>
        <p:spPr>
          <a:xfrm xmlns:a="http://schemas.openxmlformats.org/drawingml/2006/main">
            <a:off x="7810500" y="14363700"/>
            <a:ext cx="2619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FastAPI queries Qdrant; top four chunks</a:t>
            </a:r>
          </a:p>
        </p:txBody>
      </p:sp>
      <p:sp>
        <p:nvSpPr>
          <p:cNvPr id="84" name="">
            <a:extLst xmlns:a="http://schemas.openxmlformats.org/drawingml/2006/main">
              <a:ext uri="{FF2B5EF4-FFF2-40B4-BE49-F238E27FC236}">
                <a16:creationId xmlns:a16="http://schemas.microsoft.com/office/drawing/2014/main" id="{10839791-4FDA-49A8-BB0E-A925A8C7C095}"/>
              </a:ext>
            </a:extLst>
          </p:cNvPr>
          <p:cNvSpPr>
            <a:spLocks xmlns:a="http://schemas.openxmlformats.org/drawingml/2006/main" noGrp="1"/>
          </p:cNvSpPr>
          <p:nvPr/>
        </p:nvSpPr>
        <p:spPr>
          <a:xfrm xmlns:a="http://schemas.openxmlformats.org/drawingml/2006/main">
            <a:off x="11144250" y="12954000"/>
            <a:ext cx="3000375"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85" name="">
            <a:extLst xmlns:a="http://schemas.openxmlformats.org/drawingml/2006/main">
              <a:ext uri="{FF2B5EF4-FFF2-40B4-BE49-F238E27FC236}">
                <a16:creationId xmlns:a16="http://schemas.microsoft.com/office/drawing/2014/main" id="{524281F8-8088-4B10-B923-F48EEC936234}"/>
              </a:ext>
            </a:extLst>
          </p:cNvPr>
          <p:cNvSpPr>
            <a:spLocks xmlns:a="http://schemas.openxmlformats.org/drawingml/2006/main" noGrp="1"/>
          </p:cNvSpPr>
          <p:nvPr/>
        </p:nvSpPr>
        <p:spPr>
          <a:xfrm xmlns:a="http://schemas.openxmlformats.org/drawingml/2006/main">
            <a:off x="11315700" y="13106400"/>
            <a:ext cx="552450" cy="55245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279" name=""/>
          <p:cNvPicPr>
            <a:picLocks xmlns:a="http://schemas.openxmlformats.org/drawingml/2006/main" noChangeAspect="1"/>
          </p:cNvPicPr>
          <p:nvPr/>
        </p:nvPicPr>
        <p:blipFill>
          <a:blip xmlns:r="http://schemas.openxmlformats.org/officeDocument/2006/relationships" xmlns:a="http://schemas.openxmlformats.org/drawingml/2006/main" r:embed="R9725cef51bb946b7"/>
          <a:stretch xmlns:a="http://schemas.openxmlformats.org/drawingml/2006/main"/>
        </p:blipFill>
        <p:spPr>
          <a:xfrm xmlns:a="http://schemas.openxmlformats.org/drawingml/2006/main">
            <a:off x="11315700" y="13106400"/>
            <a:ext cx="552450" cy="552450"/>
          </a:xfrm>
          <a:prstGeom xmlns:a="http://schemas.openxmlformats.org/drawingml/2006/main" prst="rect">
            <a:avLst/>
          </a:prstGeom>
        </p:spPr>
      </p:pic>
      <p:sp>
        <p:nvSpPr>
          <p:cNvPr id="87" name="">
            <a:extLst xmlns:a="http://schemas.openxmlformats.org/drawingml/2006/main">
              <a:ext uri="{FF2B5EF4-FFF2-40B4-BE49-F238E27FC236}">
                <a16:creationId xmlns:a16="http://schemas.microsoft.com/office/drawing/2014/main" id="{D4EA7A56-8531-40DC-AD95-92CD4A09BEFE}"/>
              </a:ext>
            </a:extLst>
          </p:cNvPr>
          <p:cNvSpPr>
            <a:spLocks xmlns:a="http://schemas.openxmlformats.org/drawingml/2006/main" noGrp="1"/>
          </p:cNvSpPr>
          <p:nvPr/>
        </p:nvSpPr>
        <p:spPr>
          <a:xfrm xmlns:a="http://schemas.openxmlformats.org/drawingml/2006/main">
            <a:off x="11334750" y="13735050"/>
            <a:ext cx="2619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34231D"/>
                </a:solidFill>
                <a:latin typeface="Arial"/>
                <a:ea typeface="Arial"/>
                <a:cs typeface="Arial"/>
              </a:defRPr>
            </a:pPr>
            <a:r>
              <a:rPr sz="1950" b="1">
                <a:solidFill>
                  <a:srgbClr val="34231D"/>
                </a:solidFill>
                <a:latin typeface="Arial"/>
                <a:ea typeface="Arial"/>
                <a:cs typeface="Arial"/>
              </a:rPr>
              <a:t>Tool result</a:t>
            </a:r>
          </a:p>
        </p:txBody>
      </p:sp>
      <p:sp>
        <p:nvSpPr>
          <p:cNvPr id="88" name="">
            <a:extLst xmlns:a="http://schemas.openxmlformats.org/drawingml/2006/main">
              <a:ext uri="{FF2B5EF4-FFF2-40B4-BE49-F238E27FC236}">
                <a16:creationId xmlns:a16="http://schemas.microsoft.com/office/drawing/2014/main" id="{B1446329-C0A4-4D97-9ADF-065202D9E5DF}"/>
              </a:ext>
            </a:extLst>
          </p:cNvPr>
          <p:cNvSpPr>
            <a:spLocks xmlns:a="http://schemas.openxmlformats.org/drawingml/2006/main" noGrp="1"/>
          </p:cNvSpPr>
          <p:nvPr/>
        </p:nvSpPr>
        <p:spPr>
          <a:xfrm xmlns:a="http://schemas.openxmlformats.org/drawingml/2006/main">
            <a:off x="11334750" y="14363700"/>
            <a:ext cx="2619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FastAPI returns the retrieved text</a:t>
            </a:r>
          </a:p>
        </p:txBody>
      </p:sp>
      <p:sp>
        <p:nvSpPr>
          <p:cNvPr id="89" name="">
            <a:extLst xmlns:a="http://schemas.openxmlformats.org/drawingml/2006/main">
              <a:ext uri="{FF2B5EF4-FFF2-40B4-BE49-F238E27FC236}">
                <a16:creationId xmlns:a16="http://schemas.microsoft.com/office/drawing/2014/main" id="{D05793F4-7021-4C1F-9D0E-FB3AB3523B53}"/>
              </a:ext>
            </a:extLst>
          </p:cNvPr>
          <p:cNvSpPr>
            <a:spLocks xmlns:a="http://schemas.openxmlformats.org/drawingml/2006/main" noGrp="1"/>
          </p:cNvSpPr>
          <p:nvPr/>
        </p:nvSpPr>
        <p:spPr>
          <a:xfrm xmlns:a="http://schemas.openxmlformats.org/drawingml/2006/main">
            <a:off x="14668500" y="12954000"/>
            <a:ext cx="3000375"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283" name=""/>
          <p:cNvPicPr>
            <a:picLocks xmlns:a="http://schemas.openxmlformats.org/drawingml/2006/main" noChangeAspect="1"/>
          </p:cNvPicPr>
          <p:nvPr/>
        </p:nvPicPr>
        <p:blipFill>
          <a:blip xmlns:r="http://schemas.openxmlformats.org/officeDocument/2006/relationships" xmlns:a="http://schemas.openxmlformats.org/drawingml/2006/main" r:embed="Refee1a68dc984127"/>
          <a:stretch xmlns:a="http://schemas.openxmlformats.org/drawingml/2006/main"/>
        </p:blipFill>
        <p:spPr>
          <a:xfrm xmlns:a="http://schemas.openxmlformats.org/drawingml/2006/main">
            <a:off x="14839950" y="13106400"/>
            <a:ext cx="552450" cy="552450"/>
          </a:xfrm>
          <a:prstGeom xmlns:a="http://schemas.openxmlformats.org/drawingml/2006/main" prst="rect">
            <a:avLst/>
          </a:prstGeom>
        </p:spPr>
      </p:pic>
      <p:sp>
        <p:nvSpPr>
          <p:cNvPr id="91" name="">
            <a:extLst xmlns:a="http://schemas.openxmlformats.org/drawingml/2006/main">
              <a:ext uri="{FF2B5EF4-FFF2-40B4-BE49-F238E27FC236}">
                <a16:creationId xmlns:a16="http://schemas.microsoft.com/office/drawing/2014/main" id="{07A1A580-C412-4223-89A8-1018A32D57A4}"/>
              </a:ext>
            </a:extLst>
          </p:cNvPr>
          <p:cNvSpPr>
            <a:spLocks xmlns:a="http://schemas.openxmlformats.org/drawingml/2006/main" noGrp="1"/>
          </p:cNvSpPr>
          <p:nvPr/>
        </p:nvSpPr>
        <p:spPr>
          <a:xfrm xmlns:a="http://schemas.openxmlformats.org/drawingml/2006/main">
            <a:off x="14859000" y="13735050"/>
            <a:ext cx="2619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34231D"/>
                </a:solidFill>
                <a:latin typeface="Arial"/>
                <a:ea typeface="Arial"/>
                <a:cs typeface="Arial"/>
              </a:defRPr>
            </a:pPr>
            <a:r>
              <a:rPr sz="1950" b="1">
                <a:solidFill>
                  <a:srgbClr val="34231D"/>
                </a:solidFill>
                <a:latin typeface="Arial"/>
                <a:ea typeface="Arial"/>
                <a:cs typeface="Arial"/>
              </a:rPr>
              <a:t>Grounded answer</a:t>
            </a:r>
          </a:p>
        </p:txBody>
      </p:sp>
      <p:sp>
        <p:nvSpPr>
          <p:cNvPr id="92" name="">
            <a:extLst xmlns:a="http://schemas.openxmlformats.org/drawingml/2006/main">
              <a:ext uri="{FF2B5EF4-FFF2-40B4-BE49-F238E27FC236}">
                <a16:creationId xmlns:a16="http://schemas.microsoft.com/office/drawing/2014/main" id="{4D497571-12A3-4B1A-B34A-36D83A20361C}"/>
              </a:ext>
            </a:extLst>
          </p:cNvPr>
          <p:cNvSpPr>
            <a:spLocks xmlns:a="http://schemas.openxmlformats.org/drawingml/2006/main" noGrp="1"/>
          </p:cNvSpPr>
          <p:nvPr/>
        </p:nvSpPr>
        <p:spPr>
          <a:xfrm xmlns:a="http://schemas.openxmlformats.org/drawingml/2006/main">
            <a:off x="14859000" y="14363700"/>
            <a:ext cx="2619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Bedrock uses retrieved restaurant facts</a:t>
            </a:r>
          </a:p>
        </p:txBody>
      </p:sp>
      <p:cxnSp>
        <p:nvCxnSpPr>
          <p:cNvPr id="286" name=""/>
          <p:cNvCxnSpPr>
            <a:stCxn xmlns:a="http://schemas.openxmlformats.org/drawingml/2006/main" id="71" idx="3"/>
            <a:endCxn xmlns:a="http://schemas.openxmlformats.org/drawingml/2006/main" id="75" idx="1"/>
          </p:cNvCxnSpPr>
          <p:nvPr/>
        </p:nvCxnSpPr>
        <p:spPr>
          <a:xfrm xmlns:a="http://schemas.openxmlformats.org/drawingml/2006/main">
            <a:off x="3571875" y="13977938"/>
            <a:ext cx="52387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287" name=""/>
          <p:cNvCxnSpPr>
            <a:stCxn xmlns:a="http://schemas.openxmlformats.org/drawingml/2006/main" id="75" idx="3"/>
            <a:endCxn xmlns:a="http://schemas.openxmlformats.org/drawingml/2006/main" id="79" idx="1"/>
          </p:cNvCxnSpPr>
          <p:nvPr/>
        </p:nvCxnSpPr>
        <p:spPr>
          <a:xfrm xmlns:a="http://schemas.openxmlformats.org/drawingml/2006/main">
            <a:off x="7096125" y="13977938"/>
            <a:ext cx="52387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288" name=""/>
          <p:cNvCxnSpPr>
            <a:stCxn xmlns:a="http://schemas.openxmlformats.org/drawingml/2006/main" id="79" idx="3"/>
            <a:endCxn xmlns:a="http://schemas.openxmlformats.org/drawingml/2006/main" id="84" idx="1"/>
          </p:cNvCxnSpPr>
          <p:nvPr/>
        </p:nvCxnSpPr>
        <p:spPr>
          <a:xfrm xmlns:a="http://schemas.openxmlformats.org/drawingml/2006/main">
            <a:off x="10620375" y="13977938"/>
            <a:ext cx="52387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289" name=""/>
          <p:cNvCxnSpPr>
            <a:stCxn xmlns:a="http://schemas.openxmlformats.org/drawingml/2006/main" id="84" idx="3"/>
            <a:endCxn xmlns:a="http://schemas.openxmlformats.org/drawingml/2006/main" id="89" idx="1"/>
          </p:cNvCxnSpPr>
          <p:nvPr/>
        </p:nvCxnSpPr>
        <p:spPr>
          <a:xfrm xmlns:a="http://schemas.openxmlformats.org/drawingml/2006/main">
            <a:off x="14144625" y="13977938"/>
            <a:ext cx="52387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sp>
        <p:nvSpPr>
          <p:cNvPr id="97" name="">
            <a:extLst xmlns:a="http://schemas.openxmlformats.org/drawingml/2006/main">
              <a:ext uri="{FF2B5EF4-FFF2-40B4-BE49-F238E27FC236}">
                <a16:creationId xmlns:a16="http://schemas.microsoft.com/office/drawing/2014/main" id="{6A6BFDA2-2C2B-4E68-8B0C-2FFEC331330E}"/>
              </a:ext>
            </a:extLst>
          </p:cNvPr>
          <p:cNvSpPr>
            <a:spLocks xmlns:a="http://schemas.openxmlformats.org/drawingml/2006/main" noGrp="1"/>
          </p:cNvSpPr>
          <p:nvPr/>
        </p:nvSpPr>
        <p:spPr>
          <a:xfrm xmlns:a="http://schemas.openxmlformats.org/drawingml/2006/main">
            <a:off x="571500" y="15478125"/>
            <a:ext cx="16859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C9502F"/>
                </a:solidFill>
                <a:latin typeface="Arial"/>
                <a:ea typeface="Arial"/>
                <a:cs typeface="Arial"/>
              </a:defRPr>
            </a:pPr>
            <a:r>
              <a:rPr sz="2925" b="1">
                <a:solidFill>
                  <a:srgbClr val="C9502F"/>
                </a:solidFill>
                <a:latin typeface="Arial"/>
                <a:ea typeface="Arial"/>
                <a:cs typeface="Arial"/>
              </a:rPr>
              <a:t>C. Bedrock reasoning and business tools</a:t>
            </a:r>
          </a:p>
        </p:txBody>
      </p:sp>
      <p:sp>
        <p:nvSpPr>
          <p:cNvPr id="98" name="">
            <a:extLst xmlns:a="http://schemas.openxmlformats.org/drawingml/2006/main">
              <a:ext uri="{FF2B5EF4-FFF2-40B4-BE49-F238E27FC236}">
                <a16:creationId xmlns:a16="http://schemas.microsoft.com/office/drawing/2014/main" id="{5DCDD0DD-4A64-4EC5-B923-9A3341C0D456}"/>
              </a:ext>
            </a:extLst>
          </p:cNvPr>
          <p:cNvSpPr>
            <a:spLocks xmlns:a="http://schemas.openxmlformats.org/drawingml/2006/main" noGrp="1"/>
          </p:cNvSpPr>
          <p:nvPr/>
        </p:nvSpPr>
        <p:spPr>
          <a:xfrm xmlns:a="http://schemas.openxmlformats.org/drawingml/2006/main">
            <a:off x="571500" y="15992475"/>
            <a:ext cx="1685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88766B"/>
                </a:solidFill>
                <a:latin typeface="Arial"/>
                <a:ea typeface="Arial"/>
                <a:cs typeface="Arial"/>
              </a:defRPr>
            </a:pPr>
            <a:r>
              <a:rPr sz="2025" b="0">
                <a:solidFill>
                  <a:srgbClr val="88766B"/>
                </a:solidFill>
                <a:latin typeface="Arial"/>
                <a:ea typeface="Arial"/>
                <a:cs typeface="Arial"/>
              </a:rPr>
              <a:t>Saved conversation memory → Converse tool selection → FastAPI execution → tool results → answer</a:t>
            </a:r>
          </a:p>
        </p:txBody>
      </p:sp>
      <p:sp>
        <p:nvSpPr>
          <p:cNvPr id="99" name="">
            <a:extLst xmlns:a="http://schemas.openxmlformats.org/drawingml/2006/main">
              <a:ext uri="{FF2B5EF4-FFF2-40B4-BE49-F238E27FC236}">
                <a16:creationId xmlns:a16="http://schemas.microsoft.com/office/drawing/2014/main" id="{1210940D-8E8F-4941-BBD4-3DAB57B4C0C3}"/>
              </a:ext>
            </a:extLst>
          </p:cNvPr>
          <p:cNvSpPr>
            <a:spLocks xmlns:a="http://schemas.openxmlformats.org/drawingml/2006/main" noGrp="1"/>
          </p:cNvSpPr>
          <p:nvPr/>
        </p:nvSpPr>
        <p:spPr>
          <a:xfrm xmlns:a="http://schemas.openxmlformats.org/drawingml/2006/main">
            <a:off x="571500" y="16544925"/>
            <a:ext cx="433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9502F"/>
                </a:solidFill>
                <a:latin typeface="Arial"/>
                <a:ea typeface="Arial"/>
                <a:cs typeface="Arial"/>
              </a:defRPr>
            </a:pPr>
            <a:r>
              <a:rPr sz="1950" b="1">
                <a:solidFill>
                  <a:srgbClr val="C9502F"/>
                </a:solidFill>
                <a:latin typeface="Arial"/>
                <a:ea typeface="Arial"/>
                <a:cs typeface="Arial"/>
              </a:rPr>
              <a:t>search-knowledge</a:t>
            </a:r>
          </a:p>
        </p:txBody>
      </p:sp>
      <p:sp>
        <p:nvSpPr>
          <p:cNvPr id="100" name="">
            <a:extLst xmlns:a="http://schemas.openxmlformats.org/drawingml/2006/main">
              <a:ext uri="{FF2B5EF4-FFF2-40B4-BE49-F238E27FC236}">
                <a16:creationId xmlns:a16="http://schemas.microsoft.com/office/drawing/2014/main" id="{52C32540-77E7-46F8-90CB-8CFE8EF57248}"/>
              </a:ext>
            </a:extLst>
          </p:cNvPr>
          <p:cNvSpPr>
            <a:spLocks xmlns:a="http://schemas.openxmlformats.org/drawingml/2006/main" noGrp="1"/>
          </p:cNvSpPr>
          <p:nvPr/>
        </p:nvSpPr>
        <p:spPr>
          <a:xfrm xmlns:a="http://schemas.openxmlformats.org/drawingml/2006/main">
            <a:off x="4857750" y="1654492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34231D"/>
                </a:solidFill>
                <a:latin typeface="Arial"/>
                <a:ea typeface="Arial"/>
                <a:cs typeface="Arial"/>
              </a:defRPr>
            </a:pPr>
            <a:r>
              <a:rPr sz="1725" b="0">
                <a:solidFill>
                  <a:srgbClr val="34231D"/>
                </a:solidFill>
                <a:latin typeface="Arial"/>
                <a:ea typeface="Arial"/>
                <a:cs typeface="Arial"/>
              </a:rPr>
              <a:t>Restaurant facts through RAG</a:t>
            </a:r>
          </a:p>
        </p:txBody>
      </p:sp>
      <p:sp>
        <p:nvSpPr>
          <p:cNvPr id="101" name="">
            <a:extLst xmlns:a="http://schemas.openxmlformats.org/drawingml/2006/main">
              <a:ext uri="{FF2B5EF4-FFF2-40B4-BE49-F238E27FC236}">
                <a16:creationId xmlns:a16="http://schemas.microsoft.com/office/drawing/2014/main" id="{226B48D7-E301-4053-9CA3-F06EEF6BC32A}"/>
              </a:ext>
            </a:extLst>
          </p:cNvPr>
          <p:cNvSpPr>
            <a:spLocks xmlns:a="http://schemas.openxmlformats.org/drawingml/2006/main" noGrp="1"/>
          </p:cNvSpPr>
          <p:nvPr/>
        </p:nvSpPr>
        <p:spPr>
          <a:xfrm xmlns:a="http://schemas.openxmlformats.org/drawingml/2006/main">
            <a:off x="9334500" y="16544925"/>
            <a:ext cx="433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9502F"/>
                </a:solidFill>
                <a:latin typeface="Arial"/>
                <a:ea typeface="Arial"/>
                <a:cs typeface="Arial"/>
              </a:defRPr>
            </a:pPr>
            <a:r>
              <a:rPr sz="1950" b="1">
                <a:solidFill>
                  <a:srgbClr val="C9502F"/>
                </a:solidFill>
                <a:latin typeface="Arial"/>
                <a:ea typeface="Arial"/>
                <a:cs typeface="Arial"/>
              </a:rPr>
              <a:t>search-menu</a:t>
            </a:r>
          </a:p>
        </p:txBody>
      </p:sp>
      <p:sp>
        <p:nvSpPr>
          <p:cNvPr id="102" name="">
            <a:extLst xmlns:a="http://schemas.openxmlformats.org/drawingml/2006/main">
              <a:ext uri="{FF2B5EF4-FFF2-40B4-BE49-F238E27FC236}">
                <a16:creationId xmlns:a16="http://schemas.microsoft.com/office/drawing/2014/main" id="{DF723ECD-7826-4964-8815-5FBCB4402AD4}"/>
              </a:ext>
            </a:extLst>
          </p:cNvPr>
          <p:cNvSpPr>
            <a:spLocks xmlns:a="http://schemas.openxmlformats.org/drawingml/2006/main" noGrp="1"/>
          </p:cNvSpPr>
          <p:nvPr/>
        </p:nvSpPr>
        <p:spPr>
          <a:xfrm xmlns:a="http://schemas.openxmlformats.org/drawingml/2006/main">
            <a:off x="13620750" y="1654492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34231D"/>
                </a:solidFill>
                <a:latin typeface="Arial"/>
                <a:ea typeface="Arial"/>
                <a:cs typeface="Arial"/>
              </a:defRPr>
            </a:pPr>
            <a:r>
              <a:rPr sz="1725" b="0">
                <a:solidFill>
                  <a:srgbClr val="34231D"/>
                </a:solidFill>
                <a:latin typeface="Arial"/>
                <a:ea typeface="Arial"/>
                <a:cs typeface="Arial"/>
              </a:rPr>
              <a:t>Current dishes, prices and stock</a:t>
            </a:r>
          </a:p>
        </p:txBody>
      </p:sp>
      <p:sp>
        <p:nvSpPr>
          <p:cNvPr id="103" name="">
            <a:extLst xmlns:a="http://schemas.openxmlformats.org/drawingml/2006/main">
              <a:ext uri="{FF2B5EF4-FFF2-40B4-BE49-F238E27FC236}">
                <a16:creationId xmlns:a16="http://schemas.microsoft.com/office/drawing/2014/main" id="{88F3FCF2-DC74-4B21-954A-9EFEA25C80E5}"/>
              </a:ext>
            </a:extLst>
          </p:cNvPr>
          <p:cNvSpPr>
            <a:spLocks xmlns:a="http://schemas.openxmlformats.org/drawingml/2006/main" noGrp="1"/>
          </p:cNvSpPr>
          <p:nvPr/>
        </p:nvSpPr>
        <p:spPr>
          <a:xfrm xmlns:a="http://schemas.openxmlformats.org/drawingml/2006/main">
            <a:off x="571500" y="17106900"/>
            <a:ext cx="433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9502F"/>
                </a:solidFill>
                <a:latin typeface="Arial"/>
                <a:ea typeface="Arial"/>
                <a:cs typeface="Arial"/>
              </a:defRPr>
            </a:pPr>
            <a:r>
              <a:rPr sz="1950" b="1">
                <a:solidFill>
                  <a:srgbClr val="C9502F"/>
                </a:solidFill>
                <a:latin typeface="Arial"/>
                <a:ea typeface="Arial"/>
                <a:cs typeface="Arial"/>
              </a:rPr>
              <a:t>check-order-items</a:t>
            </a:r>
          </a:p>
        </p:txBody>
      </p:sp>
      <p:sp>
        <p:nvSpPr>
          <p:cNvPr id="104" name="">
            <a:extLst xmlns:a="http://schemas.openxmlformats.org/drawingml/2006/main">
              <a:ext uri="{FF2B5EF4-FFF2-40B4-BE49-F238E27FC236}">
                <a16:creationId xmlns:a16="http://schemas.microsoft.com/office/drawing/2014/main" id="{999FB61F-4905-4268-904F-59852A9C4828}"/>
              </a:ext>
            </a:extLst>
          </p:cNvPr>
          <p:cNvSpPr>
            <a:spLocks xmlns:a="http://schemas.openxmlformats.org/drawingml/2006/main" noGrp="1"/>
          </p:cNvSpPr>
          <p:nvPr/>
        </p:nvSpPr>
        <p:spPr>
          <a:xfrm xmlns:a="http://schemas.openxmlformats.org/drawingml/2006/main">
            <a:off x="4857750" y="17106900"/>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34231D"/>
                </a:solidFill>
                <a:latin typeface="Arial"/>
                <a:ea typeface="Arial"/>
                <a:cs typeface="Arial"/>
              </a:defRPr>
            </a:pPr>
            <a:r>
              <a:rPr sz="1725" b="0">
                <a:solidFill>
                  <a:srgbClr val="34231D"/>
                </a:solidFill>
                <a:latin typeface="Arial"/>
                <a:ea typeface="Arial"/>
                <a:cs typeface="Arial"/>
              </a:rPr>
              <a:t>Quantities, stock and subtotal</a:t>
            </a:r>
          </a:p>
        </p:txBody>
      </p:sp>
      <p:sp>
        <p:nvSpPr>
          <p:cNvPr id="105" name="">
            <a:extLst xmlns:a="http://schemas.openxmlformats.org/drawingml/2006/main">
              <a:ext uri="{FF2B5EF4-FFF2-40B4-BE49-F238E27FC236}">
                <a16:creationId xmlns:a16="http://schemas.microsoft.com/office/drawing/2014/main" id="{C75E5FEE-CC3A-4682-999F-1D3C116187A3}"/>
              </a:ext>
            </a:extLst>
          </p:cNvPr>
          <p:cNvSpPr>
            <a:spLocks xmlns:a="http://schemas.openxmlformats.org/drawingml/2006/main" noGrp="1"/>
          </p:cNvSpPr>
          <p:nvPr/>
        </p:nvSpPr>
        <p:spPr>
          <a:xfrm xmlns:a="http://schemas.openxmlformats.org/drawingml/2006/main">
            <a:off x="9334500" y="17106900"/>
            <a:ext cx="433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9502F"/>
                </a:solidFill>
                <a:latin typeface="Arial"/>
                <a:ea typeface="Arial"/>
                <a:cs typeface="Arial"/>
              </a:defRPr>
            </a:pPr>
            <a:r>
              <a:rPr sz="1950" b="1">
                <a:solidFill>
                  <a:srgbClr val="C9502F"/>
                </a:solidFill>
                <a:latin typeface="Arial"/>
                <a:ea typeface="Arial"/>
                <a:cs typeface="Arial"/>
              </a:rPr>
              <a:t>create-order-draft</a:t>
            </a:r>
          </a:p>
        </p:txBody>
      </p:sp>
      <p:sp>
        <p:nvSpPr>
          <p:cNvPr id="106" name="">
            <a:extLst xmlns:a="http://schemas.openxmlformats.org/drawingml/2006/main">
              <a:ext uri="{FF2B5EF4-FFF2-40B4-BE49-F238E27FC236}">
                <a16:creationId xmlns:a16="http://schemas.microsoft.com/office/drawing/2014/main" id="{1A1A5931-E49D-445A-B6F2-5D970866B1CD}"/>
              </a:ext>
            </a:extLst>
          </p:cNvPr>
          <p:cNvSpPr>
            <a:spLocks xmlns:a="http://schemas.openxmlformats.org/drawingml/2006/main" noGrp="1"/>
          </p:cNvSpPr>
          <p:nvPr/>
        </p:nvSpPr>
        <p:spPr>
          <a:xfrm xmlns:a="http://schemas.openxmlformats.org/drawingml/2006/main">
            <a:off x="13620750" y="17106900"/>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34231D"/>
                </a:solidFill>
                <a:latin typeface="Arial"/>
                <a:ea typeface="Arial"/>
                <a:cs typeface="Arial"/>
              </a:defRPr>
            </a:pPr>
            <a:r>
              <a:rPr sz="1725" b="0">
                <a:solidFill>
                  <a:srgbClr val="34231D"/>
                </a:solidFill>
                <a:latin typeface="Arial"/>
                <a:ea typeface="Arial"/>
                <a:cs typeface="Arial"/>
              </a:rPr>
              <a:t>Draft after address approval</a:t>
            </a:r>
          </a:p>
        </p:txBody>
      </p:sp>
      <p:sp>
        <p:nvSpPr>
          <p:cNvPr id="107" name="">
            <a:extLst xmlns:a="http://schemas.openxmlformats.org/drawingml/2006/main">
              <a:ext uri="{FF2B5EF4-FFF2-40B4-BE49-F238E27FC236}">
                <a16:creationId xmlns:a16="http://schemas.microsoft.com/office/drawing/2014/main" id="{6A6CA906-551E-43C6-B2A5-2548E350DBED}"/>
              </a:ext>
            </a:extLst>
          </p:cNvPr>
          <p:cNvSpPr>
            <a:spLocks xmlns:a="http://schemas.openxmlformats.org/drawingml/2006/main" noGrp="1"/>
          </p:cNvSpPr>
          <p:nvPr/>
        </p:nvSpPr>
        <p:spPr>
          <a:xfrm xmlns:a="http://schemas.openxmlformats.org/drawingml/2006/main">
            <a:off x="571500" y="17668875"/>
            <a:ext cx="433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9502F"/>
                </a:solidFill>
                <a:latin typeface="Arial"/>
                <a:ea typeface="Arial"/>
                <a:cs typeface="Arial"/>
              </a:defRPr>
            </a:pPr>
            <a:r>
              <a:rPr sz="1950" b="1">
                <a:solidFill>
                  <a:srgbClr val="C9502F"/>
                </a:solidFill>
                <a:latin typeface="Arial"/>
                <a:ea typeface="Arial"/>
                <a:cs typeface="Arial"/>
              </a:rPr>
              <a:t>confirm-order</a:t>
            </a:r>
          </a:p>
        </p:txBody>
      </p:sp>
      <p:sp>
        <p:nvSpPr>
          <p:cNvPr id="108" name="">
            <a:extLst xmlns:a="http://schemas.openxmlformats.org/drawingml/2006/main">
              <a:ext uri="{FF2B5EF4-FFF2-40B4-BE49-F238E27FC236}">
                <a16:creationId xmlns:a16="http://schemas.microsoft.com/office/drawing/2014/main" id="{E15519E4-36F8-4184-AED8-BA8ABBE5D37B}"/>
              </a:ext>
            </a:extLst>
          </p:cNvPr>
          <p:cNvSpPr>
            <a:spLocks xmlns:a="http://schemas.openxmlformats.org/drawingml/2006/main" noGrp="1"/>
          </p:cNvSpPr>
          <p:nvPr/>
        </p:nvSpPr>
        <p:spPr>
          <a:xfrm xmlns:a="http://schemas.openxmlformats.org/drawingml/2006/main">
            <a:off x="4857750" y="1766887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34231D"/>
                </a:solidFill>
                <a:latin typeface="Arial"/>
                <a:ea typeface="Arial"/>
                <a:cs typeface="Arial"/>
              </a:defRPr>
            </a:pPr>
            <a:r>
              <a:rPr sz="1725" b="0">
                <a:solidFill>
                  <a:srgbClr val="34231D"/>
                </a:solidFill>
                <a:latin typeface="Arial"/>
                <a:ea typeface="Arial"/>
                <a:cs typeface="Arial"/>
              </a:rPr>
              <a:t>Recheck stock, confirm, reduce stock</a:t>
            </a:r>
          </a:p>
        </p:txBody>
      </p:sp>
      <p:sp>
        <p:nvSpPr>
          <p:cNvPr id="109" name="">
            <a:extLst xmlns:a="http://schemas.openxmlformats.org/drawingml/2006/main">
              <a:ext uri="{FF2B5EF4-FFF2-40B4-BE49-F238E27FC236}">
                <a16:creationId xmlns:a16="http://schemas.microsoft.com/office/drawing/2014/main" id="{FE4FC610-A3C5-4A9A-AB47-3F8BE30D0E4B}"/>
              </a:ext>
            </a:extLst>
          </p:cNvPr>
          <p:cNvSpPr>
            <a:spLocks xmlns:a="http://schemas.openxmlformats.org/drawingml/2006/main" noGrp="1"/>
          </p:cNvSpPr>
          <p:nvPr/>
        </p:nvSpPr>
        <p:spPr>
          <a:xfrm xmlns:a="http://schemas.openxmlformats.org/drawingml/2006/main">
            <a:off x="9334500" y="17668875"/>
            <a:ext cx="433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9502F"/>
                </a:solidFill>
                <a:latin typeface="Arial"/>
                <a:ea typeface="Arial"/>
                <a:cs typeface="Arial"/>
              </a:defRPr>
            </a:pPr>
            <a:r>
              <a:rPr sz="1950" b="1">
                <a:solidFill>
                  <a:srgbClr val="C9502F"/>
                </a:solidFill>
                <a:latin typeface="Arial"/>
                <a:ea typeface="Arial"/>
                <a:cs typeface="Arial"/>
              </a:rPr>
              <a:t>check-table-availability</a:t>
            </a:r>
          </a:p>
        </p:txBody>
      </p:sp>
      <p:sp>
        <p:nvSpPr>
          <p:cNvPr id="110" name="">
            <a:extLst xmlns:a="http://schemas.openxmlformats.org/drawingml/2006/main">
              <a:ext uri="{FF2B5EF4-FFF2-40B4-BE49-F238E27FC236}">
                <a16:creationId xmlns:a16="http://schemas.microsoft.com/office/drawing/2014/main" id="{3E6A035E-F41F-44F0-A2AB-37C73CC949CC}"/>
              </a:ext>
            </a:extLst>
          </p:cNvPr>
          <p:cNvSpPr>
            <a:spLocks xmlns:a="http://schemas.openxmlformats.org/drawingml/2006/main" noGrp="1"/>
          </p:cNvSpPr>
          <p:nvPr/>
        </p:nvSpPr>
        <p:spPr>
          <a:xfrm xmlns:a="http://schemas.openxmlformats.org/drawingml/2006/main">
            <a:off x="13620750" y="1766887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34231D"/>
                </a:solidFill>
                <a:latin typeface="Arial"/>
                <a:ea typeface="Arial"/>
                <a:cs typeface="Arial"/>
              </a:defRPr>
            </a:pPr>
            <a:r>
              <a:rPr sz="1725" b="0">
                <a:solidFill>
                  <a:srgbClr val="34231D"/>
                </a:solidFill>
                <a:latin typeface="Arial"/>
                <a:ea typeface="Arial"/>
                <a:cs typeface="Arial"/>
              </a:rPr>
              <a:t>Capacity and two-hour overlaps</a:t>
            </a:r>
          </a:p>
        </p:txBody>
      </p:sp>
      <p:sp>
        <p:nvSpPr>
          <p:cNvPr id="111" name="">
            <a:extLst xmlns:a="http://schemas.openxmlformats.org/drawingml/2006/main">
              <a:ext uri="{FF2B5EF4-FFF2-40B4-BE49-F238E27FC236}">
                <a16:creationId xmlns:a16="http://schemas.microsoft.com/office/drawing/2014/main" id="{25CCB274-25ED-43D9-93E2-692AFD399BCD}"/>
              </a:ext>
            </a:extLst>
          </p:cNvPr>
          <p:cNvSpPr>
            <a:spLocks xmlns:a="http://schemas.openxmlformats.org/drawingml/2006/main" noGrp="1"/>
          </p:cNvSpPr>
          <p:nvPr/>
        </p:nvSpPr>
        <p:spPr>
          <a:xfrm xmlns:a="http://schemas.openxmlformats.org/drawingml/2006/main">
            <a:off x="571500" y="18230850"/>
            <a:ext cx="433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9502F"/>
                </a:solidFill>
                <a:latin typeface="Arial"/>
                <a:ea typeface="Arial"/>
                <a:cs typeface="Arial"/>
              </a:defRPr>
            </a:pPr>
            <a:r>
              <a:rPr sz="1950" b="1">
                <a:solidFill>
                  <a:srgbClr val="C9502F"/>
                </a:solidFill>
                <a:latin typeface="Arial"/>
                <a:ea typeface="Arial"/>
                <a:cs typeface="Arial"/>
              </a:rPr>
              <a:t>create-reservation-draft</a:t>
            </a:r>
          </a:p>
        </p:txBody>
      </p:sp>
      <p:sp>
        <p:nvSpPr>
          <p:cNvPr id="112" name="">
            <a:extLst xmlns:a="http://schemas.openxmlformats.org/drawingml/2006/main">
              <a:ext uri="{FF2B5EF4-FFF2-40B4-BE49-F238E27FC236}">
                <a16:creationId xmlns:a16="http://schemas.microsoft.com/office/drawing/2014/main" id="{C0A56B0C-5E0A-42BA-ADA0-6DFC97ED2FDC}"/>
              </a:ext>
            </a:extLst>
          </p:cNvPr>
          <p:cNvSpPr>
            <a:spLocks xmlns:a="http://schemas.openxmlformats.org/drawingml/2006/main" noGrp="1"/>
          </p:cNvSpPr>
          <p:nvPr/>
        </p:nvSpPr>
        <p:spPr>
          <a:xfrm xmlns:a="http://schemas.openxmlformats.org/drawingml/2006/main">
            <a:off x="4857750" y="18230850"/>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34231D"/>
                </a:solidFill>
                <a:latin typeface="Arial"/>
                <a:ea typeface="Arial"/>
                <a:cs typeface="Arial"/>
              </a:defRPr>
            </a:pPr>
            <a:r>
              <a:rPr sz="1725" b="0">
                <a:solidFill>
                  <a:srgbClr val="34231D"/>
                </a:solidFill>
                <a:latin typeface="Arial"/>
                <a:ea typeface="Arial"/>
                <a:cs typeface="Arial"/>
              </a:rPr>
              <a:t>Save unconfirmed booking details</a:t>
            </a:r>
          </a:p>
        </p:txBody>
      </p:sp>
      <p:sp>
        <p:nvSpPr>
          <p:cNvPr id="113" name="">
            <a:extLst xmlns:a="http://schemas.openxmlformats.org/drawingml/2006/main">
              <a:ext uri="{FF2B5EF4-FFF2-40B4-BE49-F238E27FC236}">
                <a16:creationId xmlns:a16="http://schemas.microsoft.com/office/drawing/2014/main" id="{432F0E3F-EDBD-4365-BC41-6515B1B3C2E0}"/>
              </a:ext>
            </a:extLst>
          </p:cNvPr>
          <p:cNvSpPr>
            <a:spLocks xmlns:a="http://schemas.openxmlformats.org/drawingml/2006/main" noGrp="1"/>
          </p:cNvSpPr>
          <p:nvPr/>
        </p:nvSpPr>
        <p:spPr>
          <a:xfrm xmlns:a="http://schemas.openxmlformats.org/drawingml/2006/main">
            <a:off x="9334500" y="18230850"/>
            <a:ext cx="4333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9502F"/>
                </a:solidFill>
                <a:latin typeface="Arial"/>
                <a:ea typeface="Arial"/>
                <a:cs typeface="Arial"/>
              </a:defRPr>
            </a:pPr>
            <a:r>
              <a:rPr sz="1950" b="1">
                <a:solidFill>
                  <a:srgbClr val="C9502F"/>
                </a:solidFill>
                <a:latin typeface="Arial"/>
                <a:ea typeface="Arial"/>
                <a:cs typeface="Arial"/>
              </a:rPr>
              <a:t>confirm-reservation</a:t>
            </a:r>
          </a:p>
        </p:txBody>
      </p:sp>
      <p:sp>
        <p:nvSpPr>
          <p:cNvPr id="114" name="">
            <a:extLst xmlns:a="http://schemas.openxmlformats.org/drawingml/2006/main">
              <a:ext uri="{FF2B5EF4-FFF2-40B4-BE49-F238E27FC236}">
                <a16:creationId xmlns:a16="http://schemas.microsoft.com/office/drawing/2014/main" id="{ADFCB4A0-BD15-4CDA-8D14-2B2ECACA0F75}"/>
              </a:ext>
            </a:extLst>
          </p:cNvPr>
          <p:cNvSpPr>
            <a:spLocks xmlns:a="http://schemas.openxmlformats.org/drawingml/2006/main" noGrp="1"/>
          </p:cNvSpPr>
          <p:nvPr/>
        </p:nvSpPr>
        <p:spPr>
          <a:xfrm xmlns:a="http://schemas.openxmlformats.org/drawingml/2006/main">
            <a:off x="13620750" y="18230850"/>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34231D"/>
                </a:solidFill>
                <a:latin typeface="Arial"/>
                <a:ea typeface="Arial"/>
                <a:cs typeface="Arial"/>
              </a:defRPr>
            </a:pPr>
            <a:r>
              <a:rPr sz="1725" b="0">
                <a:solidFill>
                  <a:srgbClr val="34231D"/>
                </a:solidFill>
                <a:latin typeface="Arial"/>
                <a:ea typeface="Arial"/>
                <a:cs typeface="Arial"/>
              </a:rPr>
              <a:t>Recheck, assign table and confirm</a:t>
            </a:r>
          </a:p>
        </p:txBody>
      </p:sp>
      <p:sp>
        <p:nvSpPr>
          <p:cNvPr id="115" name="">
            <a:extLst xmlns:a="http://schemas.openxmlformats.org/drawingml/2006/main">
              <a:ext uri="{FF2B5EF4-FFF2-40B4-BE49-F238E27FC236}">
                <a16:creationId xmlns:a16="http://schemas.microsoft.com/office/drawing/2014/main" id="{7B30041F-25F5-4365-A0BC-8D3270EDF1B6}"/>
              </a:ext>
            </a:extLst>
          </p:cNvPr>
          <p:cNvSpPr>
            <a:spLocks xmlns:a="http://schemas.openxmlformats.org/drawingml/2006/main" noGrp="1"/>
          </p:cNvSpPr>
          <p:nvPr/>
        </p:nvSpPr>
        <p:spPr>
          <a:xfrm xmlns:a="http://schemas.openxmlformats.org/drawingml/2006/main">
            <a:off x="571500" y="18954750"/>
            <a:ext cx="17097375" cy="790575"/>
          </a:xfrm>
          <a:prstGeom xmlns:a="http://schemas.openxmlformats.org/drawingml/2006/main" prst="rect">
            <a:avLst/>
          </a:prstGeom>
          <a:solidFill xmlns:a="http://schemas.openxmlformats.org/drawingml/2006/main">
            <a:srgbClr val="F6E7D4"/>
          </a:solidFill>
          <a:ln xmlns:a="http://schemas.openxmlformats.org/drawingml/2006/main" w="19050">
            <a:solidFill>
              <a:srgbClr val="EAD7C0"/>
            </a:solidFill>
            <a:prstDash val="solid"/>
          </a:ln>
        </p:spPr>
      </p:sp>
      <p:pic>
        <p:nvPicPr>
          <p:cNvPr id="309" name=""/>
          <p:cNvPicPr>
            <a:picLocks xmlns:a="http://schemas.openxmlformats.org/drawingml/2006/main" noChangeAspect="1"/>
          </p:cNvPicPr>
          <p:nvPr/>
        </p:nvPicPr>
        <p:blipFill>
          <a:blip xmlns:r="http://schemas.openxmlformats.org/officeDocument/2006/relationships" xmlns:a="http://schemas.openxmlformats.org/drawingml/2006/main" r:embed="R7809307854b2434a"/>
          <a:stretch xmlns:a="http://schemas.openxmlformats.org/drawingml/2006/main"/>
        </p:blipFill>
        <p:spPr>
          <a:xfrm xmlns:a="http://schemas.openxmlformats.org/drawingml/2006/main">
            <a:off x="714375" y="19088100"/>
            <a:ext cx="457200" cy="457200"/>
          </a:xfrm>
          <a:prstGeom xmlns:a="http://schemas.openxmlformats.org/drawingml/2006/main" prst="rect">
            <a:avLst/>
          </a:prstGeom>
        </p:spPr>
      </p:pic>
      <p:sp>
        <p:nvSpPr>
          <p:cNvPr id="117" name="">
            <a:extLst xmlns:a="http://schemas.openxmlformats.org/drawingml/2006/main">
              <a:ext uri="{FF2B5EF4-FFF2-40B4-BE49-F238E27FC236}">
                <a16:creationId xmlns:a16="http://schemas.microsoft.com/office/drawing/2014/main" id="{5D29B2EE-D468-461C-895E-B04FA309434E}"/>
              </a:ext>
            </a:extLst>
          </p:cNvPr>
          <p:cNvSpPr>
            <a:spLocks xmlns:a="http://schemas.openxmlformats.org/drawingml/2006/main" noGrp="1"/>
          </p:cNvSpPr>
          <p:nvPr/>
        </p:nvSpPr>
        <p:spPr>
          <a:xfrm xmlns:a="http://schemas.openxmlformats.org/drawingml/2006/main">
            <a:off x="1381125" y="19040475"/>
            <a:ext cx="16002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C9502F"/>
                </a:solidFill>
                <a:latin typeface="Arial"/>
                <a:ea typeface="Arial"/>
                <a:cs typeface="Arial"/>
              </a:defRPr>
            </a:pPr>
            <a:r>
              <a:rPr sz="2175" b="1">
                <a:solidFill>
                  <a:srgbClr val="C9502F"/>
                </a:solidFill>
                <a:latin typeface="Arial"/>
                <a:ea typeface="Arial"/>
                <a:cs typeface="Arial"/>
              </a:rPr>
              <a:t>Amazon Bedrock Guardrails (optional chat policy)</a:t>
            </a:r>
          </a:p>
        </p:txBody>
      </p:sp>
      <p:sp>
        <p:nvSpPr>
          <p:cNvPr id="118" name="">
            <a:extLst xmlns:a="http://schemas.openxmlformats.org/drawingml/2006/main">
              <a:ext uri="{FF2B5EF4-FFF2-40B4-BE49-F238E27FC236}">
                <a16:creationId xmlns:a16="http://schemas.microsoft.com/office/drawing/2014/main" id="{FC9227B9-F046-456C-B816-A264518F7A7A}"/>
              </a:ext>
            </a:extLst>
          </p:cNvPr>
          <p:cNvSpPr>
            <a:spLocks xmlns:a="http://schemas.openxmlformats.org/drawingml/2006/main" noGrp="1"/>
          </p:cNvSpPr>
          <p:nvPr/>
        </p:nvSpPr>
        <p:spPr>
          <a:xfrm xmlns:a="http://schemas.openxmlformats.org/drawingml/2006/main">
            <a:off x="1381125" y="19431000"/>
            <a:ext cx="15906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34231D"/>
                </a:solidFill>
                <a:latin typeface="Arial"/>
                <a:ea typeface="Arial"/>
                <a:cs typeface="Arial"/>
              </a:defRPr>
            </a:pPr>
            <a:r>
              <a:rPr sz="1800" b="0">
                <a:solidFill>
                  <a:srgbClr val="34231D"/>
                </a:solidFill>
                <a:latin typeface="Arial"/>
                <a:ea typeface="Arial"/>
                <a:cs typeface="Arial"/>
              </a:rPr>
              <a:t>Prompt-injection / jailbreak filtering; harmful-content and blocked-word policies; safe blocked response.</a:t>
            </a:r>
          </a:p>
        </p:txBody>
      </p:sp>
      <p:sp>
        <p:nvSpPr>
          <p:cNvPr id="119" name="">
            <a:extLst xmlns:a="http://schemas.openxmlformats.org/drawingml/2006/main">
              <a:ext uri="{FF2B5EF4-FFF2-40B4-BE49-F238E27FC236}">
                <a16:creationId xmlns:a16="http://schemas.microsoft.com/office/drawing/2014/main" id="{7F922089-94D3-428E-B606-1A841CDAE2CE}"/>
              </a:ext>
            </a:extLst>
          </p:cNvPr>
          <p:cNvSpPr>
            <a:spLocks xmlns:a="http://schemas.openxmlformats.org/drawingml/2006/main" noGrp="1"/>
          </p:cNvSpPr>
          <p:nvPr/>
        </p:nvSpPr>
        <p:spPr>
          <a:xfrm xmlns:a="http://schemas.openxmlformats.org/drawingml/2006/main">
            <a:off x="19145250" y="5953125"/>
            <a:ext cx="16859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C9502F"/>
                </a:solidFill>
                <a:latin typeface="Arial"/>
                <a:ea typeface="Arial"/>
                <a:cs typeface="Arial"/>
              </a:defRPr>
            </a:pPr>
            <a:r>
              <a:rPr sz="2925" b="1">
                <a:solidFill>
                  <a:srgbClr val="C9502F"/>
                </a:solidFill>
                <a:latin typeface="Arial"/>
                <a:ea typeface="Arial"/>
                <a:cs typeface="Arial"/>
              </a:rPr>
              <a:t>D. Complete voice conversation</a:t>
            </a:r>
          </a:p>
        </p:txBody>
      </p:sp>
      <p:sp>
        <p:nvSpPr>
          <p:cNvPr id="120" name="">
            <a:extLst xmlns:a="http://schemas.openxmlformats.org/drawingml/2006/main">
              <a:ext uri="{FF2B5EF4-FFF2-40B4-BE49-F238E27FC236}">
                <a16:creationId xmlns:a16="http://schemas.microsoft.com/office/drawing/2014/main" id="{6AA6F477-6BF2-424A-9143-C5C892625250}"/>
              </a:ext>
            </a:extLst>
          </p:cNvPr>
          <p:cNvSpPr>
            <a:spLocks xmlns:a="http://schemas.openxmlformats.org/drawingml/2006/main" noGrp="1"/>
          </p:cNvSpPr>
          <p:nvPr/>
        </p:nvSpPr>
        <p:spPr>
          <a:xfrm xmlns:a="http://schemas.openxmlformats.org/drawingml/2006/main">
            <a:off x="19145250" y="6467475"/>
            <a:ext cx="1685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88766B"/>
                </a:solidFill>
                <a:latin typeface="Arial"/>
                <a:ea typeface="Arial"/>
                <a:cs typeface="Arial"/>
              </a:defRPr>
            </a:pPr>
            <a:r>
              <a:rPr sz="2025" b="0">
                <a:solidFill>
                  <a:srgbClr val="88766B"/>
                </a:solidFill>
                <a:latin typeface="Arial"/>
                <a:ea typeface="Arial"/>
                <a:cs typeface="Arial"/>
              </a:rPr>
              <a:t>Chime setup: FastAPI creates meeting + attendee; browser joins Chime directly</a:t>
            </a:r>
          </a:p>
        </p:txBody>
      </p:sp>
      <p:sp>
        <p:nvSpPr>
          <p:cNvPr id="121" name="">
            <a:extLst xmlns:a="http://schemas.openxmlformats.org/drawingml/2006/main">
              <a:ext uri="{FF2B5EF4-FFF2-40B4-BE49-F238E27FC236}">
                <a16:creationId xmlns:a16="http://schemas.microsoft.com/office/drawing/2014/main" id="{DB37C9C2-5DC9-4F4A-85E6-242CDBDBBCCC}"/>
              </a:ext>
            </a:extLst>
          </p:cNvPr>
          <p:cNvSpPr>
            <a:spLocks xmlns:a="http://schemas.openxmlformats.org/drawingml/2006/main" noGrp="1"/>
          </p:cNvSpPr>
          <p:nvPr/>
        </p:nvSpPr>
        <p:spPr>
          <a:xfrm xmlns:a="http://schemas.openxmlformats.org/drawingml/2006/main">
            <a:off x="19145250" y="6953250"/>
            <a:ext cx="4000500"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315" name=""/>
          <p:cNvPicPr>
            <a:picLocks xmlns:a="http://schemas.openxmlformats.org/drawingml/2006/main" noChangeAspect="1"/>
          </p:cNvPicPr>
          <p:nvPr/>
        </p:nvPicPr>
        <p:blipFill>
          <a:blip xmlns:r="http://schemas.openxmlformats.org/officeDocument/2006/relationships" xmlns:a="http://schemas.openxmlformats.org/drawingml/2006/main" r:embed="R4593060bd6e24432"/>
          <a:stretch xmlns:a="http://schemas.openxmlformats.org/drawingml/2006/main"/>
        </p:blipFill>
        <p:spPr>
          <a:xfrm xmlns:a="http://schemas.openxmlformats.org/drawingml/2006/main">
            <a:off x="19316700" y="7105650"/>
            <a:ext cx="552450" cy="552450"/>
          </a:xfrm>
          <a:prstGeom xmlns:a="http://schemas.openxmlformats.org/drawingml/2006/main" prst="rect">
            <a:avLst/>
          </a:prstGeom>
        </p:spPr>
      </p:pic>
      <p:sp>
        <p:nvSpPr>
          <p:cNvPr id="123" name="">
            <a:extLst xmlns:a="http://schemas.openxmlformats.org/drawingml/2006/main">
              <a:ext uri="{FF2B5EF4-FFF2-40B4-BE49-F238E27FC236}">
                <a16:creationId xmlns:a16="http://schemas.microsoft.com/office/drawing/2014/main" id="{2C44F8AE-B927-42D4-B6A7-D56678297E34}"/>
              </a:ext>
            </a:extLst>
          </p:cNvPr>
          <p:cNvSpPr>
            <a:spLocks xmlns:a="http://schemas.openxmlformats.org/drawingml/2006/main" noGrp="1"/>
          </p:cNvSpPr>
          <p:nvPr/>
        </p:nvSpPr>
        <p:spPr>
          <a:xfrm xmlns:a="http://schemas.openxmlformats.org/drawingml/2006/main">
            <a:off x="19335750" y="7734300"/>
            <a:ext cx="361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34231D"/>
                </a:solidFill>
                <a:latin typeface="Arial"/>
                <a:ea typeface="Arial"/>
                <a:cs typeface="Arial"/>
              </a:defRPr>
            </a:pPr>
            <a:r>
              <a:rPr sz="2325" b="1">
                <a:solidFill>
                  <a:srgbClr val="34231D"/>
                </a:solidFill>
                <a:latin typeface="Arial"/>
                <a:ea typeface="Arial"/>
                <a:cs typeface="Arial"/>
              </a:rPr>
              <a:t>1. Customer microphone</a:t>
            </a:r>
          </a:p>
        </p:txBody>
      </p:sp>
      <p:sp>
        <p:nvSpPr>
          <p:cNvPr id="124" name="">
            <a:extLst xmlns:a="http://schemas.openxmlformats.org/drawingml/2006/main">
              <a:ext uri="{FF2B5EF4-FFF2-40B4-BE49-F238E27FC236}">
                <a16:creationId xmlns:a16="http://schemas.microsoft.com/office/drawing/2014/main" id="{1A258ADF-E97E-4254-A8CA-A81FB1C5A9D8}"/>
              </a:ext>
            </a:extLst>
          </p:cNvPr>
          <p:cNvSpPr>
            <a:spLocks xmlns:a="http://schemas.openxmlformats.org/drawingml/2006/main" noGrp="1"/>
          </p:cNvSpPr>
          <p:nvPr/>
        </p:nvSpPr>
        <p:spPr>
          <a:xfrm xmlns:a="http://schemas.openxmlformats.org/drawingml/2006/main">
            <a:off x="19335750" y="8362950"/>
            <a:ext cx="3619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PCM capture; completed turn after silence</a:t>
            </a:r>
          </a:p>
        </p:txBody>
      </p:sp>
      <p:sp>
        <p:nvSpPr>
          <p:cNvPr id="125" name="">
            <a:extLst xmlns:a="http://schemas.openxmlformats.org/drawingml/2006/main">
              <a:ext uri="{FF2B5EF4-FFF2-40B4-BE49-F238E27FC236}">
                <a16:creationId xmlns:a16="http://schemas.microsoft.com/office/drawing/2014/main" id="{32E66726-A6EB-4895-8EE0-2002B577309E}"/>
              </a:ext>
            </a:extLst>
          </p:cNvPr>
          <p:cNvSpPr>
            <a:spLocks xmlns:a="http://schemas.openxmlformats.org/drawingml/2006/main" noGrp="1"/>
          </p:cNvSpPr>
          <p:nvPr/>
        </p:nvSpPr>
        <p:spPr>
          <a:xfrm xmlns:a="http://schemas.openxmlformats.org/drawingml/2006/main">
            <a:off x="23431500" y="6953250"/>
            <a:ext cx="4000500"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319" name=""/>
          <p:cNvPicPr>
            <a:picLocks xmlns:a="http://schemas.openxmlformats.org/drawingml/2006/main" noChangeAspect="1"/>
          </p:cNvPicPr>
          <p:nvPr/>
        </p:nvPicPr>
        <p:blipFill>
          <a:blip xmlns:r="http://schemas.openxmlformats.org/officeDocument/2006/relationships" xmlns:a="http://schemas.openxmlformats.org/drawingml/2006/main" r:embed="R740d632b7bae4d00"/>
          <a:stretch xmlns:a="http://schemas.openxmlformats.org/drawingml/2006/main"/>
        </p:blipFill>
        <p:spPr>
          <a:xfrm xmlns:a="http://schemas.openxmlformats.org/drawingml/2006/main">
            <a:off x="23602950" y="7105650"/>
            <a:ext cx="552450" cy="552450"/>
          </a:xfrm>
          <a:prstGeom xmlns:a="http://schemas.openxmlformats.org/drawingml/2006/main" prst="rect">
            <a:avLst/>
          </a:prstGeom>
        </p:spPr>
      </p:pic>
      <p:sp>
        <p:nvSpPr>
          <p:cNvPr id="127" name="">
            <a:extLst xmlns:a="http://schemas.openxmlformats.org/drawingml/2006/main">
              <a:ext uri="{FF2B5EF4-FFF2-40B4-BE49-F238E27FC236}">
                <a16:creationId xmlns:a16="http://schemas.microsoft.com/office/drawing/2014/main" id="{8DEA578E-49AA-4BEF-ADE1-B2F50D1E46DC}"/>
              </a:ext>
            </a:extLst>
          </p:cNvPr>
          <p:cNvSpPr>
            <a:spLocks xmlns:a="http://schemas.openxmlformats.org/drawingml/2006/main" noGrp="1"/>
          </p:cNvSpPr>
          <p:nvPr/>
        </p:nvSpPr>
        <p:spPr>
          <a:xfrm xmlns:a="http://schemas.openxmlformats.org/drawingml/2006/main">
            <a:off x="23622000" y="7734300"/>
            <a:ext cx="361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34231D"/>
                </a:solidFill>
                <a:latin typeface="Arial"/>
                <a:ea typeface="Arial"/>
                <a:cs typeface="Arial"/>
              </a:defRPr>
            </a:pPr>
            <a:r>
              <a:rPr sz="2325" b="1">
                <a:solidFill>
                  <a:srgbClr val="34231D"/>
                </a:solidFill>
                <a:latin typeface="Arial"/>
                <a:ea typeface="Arial"/>
                <a:cs typeface="Arial"/>
              </a:rPr>
              <a:t>2. Upload + Transcribe</a:t>
            </a:r>
          </a:p>
        </p:txBody>
      </p:sp>
      <p:sp>
        <p:nvSpPr>
          <p:cNvPr id="128" name="">
            <a:extLst xmlns:a="http://schemas.openxmlformats.org/drawingml/2006/main">
              <a:ext uri="{FF2B5EF4-FFF2-40B4-BE49-F238E27FC236}">
                <a16:creationId xmlns:a16="http://schemas.microsoft.com/office/drawing/2014/main" id="{3300169E-0664-4C89-A1A1-4BB32ADD6ACF}"/>
              </a:ext>
            </a:extLst>
          </p:cNvPr>
          <p:cNvSpPr>
            <a:spLocks xmlns:a="http://schemas.openxmlformats.org/drawingml/2006/main" noGrp="1"/>
          </p:cNvSpPr>
          <p:nvPr/>
        </p:nvSpPr>
        <p:spPr>
          <a:xfrm xmlns:a="http://schemas.openxmlformats.org/drawingml/2006/main">
            <a:off x="23622000" y="8362950"/>
            <a:ext cx="3619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Next.js → FastAPI → Transcribe Streaming</a:t>
            </a:r>
          </a:p>
        </p:txBody>
      </p:sp>
      <p:sp>
        <p:nvSpPr>
          <p:cNvPr id="129" name="">
            <a:extLst xmlns:a="http://schemas.openxmlformats.org/drawingml/2006/main">
              <a:ext uri="{FF2B5EF4-FFF2-40B4-BE49-F238E27FC236}">
                <a16:creationId xmlns:a16="http://schemas.microsoft.com/office/drawing/2014/main" id="{7CC233DA-EE89-4689-8912-02E5D6E9CD49}"/>
              </a:ext>
            </a:extLst>
          </p:cNvPr>
          <p:cNvSpPr>
            <a:spLocks xmlns:a="http://schemas.openxmlformats.org/drawingml/2006/main" noGrp="1"/>
          </p:cNvSpPr>
          <p:nvPr/>
        </p:nvSpPr>
        <p:spPr>
          <a:xfrm xmlns:a="http://schemas.openxmlformats.org/drawingml/2006/main">
            <a:off x="27717750" y="6953250"/>
            <a:ext cx="4000500"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30" name="">
            <a:extLst xmlns:a="http://schemas.openxmlformats.org/drawingml/2006/main">
              <a:ext uri="{FF2B5EF4-FFF2-40B4-BE49-F238E27FC236}">
                <a16:creationId xmlns:a16="http://schemas.microsoft.com/office/drawing/2014/main" id="{B8CF3E81-F3AD-408E-8831-2A495F9B94A7}"/>
              </a:ext>
            </a:extLst>
          </p:cNvPr>
          <p:cNvSpPr>
            <a:spLocks xmlns:a="http://schemas.openxmlformats.org/drawingml/2006/main" noGrp="1"/>
          </p:cNvSpPr>
          <p:nvPr/>
        </p:nvSpPr>
        <p:spPr>
          <a:xfrm xmlns:a="http://schemas.openxmlformats.org/drawingml/2006/main">
            <a:off x="27889200" y="7105650"/>
            <a:ext cx="552450" cy="55245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324" name=""/>
          <p:cNvPicPr>
            <a:picLocks xmlns:a="http://schemas.openxmlformats.org/drawingml/2006/main" noChangeAspect="1"/>
          </p:cNvPicPr>
          <p:nvPr/>
        </p:nvPicPr>
        <p:blipFill>
          <a:blip xmlns:r="http://schemas.openxmlformats.org/officeDocument/2006/relationships" xmlns:a="http://schemas.openxmlformats.org/drawingml/2006/main" r:embed="R313bd4847c7c4452"/>
          <a:stretch xmlns:a="http://schemas.openxmlformats.org/drawingml/2006/main"/>
        </p:blipFill>
        <p:spPr>
          <a:xfrm xmlns:a="http://schemas.openxmlformats.org/drawingml/2006/main">
            <a:off x="27889200" y="7105650"/>
            <a:ext cx="552450" cy="552450"/>
          </a:xfrm>
          <a:prstGeom xmlns:a="http://schemas.openxmlformats.org/drawingml/2006/main" prst="rect">
            <a:avLst/>
          </a:prstGeom>
        </p:spPr>
      </p:pic>
      <p:sp>
        <p:nvSpPr>
          <p:cNvPr id="132" name="">
            <a:extLst xmlns:a="http://schemas.openxmlformats.org/drawingml/2006/main">
              <a:ext uri="{FF2B5EF4-FFF2-40B4-BE49-F238E27FC236}">
                <a16:creationId xmlns:a16="http://schemas.microsoft.com/office/drawing/2014/main" id="{366978BA-715B-445E-B040-A321E947FAFF}"/>
              </a:ext>
            </a:extLst>
          </p:cNvPr>
          <p:cNvSpPr>
            <a:spLocks xmlns:a="http://schemas.openxmlformats.org/drawingml/2006/main" noGrp="1"/>
          </p:cNvSpPr>
          <p:nvPr/>
        </p:nvSpPr>
        <p:spPr>
          <a:xfrm xmlns:a="http://schemas.openxmlformats.org/drawingml/2006/main">
            <a:off x="27908250" y="7734300"/>
            <a:ext cx="361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34231D"/>
                </a:solidFill>
                <a:latin typeface="Arial"/>
                <a:ea typeface="Arial"/>
                <a:cs typeface="Arial"/>
              </a:defRPr>
            </a:pPr>
            <a:r>
              <a:rPr sz="2325" b="1">
                <a:solidFill>
                  <a:srgbClr val="34231D"/>
                </a:solidFill>
                <a:latin typeface="Arial"/>
                <a:ea typeface="Arial"/>
                <a:cs typeface="Arial"/>
              </a:rPr>
              <a:t>3. Transcript to Chat Service</a:t>
            </a:r>
          </a:p>
        </p:txBody>
      </p:sp>
      <p:sp>
        <p:nvSpPr>
          <p:cNvPr id="133" name="">
            <a:extLst xmlns:a="http://schemas.openxmlformats.org/drawingml/2006/main">
              <a:ext uri="{FF2B5EF4-FFF2-40B4-BE49-F238E27FC236}">
                <a16:creationId xmlns:a16="http://schemas.microsoft.com/office/drawing/2014/main" id="{7F00BFF7-10BC-4090-9176-5BE787AE2EB1}"/>
              </a:ext>
            </a:extLst>
          </p:cNvPr>
          <p:cNvSpPr>
            <a:spLocks xmlns:a="http://schemas.openxmlformats.org/drawingml/2006/main" noGrp="1"/>
          </p:cNvSpPr>
          <p:nvPr/>
        </p:nvSpPr>
        <p:spPr>
          <a:xfrm xmlns:a="http://schemas.openxmlformats.org/drawingml/2006/main">
            <a:off x="27908250" y="8362950"/>
            <a:ext cx="3619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Transcript returns to browser, then posts to FastAPI</a:t>
            </a:r>
          </a:p>
        </p:txBody>
      </p:sp>
      <p:sp>
        <p:nvSpPr>
          <p:cNvPr id="134" name="">
            <a:extLst xmlns:a="http://schemas.openxmlformats.org/drawingml/2006/main">
              <a:ext uri="{FF2B5EF4-FFF2-40B4-BE49-F238E27FC236}">
                <a16:creationId xmlns:a16="http://schemas.microsoft.com/office/drawing/2014/main" id="{A04DD4C1-5932-4D66-B1B3-88304690889C}"/>
              </a:ext>
            </a:extLst>
          </p:cNvPr>
          <p:cNvSpPr>
            <a:spLocks xmlns:a="http://schemas.openxmlformats.org/drawingml/2006/main" noGrp="1"/>
          </p:cNvSpPr>
          <p:nvPr/>
        </p:nvSpPr>
        <p:spPr>
          <a:xfrm xmlns:a="http://schemas.openxmlformats.org/drawingml/2006/main">
            <a:off x="32004000" y="6953250"/>
            <a:ext cx="4000500"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328" name=""/>
          <p:cNvPicPr>
            <a:picLocks xmlns:a="http://schemas.openxmlformats.org/drawingml/2006/main" noChangeAspect="1"/>
          </p:cNvPicPr>
          <p:nvPr/>
        </p:nvPicPr>
        <p:blipFill>
          <a:blip xmlns:r="http://schemas.openxmlformats.org/officeDocument/2006/relationships" xmlns:a="http://schemas.openxmlformats.org/drawingml/2006/main" r:embed="Ra5c9c60d8bfc4884"/>
          <a:stretch xmlns:a="http://schemas.openxmlformats.org/drawingml/2006/main"/>
        </p:blipFill>
        <p:spPr>
          <a:xfrm xmlns:a="http://schemas.openxmlformats.org/drawingml/2006/main">
            <a:off x="32175450" y="7105650"/>
            <a:ext cx="552450" cy="552450"/>
          </a:xfrm>
          <a:prstGeom xmlns:a="http://schemas.openxmlformats.org/drawingml/2006/main" prst="rect">
            <a:avLst/>
          </a:prstGeom>
        </p:spPr>
      </p:pic>
      <p:sp>
        <p:nvSpPr>
          <p:cNvPr id="136" name="">
            <a:extLst xmlns:a="http://schemas.openxmlformats.org/drawingml/2006/main">
              <a:ext uri="{FF2B5EF4-FFF2-40B4-BE49-F238E27FC236}">
                <a16:creationId xmlns:a16="http://schemas.microsoft.com/office/drawing/2014/main" id="{4D76371D-2575-4706-B346-9B81DF933809}"/>
              </a:ext>
            </a:extLst>
          </p:cNvPr>
          <p:cNvSpPr>
            <a:spLocks xmlns:a="http://schemas.openxmlformats.org/drawingml/2006/main" noGrp="1"/>
          </p:cNvSpPr>
          <p:nvPr/>
        </p:nvSpPr>
        <p:spPr>
          <a:xfrm xmlns:a="http://schemas.openxmlformats.org/drawingml/2006/main">
            <a:off x="32194500" y="7734300"/>
            <a:ext cx="361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34231D"/>
                </a:solidFill>
                <a:latin typeface="Arial"/>
                <a:ea typeface="Arial"/>
                <a:cs typeface="Arial"/>
              </a:defRPr>
            </a:pPr>
            <a:r>
              <a:rPr sz="2325" b="1">
                <a:solidFill>
                  <a:srgbClr val="34231D"/>
                </a:solidFill>
                <a:latin typeface="Arial"/>
                <a:ea typeface="Arial"/>
                <a:cs typeface="Arial"/>
              </a:rPr>
              <a:t>4. Bedrock + backend tools</a:t>
            </a:r>
          </a:p>
        </p:txBody>
      </p:sp>
      <p:sp>
        <p:nvSpPr>
          <p:cNvPr id="137" name="">
            <a:extLst xmlns:a="http://schemas.openxmlformats.org/drawingml/2006/main">
              <a:ext uri="{FF2B5EF4-FFF2-40B4-BE49-F238E27FC236}">
                <a16:creationId xmlns:a16="http://schemas.microsoft.com/office/drawing/2014/main" id="{11472608-3CC8-42AB-8248-C5E9DD3EF003}"/>
              </a:ext>
            </a:extLst>
          </p:cNvPr>
          <p:cNvSpPr>
            <a:spLocks xmlns:a="http://schemas.openxmlformats.org/drawingml/2006/main" noGrp="1"/>
          </p:cNvSpPr>
          <p:nvPr/>
        </p:nvSpPr>
        <p:spPr>
          <a:xfrm xmlns:a="http://schemas.openxmlformats.org/drawingml/2006/main">
            <a:off x="32194500" y="8362950"/>
            <a:ext cx="3619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Conversation history, tool selection and execution</a:t>
            </a:r>
          </a:p>
        </p:txBody>
      </p:sp>
      <p:cxnSp>
        <p:nvCxnSpPr>
          <p:cNvPr id="331" name=""/>
          <p:cNvCxnSpPr>
            <a:stCxn xmlns:a="http://schemas.openxmlformats.org/drawingml/2006/main" id="121" idx="3"/>
            <a:endCxn xmlns:a="http://schemas.openxmlformats.org/drawingml/2006/main" id="125" idx="1"/>
          </p:cNvCxnSpPr>
          <p:nvPr/>
        </p:nvCxnSpPr>
        <p:spPr>
          <a:xfrm xmlns:a="http://schemas.openxmlformats.org/drawingml/2006/main">
            <a:off x="23145750" y="7977188"/>
            <a:ext cx="28575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332" name=""/>
          <p:cNvCxnSpPr>
            <a:stCxn xmlns:a="http://schemas.openxmlformats.org/drawingml/2006/main" id="125" idx="3"/>
            <a:endCxn xmlns:a="http://schemas.openxmlformats.org/drawingml/2006/main" id="129" idx="1"/>
          </p:cNvCxnSpPr>
          <p:nvPr/>
        </p:nvCxnSpPr>
        <p:spPr>
          <a:xfrm xmlns:a="http://schemas.openxmlformats.org/drawingml/2006/main">
            <a:off x="27432000" y="7977188"/>
            <a:ext cx="28575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333" name=""/>
          <p:cNvCxnSpPr>
            <a:stCxn xmlns:a="http://schemas.openxmlformats.org/drawingml/2006/main" id="129" idx="3"/>
            <a:endCxn xmlns:a="http://schemas.openxmlformats.org/drawingml/2006/main" id="134" idx="1"/>
          </p:cNvCxnSpPr>
          <p:nvPr/>
        </p:nvCxnSpPr>
        <p:spPr>
          <a:xfrm xmlns:a="http://schemas.openxmlformats.org/drawingml/2006/main">
            <a:off x="31718250" y="7977188"/>
            <a:ext cx="28575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sp>
        <p:nvSpPr>
          <p:cNvPr id="141" name="">
            <a:extLst xmlns:a="http://schemas.openxmlformats.org/drawingml/2006/main">
              <a:ext uri="{FF2B5EF4-FFF2-40B4-BE49-F238E27FC236}">
                <a16:creationId xmlns:a16="http://schemas.microsoft.com/office/drawing/2014/main" id="{6252889D-8C52-4CE7-B302-7495731F9721}"/>
              </a:ext>
            </a:extLst>
          </p:cNvPr>
          <p:cNvSpPr>
            <a:spLocks xmlns:a="http://schemas.openxmlformats.org/drawingml/2006/main" noGrp="1"/>
          </p:cNvSpPr>
          <p:nvPr/>
        </p:nvSpPr>
        <p:spPr>
          <a:xfrm xmlns:a="http://schemas.openxmlformats.org/drawingml/2006/main">
            <a:off x="32004000" y="9525000"/>
            <a:ext cx="4000500"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42" name="">
            <a:extLst xmlns:a="http://schemas.openxmlformats.org/drawingml/2006/main">
              <a:ext uri="{FF2B5EF4-FFF2-40B4-BE49-F238E27FC236}">
                <a16:creationId xmlns:a16="http://schemas.microsoft.com/office/drawing/2014/main" id="{CC5DE851-462E-4039-8014-B73346638EE7}"/>
              </a:ext>
            </a:extLst>
          </p:cNvPr>
          <p:cNvSpPr>
            <a:spLocks xmlns:a="http://schemas.openxmlformats.org/drawingml/2006/main" noGrp="1"/>
          </p:cNvSpPr>
          <p:nvPr/>
        </p:nvSpPr>
        <p:spPr>
          <a:xfrm xmlns:a="http://schemas.openxmlformats.org/drawingml/2006/main">
            <a:off x="32175450" y="9677400"/>
            <a:ext cx="552450" cy="55245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336" name=""/>
          <p:cNvPicPr>
            <a:picLocks xmlns:a="http://schemas.openxmlformats.org/drawingml/2006/main" noChangeAspect="1"/>
          </p:cNvPicPr>
          <p:nvPr/>
        </p:nvPicPr>
        <p:blipFill>
          <a:blip xmlns:r="http://schemas.openxmlformats.org/officeDocument/2006/relationships" xmlns:a="http://schemas.openxmlformats.org/drawingml/2006/main" r:embed="Rcc9c31a915384518"/>
          <a:stretch xmlns:a="http://schemas.openxmlformats.org/drawingml/2006/main"/>
        </p:blipFill>
        <p:spPr>
          <a:xfrm xmlns:a="http://schemas.openxmlformats.org/drawingml/2006/main">
            <a:off x="32175450" y="9677400"/>
            <a:ext cx="552450" cy="552450"/>
          </a:xfrm>
          <a:prstGeom xmlns:a="http://schemas.openxmlformats.org/drawingml/2006/main" prst="rect">
            <a:avLst/>
          </a:prstGeom>
        </p:spPr>
      </p:pic>
      <p:sp>
        <p:nvSpPr>
          <p:cNvPr id="144" name="">
            <a:extLst xmlns:a="http://schemas.openxmlformats.org/drawingml/2006/main">
              <a:ext uri="{FF2B5EF4-FFF2-40B4-BE49-F238E27FC236}">
                <a16:creationId xmlns:a16="http://schemas.microsoft.com/office/drawing/2014/main" id="{0DBC5CCE-F6A9-4229-8405-BBC1775ABD24}"/>
              </a:ext>
            </a:extLst>
          </p:cNvPr>
          <p:cNvSpPr>
            <a:spLocks xmlns:a="http://schemas.openxmlformats.org/drawingml/2006/main" noGrp="1"/>
          </p:cNvSpPr>
          <p:nvPr/>
        </p:nvSpPr>
        <p:spPr>
          <a:xfrm xmlns:a="http://schemas.openxmlformats.org/drawingml/2006/main">
            <a:off x="32194500" y="10306050"/>
            <a:ext cx="361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34231D"/>
                </a:solidFill>
                <a:latin typeface="Arial"/>
                <a:ea typeface="Arial"/>
                <a:cs typeface="Arial"/>
              </a:defRPr>
            </a:pPr>
            <a:r>
              <a:rPr sz="2325" b="1">
                <a:solidFill>
                  <a:srgbClr val="34231D"/>
                </a:solidFill>
                <a:latin typeface="Arial"/>
                <a:ea typeface="Arial"/>
                <a:cs typeface="Arial"/>
              </a:rPr>
              <a:t>5. Return cleaned answer</a:t>
            </a:r>
          </a:p>
        </p:txBody>
      </p:sp>
      <p:sp>
        <p:nvSpPr>
          <p:cNvPr id="145" name="">
            <a:extLst xmlns:a="http://schemas.openxmlformats.org/drawingml/2006/main">
              <a:ext uri="{FF2B5EF4-FFF2-40B4-BE49-F238E27FC236}">
                <a16:creationId xmlns:a16="http://schemas.microsoft.com/office/drawing/2014/main" id="{CCD17E73-4E92-4F6D-8A92-7CBB5A1A8093}"/>
              </a:ext>
            </a:extLst>
          </p:cNvPr>
          <p:cNvSpPr>
            <a:spLocks xmlns:a="http://schemas.openxmlformats.org/drawingml/2006/main" noGrp="1"/>
          </p:cNvSpPr>
          <p:nvPr/>
        </p:nvSpPr>
        <p:spPr>
          <a:xfrm xmlns:a="http://schemas.openxmlformats.org/drawingml/2006/main">
            <a:off x="32194500" y="10934700"/>
            <a:ext cx="3619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Plain text without formatting or internal IDs</a:t>
            </a:r>
          </a:p>
        </p:txBody>
      </p:sp>
      <p:sp>
        <p:nvSpPr>
          <p:cNvPr id="146" name="">
            <a:extLst xmlns:a="http://schemas.openxmlformats.org/drawingml/2006/main">
              <a:ext uri="{FF2B5EF4-FFF2-40B4-BE49-F238E27FC236}">
                <a16:creationId xmlns:a16="http://schemas.microsoft.com/office/drawing/2014/main" id="{D1A8E836-AB5A-4C99-B7DB-5BC80706CD48}"/>
              </a:ext>
            </a:extLst>
          </p:cNvPr>
          <p:cNvSpPr>
            <a:spLocks xmlns:a="http://schemas.openxmlformats.org/drawingml/2006/main" noGrp="1"/>
          </p:cNvSpPr>
          <p:nvPr/>
        </p:nvSpPr>
        <p:spPr>
          <a:xfrm xmlns:a="http://schemas.openxmlformats.org/drawingml/2006/main">
            <a:off x="26003250" y="9525000"/>
            <a:ext cx="4000500"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340" name=""/>
          <p:cNvPicPr>
            <a:picLocks xmlns:a="http://schemas.openxmlformats.org/drawingml/2006/main" noChangeAspect="1"/>
          </p:cNvPicPr>
          <p:nvPr/>
        </p:nvPicPr>
        <p:blipFill>
          <a:blip xmlns:r="http://schemas.openxmlformats.org/officeDocument/2006/relationships" xmlns:a="http://schemas.openxmlformats.org/drawingml/2006/main" r:embed="R11bfce2fcd064fc7"/>
          <a:stretch xmlns:a="http://schemas.openxmlformats.org/drawingml/2006/main"/>
        </p:blipFill>
        <p:spPr>
          <a:xfrm xmlns:a="http://schemas.openxmlformats.org/drawingml/2006/main">
            <a:off x="26174700" y="9677400"/>
            <a:ext cx="552450" cy="552450"/>
          </a:xfrm>
          <a:prstGeom xmlns:a="http://schemas.openxmlformats.org/drawingml/2006/main" prst="rect">
            <a:avLst/>
          </a:prstGeom>
        </p:spPr>
      </p:pic>
      <p:sp>
        <p:nvSpPr>
          <p:cNvPr id="148" name="">
            <a:extLst xmlns:a="http://schemas.openxmlformats.org/drawingml/2006/main">
              <a:ext uri="{FF2B5EF4-FFF2-40B4-BE49-F238E27FC236}">
                <a16:creationId xmlns:a16="http://schemas.microsoft.com/office/drawing/2014/main" id="{944A8B08-43B0-4552-B0F8-5423995AB378}"/>
              </a:ext>
            </a:extLst>
          </p:cNvPr>
          <p:cNvSpPr>
            <a:spLocks xmlns:a="http://schemas.openxmlformats.org/drawingml/2006/main" noGrp="1"/>
          </p:cNvSpPr>
          <p:nvPr/>
        </p:nvSpPr>
        <p:spPr>
          <a:xfrm xmlns:a="http://schemas.openxmlformats.org/drawingml/2006/main">
            <a:off x="26193750" y="10306050"/>
            <a:ext cx="361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34231D"/>
                </a:solidFill>
                <a:latin typeface="Arial"/>
                <a:ea typeface="Arial"/>
                <a:cs typeface="Arial"/>
              </a:defRPr>
            </a:pPr>
            <a:r>
              <a:rPr sz="2325" b="1">
                <a:solidFill>
                  <a:srgbClr val="34231D"/>
                </a:solidFill>
                <a:latin typeface="Arial"/>
                <a:ea typeface="Arial"/>
                <a:cs typeface="Arial"/>
              </a:rPr>
              <a:t>6. Polly neural speech</a:t>
            </a:r>
          </a:p>
        </p:txBody>
      </p:sp>
      <p:sp>
        <p:nvSpPr>
          <p:cNvPr id="149" name="">
            <a:extLst xmlns:a="http://schemas.openxmlformats.org/drawingml/2006/main">
              <a:ext uri="{FF2B5EF4-FFF2-40B4-BE49-F238E27FC236}">
                <a16:creationId xmlns:a16="http://schemas.microsoft.com/office/drawing/2014/main" id="{F2B398DF-9C0F-45E0-8369-30CE90082281}"/>
              </a:ext>
            </a:extLst>
          </p:cNvPr>
          <p:cNvSpPr>
            <a:spLocks xmlns:a="http://schemas.openxmlformats.org/drawingml/2006/main" noGrp="1"/>
          </p:cNvSpPr>
          <p:nvPr/>
        </p:nvSpPr>
        <p:spPr>
          <a:xfrm xmlns:a="http://schemas.openxmlformats.org/drawingml/2006/main">
            <a:off x="26193750" y="10934700"/>
            <a:ext cx="3619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Browser requests speech; FastAPI calls Polly</a:t>
            </a:r>
          </a:p>
        </p:txBody>
      </p:sp>
      <p:sp>
        <p:nvSpPr>
          <p:cNvPr id="150" name="">
            <a:extLst xmlns:a="http://schemas.openxmlformats.org/drawingml/2006/main">
              <a:ext uri="{FF2B5EF4-FFF2-40B4-BE49-F238E27FC236}">
                <a16:creationId xmlns:a16="http://schemas.microsoft.com/office/drawing/2014/main" id="{2657A011-939F-4C99-8C55-42FB3C489630}"/>
              </a:ext>
            </a:extLst>
          </p:cNvPr>
          <p:cNvSpPr>
            <a:spLocks xmlns:a="http://schemas.openxmlformats.org/drawingml/2006/main" noGrp="1"/>
          </p:cNvSpPr>
          <p:nvPr/>
        </p:nvSpPr>
        <p:spPr>
          <a:xfrm xmlns:a="http://schemas.openxmlformats.org/drawingml/2006/main">
            <a:off x="20002500" y="9525000"/>
            <a:ext cx="4000500"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344" name=""/>
          <p:cNvPicPr>
            <a:picLocks xmlns:a="http://schemas.openxmlformats.org/drawingml/2006/main" noChangeAspect="1"/>
          </p:cNvPicPr>
          <p:nvPr/>
        </p:nvPicPr>
        <p:blipFill>
          <a:blip xmlns:r="http://schemas.openxmlformats.org/officeDocument/2006/relationships" xmlns:a="http://schemas.openxmlformats.org/drawingml/2006/main" r:embed="R39a1c14589f246be"/>
          <a:stretch xmlns:a="http://schemas.openxmlformats.org/drawingml/2006/main"/>
        </p:blipFill>
        <p:spPr>
          <a:xfrm xmlns:a="http://schemas.openxmlformats.org/drawingml/2006/main">
            <a:off x="20173950" y="9677400"/>
            <a:ext cx="552450" cy="552450"/>
          </a:xfrm>
          <a:prstGeom xmlns:a="http://schemas.openxmlformats.org/drawingml/2006/main" prst="rect">
            <a:avLst/>
          </a:prstGeom>
        </p:spPr>
      </p:pic>
      <p:sp>
        <p:nvSpPr>
          <p:cNvPr id="152" name="">
            <a:extLst xmlns:a="http://schemas.openxmlformats.org/drawingml/2006/main">
              <a:ext uri="{FF2B5EF4-FFF2-40B4-BE49-F238E27FC236}">
                <a16:creationId xmlns:a16="http://schemas.microsoft.com/office/drawing/2014/main" id="{1B72F0B9-FF2D-41A0-A9C8-783767C4717E}"/>
              </a:ext>
            </a:extLst>
          </p:cNvPr>
          <p:cNvSpPr>
            <a:spLocks xmlns:a="http://schemas.openxmlformats.org/drawingml/2006/main" noGrp="1"/>
          </p:cNvSpPr>
          <p:nvPr/>
        </p:nvSpPr>
        <p:spPr>
          <a:xfrm xmlns:a="http://schemas.openxmlformats.org/drawingml/2006/main">
            <a:off x="20193000" y="10306050"/>
            <a:ext cx="3619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34231D"/>
                </a:solidFill>
                <a:latin typeface="Arial"/>
                <a:ea typeface="Arial"/>
                <a:cs typeface="Arial"/>
              </a:defRPr>
            </a:pPr>
            <a:r>
              <a:rPr sz="2325" b="1">
                <a:solidFill>
                  <a:srgbClr val="34231D"/>
                </a:solidFill>
                <a:latin typeface="Arial"/>
                <a:ea typeface="Arial"/>
                <a:cs typeface="Arial"/>
              </a:rPr>
              <a:t>7. Browser playback</a:t>
            </a:r>
          </a:p>
        </p:txBody>
      </p:sp>
      <p:sp>
        <p:nvSpPr>
          <p:cNvPr id="153" name="">
            <a:extLst xmlns:a="http://schemas.openxmlformats.org/drawingml/2006/main">
              <a:ext uri="{FF2B5EF4-FFF2-40B4-BE49-F238E27FC236}">
                <a16:creationId xmlns:a16="http://schemas.microsoft.com/office/drawing/2014/main" id="{BD457001-22EC-4D46-81F5-B554D09C8B65}"/>
              </a:ext>
            </a:extLst>
          </p:cNvPr>
          <p:cNvSpPr>
            <a:spLocks xmlns:a="http://schemas.openxmlformats.org/drawingml/2006/main" noGrp="1"/>
          </p:cNvSpPr>
          <p:nvPr/>
        </p:nvSpPr>
        <p:spPr>
          <a:xfrm xmlns:a="http://schemas.openxmlformats.org/drawingml/2006/main">
            <a:off x="20193000" y="10934700"/>
            <a:ext cx="3619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MP3 through Next.js; listen again after playback</a:t>
            </a:r>
          </a:p>
        </p:txBody>
      </p:sp>
      <p:cxnSp>
        <p:nvCxnSpPr>
          <p:cNvPr id="347" name=""/>
          <p:cNvCxnSpPr>
            <a:stCxn xmlns:a="http://schemas.openxmlformats.org/drawingml/2006/main" id="141" idx="1"/>
            <a:endCxn xmlns:a="http://schemas.openxmlformats.org/drawingml/2006/main" id="146" idx="3"/>
          </p:cNvCxnSpPr>
          <p:nvPr/>
        </p:nvCxnSpPr>
        <p:spPr>
          <a:xfrm xmlns:a="http://schemas.openxmlformats.org/drawingml/2006/main" flipH="1">
            <a:off x="30003750" y="10548938"/>
            <a:ext cx="200025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348" name=""/>
          <p:cNvCxnSpPr>
            <a:stCxn xmlns:a="http://schemas.openxmlformats.org/drawingml/2006/main" id="146" idx="1"/>
            <a:endCxn xmlns:a="http://schemas.openxmlformats.org/drawingml/2006/main" id="150" idx="3"/>
          </p:cNvCxnSpPr>
          <p:nvPr/>
        </p:nvCxnSpPr>
        <p:spPr>
          <a:xfrm xmlns:a="http://schemas.openxmlformats.org/drawingml/2006/main" flipH="1">
            <a:off x="24003000" y="10548938"/>
            <a:ext cx="2000250"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sp>
        <p:nvSpPr>
          <p:cNvPr id="156" name="">
            <a:extLst xmlns:a="http://schemas.openxmlformats.org/drawingml/2006/main">
              <a:ext uri="{FF2B5EF4-FFF2-40B4-BE49-F238E27FC236}">
                <a16:creationId xmlns:a16="http://schemas.microsoft.com/office/drawing/2014/main" id="{AE4163B2-07D4-41FE-84CB-53EB562C05AC}"/>
              </a:ext>
            </a:extLst>
          </p:cNvPr>
          <p:cNvSpPr>
            <a:spLocks xmlns:a="http://schemas.openxmlformats.org/drawingml/2006/main" noGrp="1"/>
          </p:cNvSpPr>
          <p:nvPr/>
        </p:nvSpPr>
        <p:spPr>
          <a:xfrm xmlns:a="http://schemas.openxmlformats.org/drawingml/2006/main">
            <a:off x="33985200" y="9001125"/>
            <a:ext cx="19050" cy="19050"/>
          </a:xfrm>
          <a:prstGeom xmlns:a="http://schemas.openxmlformats.org/drawingml/2006/main" prst="rect">
            <a:avLst/>
          </a:prstGeom>
          <a:solidFill xmlns:a="http://schemas.openxmlformats.org/drawingml/2006/main">
            <a:srgbClr val="C9502F"/>
          </a:solidFill>
          <a:ln xmlns:a="http://schemas.openxmlformats.org/drawingml/2006/main" w="19050">
            <a:solidFill>
              <a:srgbClr val="C9502F"/>
            </a:solidFill>
            <a:prstDash val="solid"/>
          </a:ln>
        </p:spPr>
      </p:sp>
      <p:sp>
        <p:nvSpPr>
          <p:cNvPr id="157" name="">
            <a:extLst xmlns:a="http://schemas.openxmlformats.org/drawingml/2006/main">
              <a:ext uri="{FF2B5EF4-FFF2-40B4-BE49-F238E27FC236}">
                <a16:creationId xmlns:a16="http://schemas.microsoft.com/office/drawing/2014/main" id="{B569EA4B-50A0-49A3-962A-B33F335F5A40}"/>
              </a:ext>
            </a:extLst>
          </p:cNvPr>
          <p:cNvSpPr>
            <a:spLocks xmlns:a="http://schemas.openxmlformats.org/drawingml/2006/main" noGrp="1"/>
          </p:cNvSpPr>
          <p:nvPr/>
        </p:nvSpPr>
        <p:spPr>
          <a:xfrm xmlns:a="http://schemas.openxmlformats.org/drawingml/2006/main">
            <a:off x="33985200" y="9525000"/>
            <a:ext cx="19050" cy="19050"/>
          </a:xfrm>
          <a:prstGeom xmlns:a="http://schemas.openxmlformats.org/drawingml/2006/main" prst="rect">
            <a:avLst/>
          </a:prstGeom>
          <a:solidFill xmlns:a="http://schemas.openxmlformats.org/drawingml/2006/main">
            <a:srgbClr val="C9502F"/>
          </a:solidFill>
          <a:ln xmlns:a="http://schemas.openxmlformats.org/drawingml/2006/main" w="19050">
            <a:solidFill>
              <a:srgbClr val="C9502F"/>
            </a:solidFill>
            <a:prstDash val="solid"/>
          </a:ln>
        </p:spPr>
      </p:sp>
      <p:cxnSp>
        <p:nvCxnSpPr>
          <p:cNvPr id="351" name=""/>
          <p:cNvCxnSpPr>
            <a:stCxn xmlns:a="http://schemas.openxmlformats.org/drawingml/2006/main" id="156" idx="2"/>
            <a:endCxn xmlns:a="http://schemas.openxmlformats.org/drawingml/2006/main" id="157" idx="0"/>
          </p:cNvCxnSpPr>
          <p:nvPr/>
        </p:nvCxnSpPr>
        <p:spPr>
          <a:xfrm xmlns:a="http://schemas.openxmlformats.org/drawingml/2006/main">
            <a:off x="33994725" y="9020175"/>
            <a:ext cx="0" cy="504825"/>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pic>
        <p:nvPicPr>
          <p:cNvPr id="352" name=""/>
          <p:cNvPicPr>
            <a:picLocks xmlns:a="http://schemas.openxmlformats.org/drawingml/2006/main" noChangeAspect="1"/>
          </p:cNvPicPr>
          <p:nvPr/>
        </p:nvPicPr>
        <p:blipFill>
          <a:blip xmlns:r="http://schemas.openxmlformats.org/officeDocument/2006/relationships" xmlns:a="http://schemas.openxmlformats.org/drawingml/2006/main" r:embed="R4ca83b0eeddb4b3b"/>
          <a:stretch xmlns:a="http://schemas.openxmlformats.org/drawingml/2006/main"/>
        </p:blipFill>
        <p:spPr>
          <a:xfrm xmlns:a="http://schemas.openxmlformats.org/drawingml/2006/main">
            <a:off x="19240500" y="9239250"/>
            <a:ext cx="523875" cy="523875"/>
          </a:xfrm>
          <a:prstGeom xmlns:a="http://schemas.openxmlformats.org/drawingml/2006/main" prst="rect">
            <a:avLst/>
          </a:prstGeom>
        </p:spPr>
      </p:pic>
      <p:sp>
        <p:nvSpPr>
          <p:cNvPr id="160" name="">
            <a:extLst xmlns:a="http://schemas.openxmlformats.org/drawingml/2006/main">
              <a:ext uri="{FF2B5EF4-FFF2-40B4-BE49-F238E27FC236}">
                <a16:creationId xmlns:a16="http://schemas.microsoft.com/office/drawing/2014/main" id="{42B231E0-5E69-4D74-9D27-12F35E0A6DE1}"/>
              </a:ext>
            </a:extLst>
          </p:cNvPr>
          <p:cNvSpPr>
            <a:spLocks xmlns:a="http://schemas.openxmlformats.org/drawingml/2006/main" noGrp="1"/>
          </p:cNvSpPr>
          <p:nvPr/>
        </p:nvSpPr>
        <p:spPr>
          <a:xfrm xmlns:a="http://schemas.openxmlformats.org/drawingml/2006/main">
            <a:off x="19907250" y="9324975"/>
            <a:ext cx="266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34231D"/>
                </a:solidFill>
                <a:latin typeface="Arial"/>
                <a:ea typeface="Arial"/>
                <a:cs typeface="Arial"/>
              </a:defRPr>
            </a:pPr>
            <a:r>
              <a:rPr sz="2100" b="1">
                <a:solidFill>
                  <a:srgbClr val="34231D"/>
                </a:solidFill>
                <a:latin typeface="Arial"/>
                <a:ea typeface="Arial"/>
                <a:cs typeface="Arial"/>
              </a:rPr>
              <a:t>Chime SDK</a:t>
            </a:r>
          </a:p>
        </p:txBody>
      </p:sp>
      <p:sp>
        <p:nvSpPr>
          <p:cNvPr id="161" name="">
            <a:extLst xmlns:a="http://schemas.openxmlformats.org/drawingml/2006/main">
              <a:ext uri="{FF2B5EF4-FFF2-40B4-BE49-F238E27FC236}">
                <a16:creationId xmlns:a16="http://schemas.microsoft.com/office/drawing/2014/main" id="{87248F1E-3453-4DF9-973C-6C8E162D24E5}"/>
              </a:ext>
            </a:extLst>
          </p:cNvPr>
          <p:cNvSpPr>
            <a:spLocks xmlns:a="http://schemas.openxmlformats.org/drawingml/2006/main" noGrp="1"/>
          </p:cNvSpPr>
          <p:nvPr/>
        </p:nvSpPr>
        <p:spPr>
          <a:xfrm xmlns:a="http://schemas.openxmlformats.org/drawingml/2006/main">
            <a:off x="19145250" y="11849100"/>
            <a:ext cx="16859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88766B"/>
                </a:solidFill>
                <a:latin typeface="Arial"/>
                <a:ea typeface="Arial"/>
                <a:cs typeface="Arial"/>
              </a:defRPr>
            </a:pPr>
            <a:r>
              <a:rPr sz="2025" b="0">
                <a:solidFill>
                  <a:srgbClr val="88766B"/>
                </a:solidFill>
                <a:latin typeface="Arial"/>
                <a:ea typeface="Arial"/>
                <a:cs typeface="Arial"/>
              </a:rPr>
              <a:t>Turn-based audio. Chime media is separate from the Transcribe input path.</a:t>
            </a:r>
          </a:p>
        </p:txBody>
      </p:sp>
      <p:sp>
        <p:nvSpPr>
          <p:cNvPr id="162" name="">
            <a:extLst xmlns:a="http://schemas.openxmlformats.org/drawingml/2006/main">
              <a:ext uri="{FF2B5EF4-FFF2-40B4-BE49-F238E27FC236}">
                <a16:creationId xmlns:a16="http://schemas.microsoft.com/office/drawing/2014/main" id="{1FC58766-ABA0-4F76-BFAE-0B29F0B57EBB}"/>
              </a:ext>
            </a:extLst>
          </p:cNvPr>
          <p:cNvSpPr>
            <a:spLocks xmlns:a="http://schemas.openxmlformats.org/drawingml/2006/main" noGrp="1"/>
          </p:cNvSpPr>
          <p:nvPr/>
        </p:nvSpPr>
        <p:spPr>
          <a:xfrm xmlns:a="http://schemas.openxmlformats.org/drawingml/2006/main">
            <a:off x="19145250" y="12573000"/>
            <a:ext cx="16859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C9502F"/>
                </a:solidFill>
                <a:latin typeface="Arial"/>
                <a:ea typeface="Arial"/>
                <a:cs typeface="Arial"/>
              </a:defRPr>
            </a:pPr>
            <a:r>
              <a:rPr sz="2925" b="1">
                <a:solidFill>
                  <a:srgbClr val="C9502F"/>
                </a:solidFill>
                <a:latin typeface="Arial"/>
                <a:ea typeface="Arial"/>
                <a:cs typeface="Arial"/>
              </a:rPr>
              <a:t>E. Recordings and file storage</a:t>
            </a:r>
          </a:p>
        </p:txBody>
      </p:sp>
      <p:sp>
        <p:nvSpPr>
          <p:cNvPr id="163" name="">
            <a:extLst xmlns:a="http://schemas.openxmlformats.org/drawingml/2006/main">
              <a:ext uri="{FF2B5EF4-FFF2-40B4-BE49-F238E27FC236}">
                <a16:creationId xmlns:a16="http://schemas.microsoft.com/office/drawing/2014/main" id="{FC26E659-B649-4B5D-BF52-AB0F75C1B72B}"/>
              </a:ext>
            </a:extLst>
          </p:cNvPr>
          <p:cNvSpPr>
            <a:spLocks xmlns:a="http://schemas.openxmlformats.org/drawingml/2006/main" noGrp="1"/>
          </p:cNvSpPr>
          <p:nvPr/>
        </p:nvSpPr>
        <p:spPr>
          <a:xfrm xmlns:a="http://schemas.openxmlformats.org/drawingml/2006/main">
            <a:off x="19145250" y="13239750"/>
            <a:ext cx="5143500" cy="1714500"/>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64" name="">
            <a:extLst xmlns:a="http://schemas.openxmlformats.org/drawingml/2006/main">
              <a:ext uri="{FF2B5EF4-FFF2-40B4-BE49-F238E27FC236}">
                <a16:creationId xmlns:a16="http://schemas.microsoft.com/office/drawing/2014/main" id="{2195C709-8CCC-40E1-8A3B-C50D68E898E1}"/>
              </a:ext>
            </a:extLst>
          </p:cNvPr>
          <p:cNvSpPr>
            <a:spLocks xmlns:a="http://schemas.openxmlformats.org/drawingml/2006/main" noGrp="1"/>
          </p:cNvSpPr>
          <p:nvPr/>
        </p:nvSpPr>
        <p:spPr>
          <a:xfrm xmlns:a="http://schemas.openxmlformats.org/drawingml/2006/main">
            <a:off x="19335750" y="13411200"/>
            <a:ext cx="476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34231D"/>
                </a:solidFill>
                <a:latin typeface="Arial"/>
                <a:ea typeface="Arial"/>
                <a:cs typeface="Arial"/>
              </a:defRPr>
            </a:pPr>
            <a:r>
              <a:rPr sz="2325" b="1">
                <a:solidFill>
                  <a:srgbClr val="34231D"/>
                </a:solidFill>
                <a:latin typeface="Arial"/>
                <a:ea typeface="Arial"/>
                <a:cs typeface="Arial"/>
              </a:rPr>
              <a:t>Browser audio mixer</a:t>
            </a:r>
          </a:p>
        </p:txBody>
      </p:sp>
      <p:sp>
        <p:nvSpPr>
          <p:cNvPr id="165" name="">
            <a:extLst xmlns:a="http://schemas.openxmlformats.org/drawingml/2006/main">
              <a:ext uri="{FF2B5EF4-FFF2-40B4-BE49-F238E27FC236}">
                <a16:creationId xmlns:a16="http://schemas.microsoft.com/office/drawing/2014/main" id="{D5AA06FE-63A5-40FE-9651-868E17C745DD}"/>
              </a:ext>
            </a:extLst>
          </p:cNvPr>
          <p:cNvSpPr>
            <a:spLocks xmlns:a="http://schemas.openxmlformats.org/drawingml/2006/main" noGrp="1"/>
          </p:cNvSpPr>
          <p:nvPr/>
        </p:nvSpPr>
        <p:spPr>
          <a:xfrm xmlns:a="http://schemas.openxmlformats.org/drawingml/2006/main">
            <a:off x="19335750" y="14039850"/>
            <a:ext cx="4762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Microphone + assistant playback</a:t>
            </a:r>
          </a:p>
        </p:txBody>
      </p:sp>
      <p:sp>
        <p:nvSpPr>
          <p:cNvPr id="166" name="">
            <a:extLst xmlns:a="http://schemas.openxmlformats.org/drawingml/2006/main">
              <a:ext uri="{FF2B5EF4-FFF2-40B4-BE49-F238E27FC236}">
                <a16:creationId xmlns:a16="http://schemas.microsoft.com/office/drawing/2014/main" id="{A099B058-10AA-40F1-BFE8-C856A0BF9007}"/>
              </a:ext>
            </a:extLst>
          </p:cNvPr>
          <p:cNvSpPr>
            <a:spLocks xmlns:a="http://schemas.openxmlformats.org/drawingml/2006/main" noGrp="1"/>
          </p:cNvSpPr>
          <p:nvPr/>
        </p:nvSpPr>
        <p:spPr>
          <a:xfrm xmlns:a="http://schemas.openxmlformats.org/drawingml/2006/main">
            <a:off x="25003125" y="13239750"/>
            <a:ext cx="5143500" cy="1714500"/>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67" name="">
            <a:extLst xmlns:a="http://schemas.openxmlformats.org/drawingml/2006/main">
              <a:ext uri="{FF2B5EF4-FFF2-40B4-BE49-F238E27FC236}">
                <a16:creationId xmlns:a16="http://schemas.microsoft.com/office/drawing/2014/main" id="{85375929-3D38-49C9-ACB2-B2212F3771D5}"/>
              </a:ext>
            </a:extLst>
          </p:cNvPr>
          <p:cNvSpPr>
            <a:spLocks xmlns:a="http://schemas.openxmlformats.org/drawingml/2006/main" noGrp="1"/>
          </p:cNvSpPr>
          <p:nvPr/>
        </p:nvSpPr>
        <p:spPr>
          <a:xfrm xmlns:a="http://schemas.openxmlformats.org/drawingml/2006/main">
            <a:off x="25193625" y="13411200"/>
            <a:ext cx="476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34231D"/>
                </a:solidFill>
                <a:latin typeface="Arial"/>
                <a:ea typeface="Arial"/>
                <a:cs typeface="Arial"/>
              </a:defRPr>
            </a:pPr>
            <a:r>
              <a:rPr sz="2325" b="1">
                <a:solidFill>
                  <a:srgbClr val="34231D"/>
                </a:solidFill>
                <a:latin typeface="Arial"/>
                <a:ea typeface="Arial"/>
                <a:cs typeface="Arial"/>
              </a:rPr>
              <a:t>WebM recording</a:t>
            </a:r>
          </a:p>
        </p:txBody>
      </p:sp>
      <p:sp>
        <p:nvSpPr>
          <p:cNvPr id="168" name="">
            <a:extLst xmlns:a="http://schemas.openxmlformats.org/drawingml/2006/main">
              <a:ext uri="{FF2B5EF4-FFF2-40B4-BE49-F238E27FC236}">
                <a16:creationId xmlns:a16="http://schemas.microsoft.com/office/drawing/2014/main" id="{CDD46699-AAD3-405E-80F0-FC3A7F94030F}"/>
              </a:ext>
            </a:extLst>
          </p:cNvPr>
          <p:cNvSpPr>
            <a:spLocks xmlns:a="http://schemas.openxmlformats.org/drawingml/2006/main" noGrp="1"/>
          </p:cNvSpPr>
          <p:nvPr/>
        </p:nvSpPr>
        <p:spPr>
          <a:xfrm xmlns:a="http://schemas.openxmlformats.org/drawingml/2006/main">
            <a:off x="25193625" y="14039850"/>
            <a:ext cx="4762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MediaRecorder completes the call</a:t>
            </a:r>
          </a:p>
        </p:txBody>
      </p:sp>
      <p:sp>
        <p:nvSpPr>
          <p:cNvPr id="169" name="">
            <a:extLst xmlns:a="http://schemas.openxmlformats.org/drawingml/2006/main">
              <a:ext uri="{FF2B5EF4-FFF2-40B4-BE49-F238E27FC236}">
                <a16:creationId xmlns:a16="http://schemas.microsoft.com/office/drawing/2014/main" id="{8630B95C-22B1-42A4-BDEF-2F1CD981F319}"/>
              </a:ext>
            </a:extLst>
          </p:cNvPr>
          <p:cNvSpPr>
            <a:spLocks xmlns:a="http://schemas.openxmlformats.org/drawingml/2006/main" noGrp="1"/>
          </p:cNvSpPr>
          <p:nvPr/>
        </p:nvSpPr>
        <p:spPr>
          <a:xfrm xmlns:a="http://schemas.openxmlformats.org/drawingml/2006/main">
            <a:off x="30861000" y="13239750"/>
            <a:ext cx="5143500" cy="1714500"/>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363" name=""/>
          <p:cNvPicPr>
            <a:picLocks xmlns:a="http://schemas.openxmlformats.org/drawingml/2006/main" noChangeAspect="1"/>
          </p:cNvPicPr>
          <p:nvPr/>
        </p:nvPicPr>
        <p:blipFill>
          <a:blip xmlns:r="http://schemas.openxmlformats.org/officeDocument/2006/relationships" xmlns:a="http://schemas.openxmlformats.org/drawingml/2006/main" r:embed="R756d3991ba7a4db6"/>
          <a:stretch xmlns:a="http://schemas.openxmlformats.org/drawingml/2006/main"/>
        </p:blipFill>
        <p:spPr>
          <a:xfrm xmlns:a="http://schemas.openxmlformats.org/drawingml/2006/main">
            <a:off x="31032450" y="13392150"/>
            <a:ext cx="552450" cy="552450"/>
          </a:xfrm>
          <a:prstGeom xmlns:a="http://schemas.openxmlformats.org/drawingml/2006/main" prst="rect">
            <a:avLst/>
          </a:prstGeom>
        </p:spPr>
      </p:pic>
      <p:sp>
        <p:nvSpPr>
          <p:cNvPr id="171" name="">
            <a:extLst xmlns:a="http://schemas.openxmlformats.org/drawingml/2006/main">
              <a:ext uri="{FF2B5EF4-FFF2-40B4-BE49-F238E27FC236}">
                <a16:creationId xmlns:a16="http://schemas.microsoft.com/office/drawing/2014/main" id="{488DCE81-9D5F-4415-937D-88DE8A879CA1}"/>
              </a:ext>
            </a:extLst>
          </p:cNvPr>
          <p:cNvSpPr>
            <a:spLocks xmlns:a="http://schemas.openxmlformats.org/drawingml/2006/main" noGrp="1"/>
          </p:cNvSpPr>
          <p:nvPr/>
        </p:nvSpPr>
        <p:spPr>
          <a:xfrm xmlns:a="http://schemas.openxmlformats.org/drawingml/2006/main">
            <a:off x="31051500" y="14020800"/>
            <a:ext cx="476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34231D"/>
                </a:solidFill>
                <a:latin typeface="Arial"/>
                <a:ea typeface="Arial"/>
                <a:cs typeface="Arial"/>
              </a:defRPr>
            </a:pPr>
            <a:r>
              <a:rPr sz="2325" b="1">
                <a:solidFill>
                  <a:srgbClr val="34231D"/>
                </a:solidFill>
                <a:latin typeface="Arial"/>
                <a:ea typeface="Arial"/>
                <a:cs typeface="Arial"/>
              </a:rPr>
              <a:t>FastAPI → Amazon S3</a:t>
            </a:r>
          </a:p>
        </p:txBody>
      </p:sp>
      <p:sp>
        <p:nvSpPr>
          <p:cNvPr id="172" name="">
            <a:extLst xmlns:a="http://schemas.openxmlformats.org/drawingml/2006/main">
              <a:ext uri="{FF2B5EF4-FFF2-40B4-BE49-F238E27FC236}">
                <a16:creationId xmlns:a16="http://schemas.microsoft.com/office/drawing/2014/main" id="{5B2EB088-1BF8-4C29-935C-8D32BE0DEF85}"/>
              </a:ext>
            </a:extLst>
          </p:cNvPr>
          <p:cNvSpPr>
            <a:spLocks xmlns:a="http://schemas.openxmlformats.org/drawingml/2006/main" noGrp="1"/>
          </p:cNvSpPr>
          <p:nvPr/>
        </p:nvSpPr>
        <p:spPr>
          <a:xfrm xmlns:a="http://schemas.openxmlformats.org/drawingml/2006/main">
            <a:off x="31051500" y="14649450"/>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audios/calls/; SQLite saves audio key</a:t>
            </a:r>
          </a:p>
        </p:txBody>
      </p:sp>
      <p:cxnSp>
        <p:nvCxnSpPr>
          <p:cNvPr id="366" name=""/>
          <p:cNvCxnSpPr>
            <a:stCxn xmlns:a="http://schemas.openxmlformats.org/drawingml/2006/main" id="163" idx="3"/>
            <a:endCxn xmlns:a="http://schemas.openxmlformats.org/drawingml/2006/main" id="166" idx="1"/>
          </p:cNvCxnSpPr>
          <p:nvPr/>
        </p:nvCxnSpPr>
        <p:spPr>
          <a:xfrm xmlns:a="http://schemas.openxmlformats.org/drawingml/2006/main">
            <a:off x="24288750" y="14097000"/>
            <a:ext cx="71437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cxnSp>
        <p:nvCxnSpPr>
          <p:cNvPr id="367" name=""/>
          <p:cNvCxnSpPr>
            <a:stCxn xmlns:a="http://schemas.openxmlformats.org/drawingml/2006/main" id="166" idx="3"/>
            <a:endCxn xmlns:a="http://schemas.openxmlformats.org/drawingml/2006/main" id="169" idx="1"/>
          </p:cNvCxnSpPr>
          <p:nvPr/>
        </p:nvCxnSpPr>
        <p:spPr>
          <a:xfrm xmlns:a="http://schemas.openxmlformats.org/drawingml/2006/main">
            <a:off x="30146625" y="14097000"/>
            <a:ext cx="714375" cy="0"/>
          </a:xfrm>
          <a:prstGeom xmlns:a="http://schemas.openxmlformats.org/drawingml/2006/main" prst="straightConnector1">
            <a:avLst/>
          </a:prstGeom>
          <a:ln xmlns:a="http://schemas.openxmlformats.org/drawingml/2006/main" w="28575">
            <a:solidFill>
              <a:srgbClr val="C9502F"/>
            </a:solidFill>
            <a:prstDash val="solid"/>
            <a:tailEnd type="triangle" w="med" len="med"/>
          </a:ln>
        </p:spPr>
      </p:cxnSp>
      <p:sp>
        <p:nvSpPr>
          <p:cNvPr id="175" name="">
            <a:extLst xmlns:a="http://schemas.openxmlformats.org/drawingml/2006/main">
              <a:ext uri="{FF2B5EF4-FFF2-40B4-BE49-F238E27FC236}">
                <a16:creationId xmlns:a16="http://schemas.microsoft.com/office/drawing/2014/main" id="{C1C8BCCB-07B5-4C39-8C17-40FA1C7B795D}"/>
              </a:ext>
            </a:extLst>
          </p:cNvPr>
          <p:cNvSpPr>
            <a:spLocks xmlns:a="http://schemas.openxmlformats.org/drawingml/2006/main" noGrp="1"/>
          </p:cNvSpPr>
          <p:nvPr/>
        </p:nvSpPr>
        <p:spPr>
          <a:xfrm xmlns:a="http://schemas.openxmlformats.org/drawingml/2006/main">
            <a:off x="19145250" y="15049500"/>
            <a:ext cx="1685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88766B"/>
                </a:solidFill>
                <a:latin typeface="Arial"/>
                <a:ea typeface="Arial"/>
                <a:cs typeface="Arial"/>
              </a:defRPr>
            </a:pPr>
            <a:r>
              <a:rPr sz="2025" b="0">
                <a:solidFill>
                  <a:srgbClr val="88766B"/>
                </a:solidFill>
                <a:latin typeface="Arial"/>
                <a:ea typeface="Arial"/>
                <a:cs typeface="Arial"/>
              </a:rPr>
              <a:t>S3 prefixes: knowledge/ for PDFs, images/menu/ for menu images, audios/calls/ for recordings.</a:t>
            </a:r>
          </a:p>
        </p:txBody>
      </p:sp>
      <p:sp>
        <p:nvSpPr>
          <p:cNvPr id="176" name="">
            <a:extLst xmlns:a="http://schemas.openxmlformats.org/drawingml/2006/main">
              <a:ext uri="{FF2B5EF4-FFF2-40B4-BE49-F238E27FC236}">
                <a16:creationId xmlns:a16="http://schemas.microsoft.com/office/drawing/2014/main" id="{0282BF46-89EE-4192-BBB0-7BAE73F337EF}"/>
              </a:ext>
            </a:extLst>
          </p:cNvPr>
          <p:cNvSpPr>
            <a:spLocks xmlns:a="http://schemas.openxmlformats.org/drawingml/2006/main" noGrp="1"/>
          </p:cNvSpPr>
          <p:nvPr/>
        </p:nvSpPr>
        <p:spPr>
          <a:xfrm xmlns:a="http://schemas.openxmlformats.org/drawingml/2006/main">
            <a:off x="19145250" y="15811500"/>
            <a:ext cx="16859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C9502F"/>
                </a:solidFill>
                <a:latin typeface="Arial"/>
                <a:ea typeface="Arial"/>
                <a:cs typeface="Arial"/>
              </a:defRPr>
            </a:pPr>
            <a:r>
              <a:rPr sz="2925" b="1">
                <a:solidFill>
                  <a:srgbClr val="C9502F"/>
                </a:solidFill>
                <a:latin typeface="Arial"/>
                <a:ea typeface="Arial"/>
                <a:cs typeface="Arial"/>
              </a:rPr>
              <a:t>F. Planned SageMaker forecasting</a:t>
            </a:r>
          </a:p>
        </p:txBody>
      </p:sp>
      <p:sp>
        <p:nvSpPr>
          <p:cNvPr id="177" name="">
            <a:extLst xmlns:a="http://schemas.openxmlformats.org/drawingml/2006/main">
              <a:ext uri="{FF2B5EF4-FFF2-40B4-BE49-F238E27FC236}">
                <a16:creationId xmlns:a16="http://schemas.microsoft.com/office/drawing/2014/main" id="{4743299A-F59B-4C11-B281-8646851E2992}"/>
              </a:ext>
            </a:extLst>
          </p:cNvPr>
          <p:cNvSpPr>
            <a:spLocks xmlns:a="http://schemas.openxmlformats.org/drawingml/2006/main" noGrp="1"/>
          </p:cNvSpPr>
          <p:nvPr/>
        </p:nvSpPr>
        <p:spPr>
          <a:xfrm xmlns:a="http://schemas.openxmlformats.org/drawingml/2006/main">
            <a:off x="19145250" y="16325850"/>
            <a:ext cx="16859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88766B"/>
                </a:solidFill>
                <a:latin typeface="Arial"/>
                <a:ea typeface="Arial"/>
                <a:cs typeface="Arial"/>
              </a:defRPr>
            </a:pPr>
            <a:r>
              <a:rPr sz="2025" b="0">
                <a:solidFill>
                  <a:srgbClr val="88766B"/>
                </a:solidFill>
                <a:latin typeface="Arial"/>
                <a:ea typeface="Arial"/>
                <a:cs typeface="Arial"/>
              </a:rPr>
              <a:t>Historical category demand → S3 dataset → DeepAR training/inference → backend rules → admin</a:t>
            </a:r>
          </a:p>
        </p:txBody>
      </p:sp>
      <p:sp>
        <p:nvSpPr>
          <p:cNvPr id="178" name="">
            <a:extLst xmlns:a="http://schemas.openxmlformats.org/drawingml/2006/main">
              <a:ext uri="{FF2B5EF4-FFF2-40B4-BE49-F238E27FC236}">
                <a16:creationId xmlns:a16="http://schemas.microsoft.com/office/drawing/2014/main" id="{CB1C5DCA-D370-4F9F-92D6-175E8A738F1C}"/>
              </a:ext>
            </a:extLst>
          </p:cNvPr>
          <p:cNvSpPr>
            <a:spLocks xmlns:a="http://schemas.openxmlformats.org/drawingml/2006/main" noGrp="1"/>
          </p:cNvSpPr>
          <p:nvPr/>
        </p:nvSpPr>
        <p:spPr>
          <a:xfrm xmlns:a="http://schemas.openxmlformats.org/drawingml/2006/main">
            <a:off x="19145250" y="16859250"/>
            <a:ext cx="5143500" cy="1714500"/>
          </a:xfrm>
          <a:prstGeom xmlns:a="http://schemas.openxmlformats.org/drawingml/2006/main" prst="rect">
            <a:avLst/>
          </a:prstGeom>
          <a:solidFill xmlns:a="http://schemas.openxmlformats.org/drawingml/2006/main">
            <a:srgbClr val="FFFDF8"/>
          </a:solidFill>
          <a:ln xmlns:a="http://schemas.openxmlformats.org/drawingml/2006/main" w="19050">
            <a:solidFill>
              <a:srgbClr val="805299"/>
            </a:solidFill>
            <a:prstDash val="dash"/>
          </a:ln>
        </p:spPr>
      </p:sp>
      <p:pic>
        <p:nvPicPr>
          <p:cNvPr id="372" name=""/>
          <p:cNvPicPr>
            <a:picLocks xmlns:a="http://schemas.openxmlformats.org/drawingml/2006/main" noChangeAspect="1"/>
          </p:cNvPicPr>
          <p:nvPr/>
        </p:nvPicPr>
        <p:blipFill>
          <a:blip xmlns:r="http://schemas.openxmlformats.org/officeDocument/2006/relationships" xmlns:a="http://schemas.openxmlformats.org/drawingml/2006/main" r:embed="Ra23e4a1c389d4ea2"/>
          <a:stretch xmlns:a="http://schemas.openxmlformats.org/drawingml/2006/main"/>
        </p:blipFill>
        <p:spPr>
          <a:xfrm xmlns:a="http://schemas.openxmlformats.org/drawingml/2006/main">
            <a:off x="19316700" y="17011650"/>
            <a:ext cx="552450" cy="552450"/>
          </a:xfrm>
          <a:prstGeom xmlns:a="http://schemas.openxmlformats.org/drawingml/2006/main" prst="rect">
            <a:avLst/>
          </a:prstGeom>
        </p:spPr>
      </p:pic>
      <p:sp>
        <p:nvSpPr>
          <p:cNvPr id="180" name="">
            <a:extLst xmlns:a="http://schemas.openxmlformats.org/drawingml/2006/main">
              <a:ext uri="{FF2B5EF4-FFF2-40B4-BE49-F238E27FC236}">
                <a16:creationId xmlns:a16="http://schemas.microsoft.com/office/drawing/2014/main" id="{2CC9D6ED-91B1-4E60-9CB5-D081BFDFFFE5}"/>
              </a:ext>
            </a:extLst>
          </p:cNvPr>
          <p:cNvSpPr>
            <a:spLocks xmlns:a="http://schemas.openxmlformats.org/drawingml/2006/main" noGrp="1"/>
          </p:cNvSpPr>
          <p:nvPr/>
        </p:nvSpPr>
        <p:spPr>
          <a:xfrm xmlns:a="http://schemas.openxmlformats.org/drawingml/2006/main">
            <a:off x="19335750" y="17640300"/>
            <a:ext cx="476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34231D"/>
                </a:solidFill>
                <a:latin typeface="Arial"/>
                <a:ea typeface="Arial"/>
                <a:cs typeface="Arial"/>
              </a:defRPr>
            </a:pPr>
            <a:r>
              <a:rPr sz="2325" b="1">
                <a:solidFill>
                  <a:srgbClr val="34231D"/>
                </a:solidFill>
                <a:latin typeface="Arial"/>
                <a:ea typeface="Arial"/>
                <a:cs typeface="Arial"/>
              </a:rPr>
              <a:t>Order history + S3</a:t>
            </a:r>
          </a:p>
        </p:txBody>
      </p:sp>
      <p:sp>
        <p:nvSpPr>
          <p:cNvPr id="181" name="">
            <a:extLst xmlns:a="http://schemas.openxmlformats.org/drawingml/2006/main">
              <a:ext uri="{FF2B5EF4-FFF2-40B4-BE49-F238E27FC236}">
                <a16:creationId xmlns:a16="http://schemas.microsoft.com/office/drawing/2014/main" id="{A2A33C36-D6C2-4A97-8C23-95C774815FE7}"/>
              </a:ext>
            </a:extLst>
          </p:cNvPr>
          <p:cNvSpPr>
            <a:spLocks xmlns:a="http://schemas.openxmlformats.org/drawingml/2006/main" noGrp="1"/>
          </p:cNvSpPr>
          <p:nvPr/>
        </p:nvSpPr>
        <p:spPr>
          <a:xfrm xmlns:a="http://schemas.openxmlformats.org/drawingml/2006/main">
            <a:off x="19335750" y="18268950"/>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Prepare daily category time series</a:t>
            </a:r>
          </a:p>
        </p:txBody>
      </p:sp>
      <p:sp>
        <p:nvSpPr>
          <p:cNvPr id="182" name="">
            <a:extLst xmlns:a="http://schemas.openxmlformats.org/drawingml/2006/main">
              <a:ext uri="{FF2B5EF4-FFF2-40B4-BE49-F238E27FC236}">
                <a16:creationId xmlns:a16="http://schemas.microsoft.com/office/drawing/2014/main" id="{5AAD1C96-67C8-4122-8649-C9AAA91DC4A9}"/>
              </a:ext>
            </a:extLst>
          </p:cNvPr>
          <p:cNvSpPr>
            <a:spLocks xmlns:a="http://schemas.openxmlformats.org/drawingml/2006/main" noGrp="1"/>
          </p:cNvSpPr>
          <p:nvPr/>
        </p:nvSpPr>
        <p:spPr>
          <a:xfrm xmlns:a="http://schemas.openxmlformats.org/drawingml/2006/main">
            <a:off x="25003125" y="16859250"/>
            <a:ext cx="5143500" cy="1714500"/>
          </a:xfrm>
          <a:prstGeom xmlns:a="http://schemas.openxmlformats.org/drawingml/2006/main" prst="rect">
            <a:avLst/>
          </a:prstGeom>
          <a:solidFill xmlns:a="http://schemas.openxmlformats.org/drawingml/2006/main">
            <a:srgbClr val="FFFDF8"/>
          </a:solidFill>
          <a:ln xmlns:a="http://schemas.openxmlformats.org/drawingml/2006/main" w="19050">
            <a:solidFill>
              <a:srgbClr val="805299"/>
            </a:solidFill>
            <a:prstDash val="dash"/>
          </a:ln>
        </p:spPr>
      </p:sp>
      <p:pic>
        <p:nvPicPr>
          <p:cNvPr id="376" name=""/>
          <p:cNvPicPr>
            <a:picLocks xmlns:a="http://schemas.openxmlformats.org/drawingml/2006/main" noChangeAspect="1"/>
          </p:cNvPicPr>
          <p:nvPr/>
        </p:nvPicPr>
        <p:blipFill>
          <a:blip xmlns:r="http://schemas.openxmlformats.org/officeDocument/2006/relationships" xmlns:a="http://schemas.openxmlformats.org/drawingml/2006/main" r:embed="R198a0a3dff9247a4"/>
          <a:stretch xmlns:a="http://schemas.openxmlformats.org/drawingml/2006/main"/>
        </p:blipFill>
        <p:spPr>
          <a:xfrm xmlns:a="http://schemas.openxmlformats.org/drawingml/2006/main">
            <a:off x="25174575" y="17011650"/>
            <a:ext cx="552450" cy="552450"/>
          </a:xfrm>
          <a:prstGeom xmlns:a="http://schemas.openxmlformats.org/drawingml/2006/main" prst="rect">
            <a:avLst/>
          </a:prstGeom>
        </p:spPr>
      </p:pic>
      <p:sp>
        <p:nvSpPr>
          <p:cNvPr id="184" name="">
            <a:extLst xmlns:a="http://schemas.openxmlformats.org/drawingml/2006/main">
              <a:ext uri="{FF2B5EF4-FFF2-40B4-BE49-F238E27FC236}">
                <a16:creationId xmlns:a16="http://schemas.microsoft.com/office/drawing/2014/main" id="{18875085-12B2-4597-8BA9-720D9D83FE00}"/>
              </a:ext>
            </a:extLst>
          </p:cNvPr>
          <p:cNvSpPr>
            <a:spLocks xmlns:a="http://schemas.openxmlformats.org/drawingml/2006/main" noGrp="1"/>
          </p:cNvSpPr>
          <p:nvPr/>
        </p:nvSpPr>
        <p:spPr>
          <a:xfrm xmlns:a="http://schemas.openxmlformats.org/drawingml/2006/main">
            <a:off x="25193625" y="17640300"/>
            <a:ext cx="476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34231D"/>
                </a:solidFill>
                <a:latin typeface="Arial"/>
                <a:ea typeface="Arial"/>
                <a:cs typeface="Arial"/>
              </a:defRPr>
            </a:pPr>
            <a:r>
              <a:rPr sz="2325" b="1">
                <a:solidFill>
                  <a:srgbClr val="34231D"/>
                </a:solidFill>
                <a:latin typeface="Arial"/>
                <a:ea typeface="Arial"/>
                <a:cs typeface="Arial"/>
              </a:rPr>
              <a:t>SageMaker DeepAR</a:t>
            </a:r>
          </a:p>
        </p:txBody>
      </p:sp>
      <p:sp>
        <p:nvSpPr>
          <p:cNvPr id="185" name="">
            <a:extLst xmlns:a="http://schemas.openxmlformats.org/drawingml/2006/main">
              <a:ext uri="{FF2B5EF4-FFF2-40B4-BE49-F238E27FC236}">
                <a16:creationId xmlns:a16="http://schemas.microsoft.com/office/drawing/2014/main" id="{ECFA376C-BFF8-4486-B41F-AB2EF2ED025B}"/>
              </a:ext>
            </a:extLst>
          </p:cNvPr>
          <p:cNvSpPr>
            <a:spLocks xmlns:a="http://schemas.openxmlformats.org/drawingml/2006/main" noGrp="1"/>
          </p:cNvSpPr>
          <p:nvPr/>
        </p:nvSpPr>
        <p:spPr>
          <a:xfrm xmlns:a="http://schemas.openxmlformats.org/drawingml/2006/main">
            <a:off x="25193625" y="18268950"/>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Train, evaluate and forecast seven days</a:t>
            </a:r>
          </a:p>
        </p:txBody>
      </p:sp>
      <p:sp>
        <p:nvSpPr>
          <p:cNvPr id="186" name="">
            <a:extLst xmlns:a="http://schemas.openxmlformats.org/drawingml/2006/main">
              <a:ext uri="{FF2B5EF4-FFF2-40B4-BE49-F238E27FC236}">
                <a16:creationId xmlns:a16="http://schemas.microsoft.com/office/drawing/2014/main" id="{559A5950-C20D-4AF4-A601-3537502A8AEA}"/>
              </a:ext>
            </a:extLst>
          </p:cNvPr>
          <p:cNvSpPr>
            <a:spLocks xmlns:a="http://schemas.openxmlformats.org/drawingml/2006/main" noGrp="1"/>
          </p:cNvSpPr>
          <p:nvPr/>
        </p:nvSpPr>
        <p:spPr>
          <a:xfrm xmlns:a="http://schemas.openxmlformats.org/drawingml/2006/main">
            <a:off x="30861000" y="16859250"/>
            <a:ext cx="5143500" cy="1714500"/>
          </a:xfrm>
          <a:prstGeom xmlns:a="http://schemas.openxmlformats.org/drawingml/2006/main" prst="rect">
            <a:avLst/>
          </a:prstGeom>
          <a:solidFill xmlns:a="http://schemas.openxmlformats.org/drawingml/2006/main">
            <a:srgbClr val="FFFDF8"/>
          </a:solidFill>
          <a:ln xmlns:a="http://schemas.openxmlformats.org/drawingml/2006/main" w="19050">
            <a:solidFill>
              <a:srgbClr val="805299"/>
            </a:solidFill>
            <a:prstDash val="dash"/>
          </a:ln>
        </p:spPr>
      </p:sp>
      <p:pic>
        <p:nvPicPr>
          <p:cNvPr id="380" name=""/>
          <p:cNvPicPr>
            <a:picLocks xmlns:a="http://schemas.openxmlformats.org/drawingml/2006/main" noChangeAspect="1"/>
          </p:cNvPicPr>
          <p:nvPr/>
        </p:nvPicPr>
        <p:blipFill>
          <a:blip xmlns:r="http://schemas.openxmlformats.org/officeDocument/2006/relationships" xmlns:a="http://schemas.openxmlformats.org/drawingml/2006/main" r:embed="Re145b9a5caca444d"/>
          <a:stretch xmlns:a="http://schemas.openxmlformats.org/drawingml/2006/main"/>
        </p:blipFill>
        <p:spPr>
          <a:xfrm xmlns:a="http://schemas.openxmlformats.org/drawingml/2006/main">
            <a:off x="31032450" y="17011650"/>
            <a:ext cx="552450" cy="552450"/>
          </a:xfrm>
          <a:prstGeom xmlns:a="http://schemas.openxmlformats.org/drawingml/2006/main" prst="rect">
            <a:avLst/>
          </a:prstGeom>
        </p:spPr>
      </p:pic>
      <p:sp>
        <p:nvSpPr>
          <p:cNvPr id="188" name="">
            <a:extLst xmlns:a="http://schemas.openxmlformats.org/drawingml/2006/main">
              <a:ext uri="{FF2B5EF4-FFF2-40B4-BE49-F238E27FC236}">
                <a16:creationId xmlns:a16="http://schemas.microsoft.com/office/drawing/2014/main" id="{4BF3F8F6-4591-4C97-AB83-C35C715C1452}"/>
              </a:ext>
            </a:extLst>
          </p:cNvPr>
          <p:cNvSpPr>
            <a:spLocks xmlns:a="http://schemas.openxmlformats.org/drawingml/2006/main" noGrp="1"/>
          </p:cNvSpPr>
          <p:nvPr/>
        </p:nvSpPr>
        <p:spPr>
          <a:xfrm xmlns:a="http://schemas.openxmlformats.org/drawingml/2006/main">
            <a:off x="31051500" y="17640300"/>
            <a:ext cx="476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34231D"/>
                </a:solidFill>
                <a:latin typeface="Arial"/>
                <a:ea typeface="Arial"/>
                <a:cs typeface="Arial"/>
              </a:defRPr>
            </a:pPr>
            <a:r>
              <a:rPr sz="2325" b="1">
                <a:solidFill>
                  <a:srgbClr val="34231D"/>
                </a:solidFill>
                <a:latin typeface="Arial"/>
                <a:ea typeface="Arial"/>
                <a:cs typeface="Arial"/>
              </a:rPr>
              <a:t>FastAPI + admin dashboard</a:t>
            </a:r>
          </a:p>
        </p:txBody>
      </p:sp>
      <p:sp>
        <p:nvSpPr>
          <p:cNvPr id="189" name="">
            <a:extLst xmlns:a="http://schemas.openxmlformats.org/drawingml/2006/main">
              <a:ext uri="{FF2B5EF4-FFF2-40B4-BE49-F238E27FC236}">
                <a16:creationId xmlns:a16="http://schemas.microsoft.com/office/drawing/2014/main" id="{5170A6BD-7981-4630-AE2F-20C306FF9614}"/>
              </a:ext>
            </a:extLst>
          </p:cNvPr>
          <p:cNvSpPr>
            <a:spLocks xmlns:a="http://schemas.openxmlformats.org/drawingml/2006/main" noGrp="1"/>
          </p:cNvSpPr>
          <p:nvPr/>
        </p:nvSpPr>
        <p:spPr>
          <a:xfrm xmlns:a="http://schemas.openxmlformats.org/drawingml/2006/main">
            <a:off x="31051500" y="18268950"/>
            <a:ext cx="476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Apply business rules and display results</a:t>
            </a:r>
          </a:p>
        </p:txBody>
      </p:sp>
      <p:cxnSp>
        <p:nvCxnSpPr>
          <p:cNvPr id="383" name=""/>
          <p:cNvCxnSpPr>
            <a:stCxn xmlns:a="http://schemas.openxmlformats.org/drawingml/2006/main" id="178" idx="3"/>
            <a:endCxn xmlns:a="http://schemas.openxmlformats.org/drawingml/2006/main" id="182" idx="1"/>
          </p:cNvCxnSpPr>
          <p:nvPr/>
        </p:nvCxnSpPr>
        <p:spPr>
          <a:xfrm xmlns:a="http://schemas.openxmlformats.org/drawingml/2006/main">
            <a:off x="24288750" y="17716500"/>
            <a:ext cx="714375" cy="0"/>
          </a:xfrm>
          <a:prstGeom xmlns:a="http://schemas.openxmlformats.org/drawingml/2006/main" prst="straightConnector1">
            <a:avLst/>
          </a:prstGeom>
          <a:ln xmlns:a="http://schemas.openxmlformats.org/drawingml/2006/main" w="28575">
            <a:solidFill>
              <a:srgbClr val="805299"/>
            </a:solidFill>
            <a:prstDash val="dash"/>
            <a:tailEnd type="triangle" w="med" len="med"/>
          </a:ln>
        </p:spPr>
      </p:cxnSp>
      <p:cxnSp>
        <p:nvCxnSpPr>
          <p:cNvPr id="384" name=""/>
          <p:cNvCxnSpPr>
            <a:stCxn xmlns:a="http://schemas.openxmlformats.org/drawingml/2006/main" id="182" idx="3"/>
            <a:endCxn xmlns:a="http://schemas.openxmlformats.org/drawingml/2006/main" id="186" idx="1"/>
          </p:cNvCxnSpPr>
          <p:nvPr/>
        </p:nvCxnSpPr>
        <p:spPr>
          <a:xfrm xmlns:a="http://schemas.openxmlformats.org/drawingml/2006/main">
            <a:off x="30146625" y="17716500"/>
            <a:ext cx="714375" cy="0"/>
          </a:xfrm>
          <a:prstGeom xmlns:a="http://schemas.openxmlformats.org/drawingml/2006/main" prst="straightConnector1">
            <a:avLst/>
          </a:prstGeom>
          <a:ln xmlns:a="http://schemas.openxmlformats.org/drawingml/2006/main" w="28575">
            <a:solidFill>
              <a:srgbClr val="805299"/>
            </a:solidFill>
            <a:prstDash val="dash"/>
            <a:tailEnd type="triangle" w="med" len="med"/>
          </a:ln>
        </p:spPr>
      </p:cxnSp>
      <p:sp>
        <p:nvSpPr>
          <p:cNvPr id="192" name="">
            <a:extLst xmlns:a="http://schemas.openxmlformats.org/drawingml/2006/main">
              <a:ext uri="{FF2B5EF4-FFF2-40B4-BE49-F238E27FC236}">
                <a16:creationId xmlns:a16="http://schemas.microsoft.com/office/drawing/2014/main" id="{CB60FB01-C8B5-4FF1-802A-AC179FB68351}"/>
              </a:ext>
            </a:extLst>
          </p:cNvPr>
          <p:cNvSpPr>
            <a:spLocks xmlns:a="http://schemas.openxmlformats.org/drawingml/2006/main" noGrp="1"/>
          </p:cNvSpPr>
          <p:nvPr/>
        </p:nvSpPr>
        <p:spPr>
          <a:xfrm xmlns:a="http://schemas.openxmlformats.org/drawingml/2006/main">
            <a:off x="19145250" y="18764250"/>
            <a:ext cx="16859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805299"/>
                </a:solidFill>
                <a:latin typeface="Arial"/>
                <a:ea typeface="Arial"/>
                <a:cs typeface="Arial"/>
              </a:defRPr>
            </a:pPr>
            <a:r>
              <a:rPr sz="2100" b="1">
                <a:solidFill>
                  <a:srgbClr val="805299"/>
                </a:solidFill>
                <a:latin typeface="Arial"/>
                <a:ea typeface="Arial"/>
                <a:cs typeface="Arial"/>
              </a:rPr>
              <a:t>PLANNED: current dashboard uses static demo values. Training and inference are not connected.</a:t>
            </a:r>
          </a:p>
        </p:txBody>
      </p:sp>
      <p:sp>
        <p:nvSpPr>
          <p:cNvPr id="193" name="">
            <a:extLst xmlns:a="http://schemas.openxmlformats.org/drawingml/2006/main">
              <a:ext uri="{FF2B5EF4-FFF2-40B4-BE49-F238E27FC236}">
                <a16:creationId xmlns:a16="http://schemas.microsoft.com/office/drawing/2014/main" id="{81590E9A-A5EE-484F-B166-F108792ACE2E}"/>
              </a:ext>
            </a:extLst>
          </p:cNvPr>
          <p:cNvSpPr>
            <a:spLocks xmlns:a="http://schemas.openxmlformats.org/drawingml/2006/main" noGrp="1"/>
          </p:cNvSpPr>
          <p:nvPr/>
        </p:nvSpPr>
        <p:spPr>
          <a:xfrm xmlns:a="http://schemas.openxmlformats.org/drawingml/2006/main">
            <a:off x="571500" y="19812000"/>
            <a:ext cx="3524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88766B"/>
                </a:solidFill>
                <a:latin typeface="Arial"/>
                <a:ea typeface="Arial"/>
                <a:cs typeface="Arial"/>
              </a:defRPr>
            </a:pPr>
            <a:r>
              <a:rPr sz="2025" b="0">
                <a:solidFill>
                  <a:srgbClr val="88766B"/>
                </a:solidFill>
                <a:latin typeface="Arial"/>
                <a:ea typeface="Arial"/>
                <a:cs typeface="Arial"/>
              </a:rPr>
              <a:t>CloudWatch + Secrets Manager: client helpers only.  MCP: separate stdio prototype with a fixed demo user.  AWS hosting and live operation: unverified.</a:t>
            </a:r>
          </a:p>
        </p:txBody>
      </p:sp>
    </p:spTree>
    <p:extLst>
      <p:ext uri="{BB962C8B-B14F-4D97-AF65-F5344CB8AC3E}">
        <p14:creationId xmlns:p14="http://schemas.microsoft.com/office/powerpoint/2010/main" val="151824549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2026-09-12T14:00:32.0480000Z</dcterms:created>
  <dcterms:modified xsi:type="dcterms:W3CDTF">2026-09-12T14:00:32.0480000Z</dcterms:modified>
</coreProperties>
</file>