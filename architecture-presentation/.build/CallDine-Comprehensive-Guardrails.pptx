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e452895d4d14825" /><Relationship Type="http://schemas.openxmlformats.org/officeDocument/2006/relationships/extended-properties" Target="/docProps/app.xml" Id="R45367313a5d045ca" /><Relationship Type="http://schemas.openxmlformats.org/officeDocument/2006/relationships/officeDocument" Target="/ppt/presentation.xml" Id="R506f93326f7945fb" /></Relationships>
</file>

<file path=ppt/presentation.xml><?xml version="1.0" encoding="utf-8"?>
<p:presentation xmlns:p="http://schemas.openxmlformats.org/presentationml/2006/main">
  <p:sldMasterIdLst>
    <p:sldMasterId xmlns:r="http://schemas.openxmlformats.org/officeDocument/2006/relationships" id="2147483648" r:id="R54c68b11a2ef407a"/>
  </p:sldMasterIdLst>
  <p:notesMasterIdLst>
    <p:notesMasterId xmlns:r="http://schemas.openxmlformats.org/officeDocument/2006/relationships" r:id="R2306da49e9b74f19"/>
  </p:notesMasterIdLst>
  <p:sldIdLst>
    <p:sldId xmlns:r="http://schemas.openxmlformats.org/officeDocument/2006/relationships" id="256" r:id="Re21f726ab3d6456a"/>
  </p:sldIdLst>
  <p:sldSz cx="36576000" cy="20574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1234e41d564157" /><Relationship Type="http://schemas.openxmlformats.org/officeDocument/2006/relationships/slideMaster" Target="/ppt/slideMasters/slideMaster1.xml" Id="R54c68b11a2ef407a" /><Relationship Type="http://schemas.openxmlformats.org/officeDocument/2006/relationships/notesMaster" Target="/ppt/notesMasters/notesMaster1.xml" Id="R2306da49e9b74f19" /><Relationship Type="http://schemas.openxmlformats.org/officeDocument/2006/relationships/presProps" Target="/ppt/presProps.xml" Id="R2879cb9f410b4c9f" /><Relationship Type="http://schemas.openxmlformats.org/officeDocument/2006/relationships/tableStyles" Target="/ppt/tableStyles.xml" Id="Rd7cf8f21db7d4f95" /><Relationship Type="http://schemas.openxmlformats.org/officeDocument/2006/relationships/slide" Target="/ppt/slides/slide1.xml" Id="Re21f726ab3d6456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f74154883e142c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970fdabce647c4" /><Relationship Type="http://schemas.openxmlformats.org/officeDocument/2006/relationships/notesMaster" Target="/ppt/notesMasters/notesMaster1.xml" Id="R70cce0e97a0045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map covers application runtime, operational persistence, PDF ingestion, Titan text embeddings, Qdrant storage and retrieval, Bedrock tool execution, the eight business tools, the complete voice loop, Chime session setup, recordings and S3 prefixes, and planned SageMaker forecasting. Workflow arrows show logical stages; backend services coordinate calls. Bedrock never connects directly to SQLite or Qdrant. Qdrant runs in Docker. Optional Guardrails attach to chat requests; policy configuration was not verified. Order and booking approval relies on model-supplied flags and backend business validation; concurrency and idempotency guarantees are not established. Knowledge processing is in-process rather than an external queue. Native token streaming applies only to some answer paths. Voice playback is turn-based. The separate MCP adapter is not part of the main chat path.</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Guardrails policy documentation: https://docs.aws.amazon.com/bedrock/latest/userguide/guardrails-components.html and https://docs.aws.amazon.com/bedrock/latest/userguide/guardrails-prompt-attack.html . Policies are configuration-dependent and not verified as enabled in this AWS account.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19a0d5cee74cf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8163f78acb45f5" /><Relationship Type="http://schemas.openxmlformats.org/officeDocument/2006/relationships/slideLayout" Target="/ppt/slideLayouts/slideLayout1.xml" Id="Rb36ee880dea64a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6ee880dea64a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fecde0e54884a0e" /><Relationship Type="http://schemas.openxmlformats.org/officeDocument/2006/relationships/image" Target="/ppt/media/image.png" Id="R521a5bdc797e4b19" /><Relationship Type="http://schemas.openxmlformats.org/officeDocument/2006/relationships/image" Target="/ppt/media/image2.png" Id="Ra433d92117ad45f7" /><Relationship Type="http://schemas.openxmlformats.org/officeDocument/2006/relationships/image" Target="/ppt/media/image3.png" Id="R2072900e9e2f42ef" /><Relationship Type="http://schemas.openxmlformats.org/officeDocument/2006/relationships/image" Target="/ppt/media/image4.png" Id="Rcb669ada16744f38" /><Relationship Type="http://schemas.openxmlformats.org/officeDocument/2006/relationships/image" Target="/ppt/media/image5.png" Id="Rbdfc24b36e4547ca" /><Relationship Type="http://schemas.openxmlformats.org/officeDocument/2006/relationships/image" Target="/ppt/media/image6.png" Id="R03e74c26e0054197" /><Relationship Type="http://schemas.openxmlformats.org/officeDocument/2006/relationships/image" Target="/ppt/media/image7.png" Id="R78a4e57eded04866" /><Relationship Type="http://schemas.openxmlformats.org/officeDocument/2006/relationships/image" Target="/ppt/media/image8.png" Id="R23a3b8ccc7374f1e" /><Relationship Type="http://schemas.openxmlformats.org/officeDocument/2006/relationships/image" Target="/ppt/media/image9.png" Id="R6245113430914723" /><Relationship Type="http://schemas.openxmlformats.org/officeDocument/2006/relationships/image" Target="/ppt/media/image10.png" Id="R5e24d7aa39e04dd3" /><Relationship Type="http://schemas.openxmlformats.org/officeDocument/2006/relationships/image" Target="/ppt/media/image11.png" Id="R0d874f2b89524c8d" /><Relationship Type="http://schemas.openxmlformats.org/officeDocument/2006/relationships/image" Target="/ppt/media/image12.png" Id="Rbb0f5a81e4a04431" /><Relationship Type="http://schemas.openxmlformats.org/officeDocument/2006/relationships/image" Target="/ppt/media/image13.png" Id="R4829471433694313" /><Relationship Type="http://schemas.openxmlformats.org/officeDocument/2006/relationships/image" Target="/ppt/media/image14.png" Id="R561ab98084774cda" /><Relationship Type="http://schemas.openxmlformats.org/officeDocument/2006/relationships/image" Target="/ppt/media/image15.png" Id="Rf3a6e4b187dc49b5" /><Relationship Type="http://schemas.openxmlformats.org/officeDocument/2006/relationships/image" Target="/ppt/media/image16.png" Id="R613191e51ab24b30" /><Relationship Type="http://schemas.openxmlformats.org/officeDocument/2006/relationships/image" Target="/ppt/media/image17.png" Id="R6c745009cdba44f0" /><Relationship Type="http://schemas.openxmlformats.org/officeDocument/2006/relationships/image" Target="/ppt/media/image18.png" Id="R4b7ac6e4f6274055" /><Relationship Type="http://schemas.openxmlformats.org/officeDocument/2006/relationships/image" Target="/ppt/media/image19.png" Id="R991f97abc4364d1a" /><Relationship Type="http://schemas.openxmlformats.org/officeDocument/2006/relationships/image" Target="/ppt/media/image20.png" Id="Rfc5844ac33d74985" /><Relationship Type="http://schemas.openxmlformats.org/officeDocument/2006/relationships/image" Target="/ppt/media/image21.png" Id="R6d60ba98c1cb4f18" /><Relationship Type="http://schemas.openxmlformats.org/officeDocument/2006/relationships/image" Target="/ppt/media/image22.png" Id="Ra9c007df6a814838" /><Relationship Type="http://schemas.openxmlformats.org/officeDocument/2006/relationships/image" Target="/ppt/media/image23.png" Id="R20b30e0fb94c4868" /><Relationship Type="http://schemas.openxmlformats.org/officeDocument/2006/relationships/image" Target="/ppt/media/image24.png" Id="R5b50c05fde124ecc" /><Relationship Type="http://schemas.openxmlformats.org/officeDocument/2006/relationships/image" Target="/ppt/media/image25.png" Id="Rb133dd5c816e4e34" /><Relationship Type="http://schemas.openxmlformats.org/officeDocument/2006/relationships/image" Target="/ppt/media/image26.png" Id="Rc42e7843e4034da3" /><Relationship Type="http://schemas.openxmlformats.org/officeDocument/2006/relationships/image" Target="/ppt/media/image27.png" Id="R81793775b1094301" /><Relationship Type="http://schemas.openxmlformats.org/officeDocument/2006/relationships/image" Target="/ppt/media/image28.png" Id="Rcd78edfbb79f4f2f" /><Relationship Type="http://schemas.openxmlformats.org/officeDocument/2006/relationships/image" Target="/ppt/media/image29.png" Id="R77f2865b613f4a3b" /><Relationship Type="http://schemas.openxmlformats.org/officeDocument/2006/relationships/image" Target="/ppt/media/image30.png" Id="Ree142a7ab2914be2" /><Relationship Type="http://schemas.openxmlformats.org/officeDocument/2006/relationships/image" Target="/ppt/media/image31.png" Id="R212401993abb4657" /><Relationship Type="http://schemas.openxmlformats.org/officeDocument/2006/relationships/image" Target="/ppt/media/image32.png" Id="R890c199510c14db3" /><Relationship Type="http://schemas.openxmlformats.org/officeDocument/2006/relationships/image" Target="/ppt/media/image33.png" Id="Re1f4a1ca072b4e08" /><Relationship Type="http://schemas.openxmlformats.org/officeDocument/2006/relationships/notesSlide" Target="/ppt/notesSlides/notesSlide1.xml" Id="R7cfb4c50e02045b0" /></Relationships>
</file>

<file path=ppt/slides/slide1.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194" name=""/>
          <p:cNvPicPr>
            <a:picLocks xmlns:a="http://schemas.openxmlformats.org/drawingml/2006/main" noChangeAspect="1"/>
          </p:cNvPicPr>
          <p:nvPr/>
        </p:nvPicPr>
        <p:blipFill>
          <a:blip xmlns:r="http://schemas.openxmlformats.org/officeDocument/2006/relationships" xmlns:a="http://schemas.openxmlformats.org/drawingml/2006/main" r:embed="R521a5bdc797e4b19"/>
          <a:stretch xmlns:a="http://schemas.openxmlformats.org/drawingml/2006/main"/>
        </p:blipFill>
        <p:spPr>
          <a:xfrm xmlns:a="http://schemas.openxmlformats.org/drawingml/2006/main">
            <a:off x="571500" y="333375"/>
            <a:ext cx="742950" cy="7429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C24B5AE-D66B-46B5-9D9B-01821EB11F65}"/>
              </a:ext>
            </a:extLst>
          </p:cNvPr>
          <p:cNvSpPr>
            <a:spLocks xmlns:a="http://schemas.openxmlformats.org/drawingml/2006/main" noGrp="1"/>
          </p:cNvSpPr>
          <p:nvPr/>
        </p:nvSpPr>
        <p:spPr>
          <a:xfrm xmlns:a="http://schemas.openxmlformats.org/drawingml/2006/main">
            <a:off x="1485900" y="409575"/>
            <a:ext cx="5048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C9502F"/>
                </a:solidFill>
                <a:latin typeface="Arial"/>
                <a:ea typeface="Arial"/>
                <a:cs typeface="Arial"/>
              </a:defRPr>
            </a:pPr>
            <a:r>
              <a:rPr sz="4500" b="1">
                <a:solidFill>
                  <a:srgbClr val="C9502F"/>
                </a:solidFill>
                <a:latin typeface="Arial"/>
                <a:ea typeface="Arial"/>
                <a:cs typeface="Arial"/>
              </a:rPr>
              <a:t>CallDine</a:t>
            </a:r>
          </a:p>
        </p:txBody>
      </p:sp>
      <p:pic>
        <p:nvPicPr>
          <p:cNvPr id="196" name=""/>
          <p:cNvPicPr>
            <a:picLocks xmlns:a="http://schemas.openxmlformats.org/drawingml/2006/main" noChangeAspect="1"/>
          </p:cNvPicPr>
          <p:nvPr/>
        </p:nvPicPr>
        <p:blipFill>
          <a:blip xmlns:r="http://schemas.openxmlformats.org/officeDocument/2006/relationships" xmlns:a="http://schemas.openxmlformats.org/drawingml/2006/main" r:embed="Ra433d92117ad45f7"/>
          <a:stretch xmlns:a="http://schemas.openxmlformats.org/drawingml/2006/main"/>
        </p:blipFill>
        <p:spPr>
          <a:xfrm xmlns:a="http://schemas.openxmlformats.org/drawingml/2006/main">
            <a:off x="31904214" y="142875"/>
            <a:ext cx="3628571" cy="1905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B03EBC8-9E5B-4DB0-B148-8A343A2D9124}"/>
              </a:ext>
            </a:extLst>
          </p:cNvPr>
          <p:cNvSpPr>
            <a:spLocks xmlns:a="http://schemas.openxmlformats.org/drawingml/2006/main" noGrp="1"/>
          </p:cNvSpPr>
          <p:nvPr/>
        </p:nvSpPr>
        <p:spPr>
          <a:xfrm xmlns:a="http://schemas.openxmlformats.org/drawingml/2006/main">
            <a:off x="571500" y="1428750"/>
            <a:ext cx="2971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34231D"/>
                </a:solidFill>
                <a:latin typeface="Arial"/>
                <a:ea typeface="Arial"/>
                <a:cs typeface="Arial"/>
              </a:defRPr>
            </a:pPr>
            <a:r>
              <a:rPr sz="5700" b="1">
                <a:solidFill>
                  <a:srgbClr val="34231D"/>
                </a:solidFill>
                <a:latin typeface="Arial"/>
                <a:ea typeface="Arial"/>
                <a:cs typeface="Arial"/>
              </a:rPr>
              <a:t>Complete architecture and workflow map</a:t>
            </a:r>
          </a:p>
        </p:txBody>
      </p:sp>
      <p:sp>
        <p:nvSpPr>
          <p:cNvPr id="5" name="">
            <a:extLst xmlns:a="http://schemas.openxmlformats.org/drawingml/2006/main">
              <a:ext uri="{FF2B5EF4-FFF2-40B4-BE49-F238E27FC236}">
                <a16:creationId xmlns:a16="http://schemas.microsoft.com/office/drawing/2014/main" id="{60B7CC0C-7BCE-4F5C-A26E-1711D480F2A6}"/>
              </a:ext>
            </a:extLst>
          </p:cNvPr>
          <p:cNvSpPr>
            <a:spLocks xmlns:a="http://schemas.openxmlformats.org/drawingml/2006/main" noGrp="1"/>
          </p:cNvSpPr>
          <p:nvPr/>
        </p:nvSpPr>
        <p:spPr>
          <a:xfrm xmlns:a="http://schemas.openxmlformats.org/drawingml/2006/main">
            <a:off x="619125" y="2505075"/>
            <a:ext cx="3333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88766B"/>
                </a:solidFill>
                <a:latin typeface="Arial"/>
                <a:ea typeface="Arial"/>
                <a:cs typeface="Arial"/>
              </a:defRPr>
            </a:pPr>
            <a:r>
              <a:rPr sz="2850" b="0">
                <a:solidFill>
                  <a:srgbClr val="88766B"/>
                </a:solidFill>
                <a:latin typeface="Arial"/>
                <a:ea typeface="Arial"/>
                <a:cs typeface="Arial"/>
              </a:rPr>
              <a:t>Workflow arrows show processing order. FastAPI coordinates AWS calls, tool execution and data access.</a:t>
            </a:r>
          </a:p>
        </p:txBody>
      </p:sp>
      <p:sp>
        <p:nvSpPr>
          <p:cNvPr id="6" name="">
            <a:extLst xmlns:a="http://schemas.openxmlformats.org/drawingml/2006/main">
              <a:ext uri="{FF2B5EF4-FFF2-40B4-BE49-F238E27FC236}">
                <a16:creationId xmlns:a16="http://schemas.microsoft.com/office/drawing/2014/main" id="{D7586CAA-4671-4ED8-BB9E-06842C17D153}"/>
              </a:ext>
            </a:extLst>
          </p:cNvPr>
          <p:cNvSpPr>
            <a:spLocks xmlns:a="http://schemas.openxmlformats.org/drawingml/2006/main" noGrp="1"/>
          </p:cNvSpPr>
          <p:nvPr/>
        </p:nvSpPr>
        <p:spPr>
          <a:xfrm xmlns:a="http://schemas.openxmlformats.org/drawingml/2006/main">
            <a:off x="571500" y="3429000"/>
            <a:ext cx="53340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00" name=""/>
          <p:cNvPicPr>
            <a:picLocks xmlns:a="http://schemas.openxmlformats.org/drawingml/2006/main" noChangeAspect="1"/>
          </p:cNvPicPr>
          <p:nvPr/>
        </p:nvPicPr>
        <p:blipFill>
          <a:blip xmlns:r="http://schemas.openxmlformats.org/officeDocument/2006/relationships" xmlns:a="http://schemas.openxmlformats.org/drawingml/2006/main" r:embed="R2072900e9e2f42ef"/>
          <a:stretch xmlns:a="http://schemas.openxmlformats.org/drawingml/2006/main"/>
        </p:blipFill>
        <p:spPr>
          <a:xfrm xmlns:a="http://schemas.openxmlformats.org/drawingml/2006/main">
            <a:off x="742950" y="3581400"/>
            <a:ext cx="552450" cy="5524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C8A8AC7-E433-4E85-8B41-F0A8EF4393D0}"/>
              </a:ext>
            </a:extLst>
          </p:cNvPr>
          <p:cNvSpPr>
            <a:spLocks xmlns:a="http://schemas.openxmlformats.org/drawingml/2006/main" noGrp="1"/>
          </p:cNvSpPr>
          <p:nvPr/>
        </p:nvSpPr>
        <p:spPr>
          <a:xfrm xmlns:a="http://schemas.openxmlformats.org/drawingml/2006/main">
            <a:off x="762000" y="42100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Customer + admin</a:t>
            </a:r>
          </a:p>
        </p:txBody>
      </p:sp>
      <p:sp>
        <p:nvSpPr>
          <p:cNvPr id="9" name="">
            <a:extLst xmlns:a="http://schemas.openxmlformats.org/drawingml/2006/main">
              <a:ext uri="{FF2B5EF4-FFF2-40B4-BE49-F238E27FC236}">
                <a16:creationId xmlns:a16="http://schemas.microsoft.com/office/drawing/2014/main" id="{09AFA94D-E154-4D1B-837B-D0924CFD6F4B}"/>
              </a:ext>
            </a:extLst>
          </p:cNvPr>
          <p:cNvSpPr>
            <a:spLocks xmlns:a="http://schemas.openxmlformats.org/drawingml/2006/main" noGrp="1"/>
          </p:cNvSpPr>
          <p:nvPr/>
        </p:nvSpPr>
        <p:spPr>
          <a:xfrm xmlns:a="http://schemas.openxmlformats.org/drawingml/2006/main">
            <a:off x="762000" y="4876800"/>
            <a:ext cx="4953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Chat, voice, orders, menu, bookings</a:t>
            </a:r>
          </a:p>
        </p:txBody>
      </p:sp>
      <p:sp>
        <p:nvSpPr>
          <p:cNvPr id="10" name="">
            <a:extLst xmlns:a="http://schemas.openxmlformats.org/drawingml/2006/main">
              <a:ext uri="{FF2B5EF4-FFF2-40B4-BE49-F238E27FC236}">
                <a16:creationId xmlns:a16="http://schemas.microsoft.com/office/drawing/2014/main" id="{9A5EC872-30E9-4C55-8E71-06361A172702}"/>
              </a:ext>
            </a:extLst>
          </p:cNvPr>
          <p:cNvSpPr>
            <a:spLocks xmlns:a="http://schemas.openxmlformats.org/drawingml/2006/main" noGrp="1"/>
          </p:cNvSpPr>
          <p:nvPr/>
        </p:nvSpPr>
        <p:spPr>
          <a:xfrm xmlns:a="http://schemas.openxmlformats.org/drawingml/2006/main">
            <a:off x="6572250" y="3429000"/>
            <a:ext cx="53340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04" name=""/>
          <p:cNvPicPr>
            <a:picLocks xmlns:a="http://schemas.openxmlformats.org/drawingml/2006/main" noChangeAspect="1"/>
          </p:cNvPicPr>
          <p:nvPr/>
        </p:nvPicPr>
        <p:blipFill>
          <a:blip xmlns:r="http://schemas.openxmlformats.org/officeDocument/2006/relationships" xmlns:a="http://schemas.openxmlformats.org/drawingml/2006/main" r:embed="Rcb669ada16744f38"/>
          <a:stretch xmlns:a="http://schemas.openxmlformats.org/drawingml/2006/main"/>
        </p:blipFill>
        <p:spPr>
          <a:xfrm xmlns:a="http://schemas.openxmlformats.org/drawingml/2006/main">
            <a:off x="6743700" y="3581400"/>
            <a:ext cx="552450" cy="5524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E54749A0-138E-4FBA-AE27-038118A6D771}"/>
              </a:ext>
            </a:extLst>
          </p:cNvPr>
          <p:cNvSpPr>
            <a:spLocks xmlns:a="http://schemas.openxmlformats.org/drawingml/2006/main" noGrp="1"/>
          </p:cNvSpPr>
          <p:nvPr/>
        </p:nvSpPr>
        <p:spPr>
          <a:xfrm xmlns:a="http://schemas.openxmlformats.org/drawingml/2006/main">
            <a:off x="6762750" y="42100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Next.js frontend + API</a:t>
            </a:r>
          </a:p>
        </p:txBody>
      </p:sp>
      <p:sp>
        <p:nvSpPr>
          <p:cNvPr id="13" name="">
            <a:extLst xmlns:a="http://schemas.openxmlformats.org/drawingml/2006/main">
              <a:ext uri="{FF2B5EF4-FFF2-40B4-BE49-F238E27FC236}">
                <a16:creationId xmlns:a16="http://schemas.microsoft.com/office/drawing/2014/main" id="{D84E6FBF-60F4-4FF2-8192-E31EA60AE0B3}"/>
              </a:ext>
            </a:extLst>
          </p:cNvPr>
          <p:cNvSpPr>
            <a:spLocks xmlns:a="http://schemas.openxmlformats.org/drawingml/2006/main" noGrp="1"/>
          </p:cNvSpPr>
          <p:nvPr/>
        </p:nvSpPr>
        <p:spPr>
          <a:xfrm xmlns:a="http://schemas.openxmlformats.org/drawingml/2006/main">
            <a:off x="6762750" y="4876800"/>
            <a:ext cx="4953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Session cookie forwarded as bearer token</a:t>
            </a:r>
          </a:p>
        </p:txBody>
      </p:sp>
      <p:sp>
        <p:nvSpPr>
          <p:cNvPr id="14" name="">
            <a:extLst xmlns:a="http://schemas.openxmlformats.org/drawingml/2006/main">
              <a:ext uri="{FF2B5EF4-FFF2-40B4-BE49-F238E27FC236}">
                <a16:creationId xmlns:a16="http://schemas.microsoft.com/office/drawing/2014/main" id="{E49F6905-3854-4FF1-8C09-3501CD4A4D9F}"/>
              </a:ext>
            </a:extLst>
          </p:cNvPr>
          <p:cNvSpPr>
            <a:spLocks xmlns:a="http://schemas.openxmlformats.org/drawingml/2006/main" noGrp="1"/>
          </p:cNvSpPr>
          <p:nvPr/>
        </p:nvSpPr>
        <p:spPr>
          <a:xfrm xmlns:a="http://schemas.openxmlformats.org/drawingml/2006/main">
            <a:off x="12573000" y="3429000"/>
            <a:ext cx="53340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5" name="">
            <a:extLst xmlns:a="http://schemas.openxmlformats.org/drawingml/2006/main">
              <a:ext uri="{FF2B5EF4-FFF2-40B4-BE49-F238E27FC236}">
                <a16:creationId xmlns:a16="http://schemas.microsoft.com/office/drawing/2014/main" id="{257E83D3-A15B-4D96-B898-0EF6B66E23D0}"/>
              </a:ext>
            </a:extLst>
          </p:cNvPr>
          <p:cNvSpPr>
            <a:spLocks xmlns:a="http://schemas.openxmlformats.org/drawingml/2006/main" noGrp="1"/>
          </p:cNvSpPr>
          <p:nvPr/>
        </p:nvSpPr>
        <p:spPr>
          <a:xfrm xmlns:a="http://schemas.openxmlformats.org/drawingml/2006/main">
            <a:off x="12744450" y="358140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209" name=""/>
          <p:cNvPicPr>
            <a:picLocks xmlns:a="http://schemas.openxmlformats.org/drawingml/2006/main" noChangeAspect="1"/>
          </p:cNvPicPr>
          <p:nvPr/>
        </p:nvPicPr>
        <p:blipFill>
          <a:blip xmlns:r="http://schemas.openxmlformats.org/officeDocument/2006/relationships" xmlns:a="http://schemas.openxmlformats.org/drawingml/2006/main" r:embed="Rbdfc24b36e4547ca"/>
          <a:stretch xmlns:a="http://schemas.openxmlformats.org/drawingml/2006/main"/>
        </p:blipFill>
        <p:spPr>
          <a:xfrm xmlns:a="http://schemas.openxmlformats.org/drawingml/2006/main">
            <a:off x="12744450" y="3581400"/>
            <a:ext cx="552450" cy="5524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7EF4C7E7-C176-4B5E-9965-669AE1CA9E20}"/>
              </a:ext>
            </a:extLst>
          </p:cNvPr>
          <p:cNvSpPr>
            <a:spLocks xmlns:a="http://schemas.openxmlformats.org/drawingml/2006/main" noGrp="1"/>
          </p:cNvSpPr>
          <p:nvPr/>
        </p:nvSpPr>
        <p:spPr>
          <a:xfrm xmlns:a="http://schemas.openxmlformats.org/drawingml/2006/main">
            <a:off x="12763500" y="42100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FastAPI API routes</a:t>
            </a:r>
          </a:p>
        </p:txBody>
      </p:sp>
      <p:sp>
        <p:nvSpPr>
          <p:cNvPr id="18" name="">
            <a:extLst xmlns:a="http://schemas.openxmlformats.org/drawingml/2006/main">
              <a:ext uri="{FF2B5EF4-FFF2-40B4-BE49-F238E27FC236}">
                <a16:creationId xmlns:a16="http://schemas.microsoft.com/office/drawing/2014/main" id="{28156C5A-81F1-402E-99AA-EDB53CA48479}"/>
              </a:ext>
            </a:extLst>
          </p:cNvPr>
          <p:cNvSpPr>
            <a:spLocks xmlns:a="http://schemas.openxmlformats.org/drawingml/2006/main" noGrp="1"/>
          </p:cNvSpPr>
          <p:nvPr/>
        </p:nvSpPr>
        <p:spPr>
          <a:xfrm xmlns:a="http://schemas.openxmlformats.org/drawingml/2006/main">
            <a:off x="12763500" y="4876800"/>
            <a:ext cx="4953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Authentication and request validation</a:t>
            </a:r>
          </a:p>
        </p:txBody>
      </p:sp>
      <p:sp>
        <p:nvSpPr>
          <p:cNvPr id="19" name="">
            <a:extLst xmlns:a="http://schemas.openxmlformats.org/drawingml/2006/main">
              <a:ext uri="{FF2B5EF4-FFF2-40B4-BE49-F238E27FC236}">
                <a16:creationId xmlns:a16="http://schemas.microsoft.com/office/drawing/2014/main" id="{FF6E5ACE-61BB-4920-9187-370B6B30C851}"/>
              </a:ext>
            </a:extLst>
          </p:cNvPr>
          <p:cNvSpPr>
            <a:spLocks xmlns:a="http://schemas.openxmlformats.org/drawingml/2006/main" noGrp="1"/>
          </p:cNvSpPr>
          <p:nvPr/>
        </p:nvSpPr>
        <p:spPr>
          <a:xfrm xmlns:a="http://schemas.openxmlformats.org/drawingml/2006/main">
            <a:off x="18573750" y="3429000"/>
            <a:ext cx="53340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0" name="">
            <a:extLst xmlns:a="http://schemas.openxmlformats.org/drawingml/2006/main">
              <a:ext uri="{FF2B5EF4-FFF2-40B4-BE49-F238E27FC236}">
                <a16:creationId xmlns:a16="http://schemas.microsoft.com/office/drawing/2014/main" id="{443C9F09-C7C3-45B4-B2C0-C84D6F0C12EC}"/>
              </a:ext>
            </a:extLst>
          </p:cNvPr>
          <p:cNvSpPr>
            <a:spLocks xmlns:a="http://schemas.openxmlformats.org/drawingml/2006/main" noGrp="1"/>
          </p:cNvSpPr>
          <p:nvPr/>
        </p:nvSpPr>
        <p:spPr>
          <a:xfrm xmlns:a="http://schemas.openxmlformats.org/drawingml/2006/main">
            <a:off x="18745200" y="358140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214" name=""/>
          <p:cNvPicPr>
            <a:picLocks xmlns:a="http://schemas.openxmlformats.org/drawingml/2006/main" noChangeAspect="1"/>
          </p:cNvPicPr>
          <p:nvPr/>
        </p:nvPicPr>
        <p:blipFill>
          <a:blip xmlns:r="http://schemas.openxmlformats.org/officeDocument/2006/relationships" xmlns:a="http://schemas.openxmlformats.org/drawingml/2006/main" r:embed="R03e74c26e0054197"/>
          <a:stretch xmlns:a="http://schemas.openxmlformats.org/drawingml/2006/main"/>
        </p:blipFill>
        <p:spPr>
          <a:xfrm xmlns:a="http://schemas.openxmlformats.org/drawingml/2006/main">
            <a:off x="18745200" y="3581400"/>
            <a:ext cx="552450" cy="55245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5383401A-DA62-4A4A-923B-1E67DF44583E}"/>
              </a:ext>
            </a:extLst>
          </p:cNvPr>
          <p:cNvSpPr>
            <a:spLocks xmlns:a="http://schemas.openxmlformats.org/drawingml/2006/main" noGrp="1"/>
          </p:cNvSpPr>
          <p:nvPr/>
        </p:nvSpPr>
        <p:spPr>
          <a:xfrm xmlns:a="http://schemas.openxmlformats.org/drawingml/2006/main">
            <a:off x="18764250" y="42100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Application services</a:t>
            </a:r>
          </a:p>
        </p:txBody>
      </p:sp>
      <p:sp>
        <p:nvSpPr>
          <p:cNvPr id="23" name="">
            <a:extLst xmlns:a="http://schemas.openxmlformats.org/drawingml/2006/main">
              <a:ext uri="{FF2B5EF4-FFF2-40B4-BE49-F238E27FC236}">
                <a16:creationId xmlns:a16="http://schemas.microsoft.com/office/drawing/2014/main" id="{7A314B24-4680-4A3A-AC63-0B35BB71DB48}"/>
              </a:ext>
            </a:extLst>
          </p:cNvPr>
          <p:cNvSpPr>
            <a:spLocks xmlns:a="http://schemas.openxmlformats.org/drawingml/2006/main" noGrp="1"/>
          </p:cNvSpPr>
          <p:nvPr/>
        </p:nvSpPr>
        <p:spPr>
          <a:xfrm xmlns:a="http://schemas.openxmlformats.org/drawingml/2006/main">
            <a:off x="18764250" y="4876800"/>
            <a:ext cx="4953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Chat, voice, knowledge, menu, orders, reservations</a:t>
            </a:r>
          </a:p>
        </p:txBody>
      </p:sp>
      <p:sp>
        <p:nvSpPr>
          <p:cNvPr id="24" name="">
            <a:extLst xmlns:a="http://schemas.openxmlformats.org/drawingml/2006/main">
              <a:ext uri="{FF2B5EF4-FFF2-40B4-BE49-F238E27FC236}">
                <a16:creationId xmlns:a16="http://schemas.microsoft.com/office/drawing/2014/main" id="{76090AF9-B207-4BA3-B580-F2195B2707DA}"/>
              </a:ext>
            </a:extLst>
          </p:cNvPr>
          <p:cNvSpPr>
            <a:spLocks xmlns:a="http://schemas.openxmlformats.org/drawingml/2006/main" noGrp="1"/>
          </p:cNvSpPr>
          <p:nvPr/>
        </p:nvSpPr>
        <p:spPr>
          <a:xfrm xmlns:a="http://schemas.openxmlformats.org/drawingml/2006/main">
            <a:off x="24574500" y="3429000"/>
            <a:ext cx="53340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5" name="">
            <a:extLst xmlns:a="http://schemas.openxmlformats.org/drawingml/2006/main">
              <a:ext uri="{FF2B5EF4-FFF2-40B4-BE49-F238E27FC236}">
                <a16:creationId xmlns:a16="http://schemas.microsoft.com/office/drawing/2014/main" id="{E144D257-9AE7-4D4B-86FD-0C8F8F2CDEB2}"/>
              </a:ext>
            </a:extLst>
          </p:cNvPr>
          <p:cNvSpPr>
            <a:spLocks xmlns:a="http://schemas.openxmlformats.org/drawingml/2006/main" noGrp="1"/>
          </p:cNvSpPr>
          <p:nvPr/>
        </p:nvSpPr>
        <p:spPr>
          <a:xfrm xmlns:a="http://schemas.openxmlformats.org/drawingml/2006/main">
            <a:off x="24765000" y="36004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SQLModel repositories</a:t>
            </a:r>
          </a:p>
        </p:txBody>
      </p:sp>
      <p:sp>
        <p:nvSpPr>
          <p:cNvPr id="26" name="">
            <a:extLst xmlns:a="http://schemas.openxmlformats.org/drawingml/2006/main">
              <a:ext uri="{FF2B5EF4-FFF2-40B4-BE49-F238E27FC236}">
                <a16:creationId xmlns:a16="http://schemas.microsoft.com/office/drawing/2014/main" id="{07F3E8B6-04FA-4B91-81ED-1B930F164BFD}"/>
              </a:ext>
            </a:extLst>
          </p:cNvPr>
          <p:cNvSpPr>
            <a:spLocks xmlns:a="http://schemas.openxmlformats.org/drawingml/2006/main" noGrp="1"/>
          </p:cNvSpPr>
          <p:nvPr/>
        </p:nvSpPr>
        <p:spPr>
          <a:xfrm xmlns:a="http://schemas.openxmlformats.org/drawingml/2006/main">
            <a:off x="24765000" y="4267200"/>
            <a:ext cx="49530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Controlled database reads and writes</a:t>
            </a:r>
          </a:p>
        </p:txBody>
      </p:sp>
      <p:sp>
        <p:nvSpPr>
          <p:cNvPr id="27" name="">
            <a:extLst xmlns:a="http://schemas.openxmlformats.org/drawingml/2006/main">
              <a:ext uri="{FF2B5EF4-FFF2-40B4-BE49-F238E27FC236}">
                <a16:creationId xmlns:a16="http://schemas.microsoft.com/office/drawing/2014/main" id="{2D1163E9-93D8-4B84-BCA8-7EB902FD805F}"/>
              </a:ext>
            </a:extLst>
          </p:cNvPr>
          <p:cNvSpPr>
            <a:spLocks xmlns:a="http://schemas.openxmlformats.org/drawingml/2006/main" noGrp="1"/>
          </p:cNvSpPr>
          <p:nvPr/>
        </p:nvSpPr>
        <p:spPr>
          <a:xfrm xmlns:a="http://schemas.openxmlformats.org/drawingml/2006/main">
            <a:off x="30575250" y="3429000"/>
            <a:ext cx="53340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21" name=""/>
          <p:cNvPicPr>
            <a:picLocks xmlns:a="http://schemas.openxmlformats.org/drawingml/2006/main" noChangeAspect="1"/>
          </p:cNvPicPr>
          <p:nvPr/>
        </p:nvPicPr>
        <p:blipFill>
          <a:blip xmlns:r="http://schemas.openxmlformats.org/officeDocument/2006/relationships" xmlns:a="http://schemas.openxmlformats.org/drawingml/2006/main" r:embed="R78a4e57eded04866"/>
          <a:stretch xmlns:a="http://schemas.openxmlformats.org/drawingml/2006/main"/>
        </p:blipFill>
        <p:spPr>
          <a:xfrm xmlns:a="http://schemas.openxmlformats.org/drawingml/2006/main">
            <a:off x="30991379" y="3552825"/>
            <a:ext cx="1120366" cy="51435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9E1A813E-5727-4BBB-A18F-2CC88316FFD2}"/>
              </a:ext>
            </a:extLst>
          </p:cNvPr>
          <p:cNvSpPr>
            <a:spLocks xmlns:a="http://schemas.openxmlformats.org/drawingml/2006/main" noGrp="1"/>
          </p:cNvSpPr>
          <p:nvPr/>
        </p:nvSpPr>
        <p:spPr>
          <a:xfrm xmlns:a="http://schemas.openxmlformats.org/drawingml/2006/main">
            <a:off x="30765750" y="42100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SQLite operational data</a:t>
            </a:r>
          </a:p>
        </p:txBody>
      </p:sp>
      <p:sp>
        <p:nvSpPr>
          <p:cNvPr id="30" name="">
            <a:extLst xmlns:a="http://schemas.openxmlformats.org/drawingml/2006/main">
              <a:ext uri="{FF2B5EF4-FFF2-40B4-BE49-F238E27FC236}">
                <a16:creationId xmlns:a16="http://schemas.microsoft.com/office/drawing/2014/main" id="{5882BE44-B57D-4860-B4DE-C4661E151733}"/>
              </a:ext>
            </a:extLst>
          </p:cNvPr>
          <p:cNvSpPr>
            <a:spLocks xmlns:a="http://schemas.openxmlformats.org/drawingml/2006/main" noGrp="1"/>
          </p:cNvSpPr>
          <p:nvPr/>
        </p:nvSpPr>
        <p:spPr>
          <a:xfrm xmlns:a="http://schemas.openxmlformats.org/drawingml/2006/main">
            <a:off x="30765750" y="4876800"/>
            <a:ext cx="4953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Users, messages, orders, stock, tables, jobs, voice settings</a:t>
            </a:r>
          </a:p>
        </p:txBody>
      </p:sp>
      <p:cxnSp>
        <p:nvCxnSpPr>
          <p:cNvPr id="224" name=""/>
          <p:cNvCxnSpPr>
            <a:stCxn xmlns:a="http://schemas.openxmlformats.org/drawingml/2006/main" id="6" idx="3"/>
            <a:endCxn xmlns:a="http://schemas.openxmlformats.org/drawingml/2006/main" id="10" idx="1"/>
          </p:cNvCxnSpPr>
          <p:nvPr/>
        </p:nvCxnSpPr>
        <p:spPr>
          <a:xfrm xmlns:a="http://schemas.openxmlformats.org/drawingml/2006/main">
            <a:off x="5905500" y="4452938"/>
            <a:ext cx="666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25" name=""/>
          <p:cNvCxnSpPr>
            <a:stCxn xmlns:a="http://schemas.openxmlformats.org/drawingml/2006/main" id="10" idx="3"/>
            <a:endCxn xmlns:a="http://schemas.openxmlformats.org/drawingml/2006/main" id="14" idx="1"/>
          </p:cNvCxnSpPr>
          <p:nvPr/>
        </p:nvCxnSpPr>
        <p:spPr>
          <a:xfrm xmlns:a="http://schemas.openxmlformats.org/drawingml/2006/main">
            <a:off x="11906250" y="4452938"/>
            <a:ext cx="666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26" name=""/>
          <p:cNvCxnSpPr>
            <a:stCxn xmlns:a="http://schemas.openxmlformats.org/drawingml/2006/main" id="14" idx="3"/>
            <a:endCxn xmlns:a="http://schemas.openxmlformats.org/drawingml/2006/main" id="19" idx="1"/>
          </p:cNvCxnSpPr>
          <p:nvPr/>
        </p:nvCxnSpPr>
        <p:spPr>
          <a:xfrm xmlns:a="http://schemas.openxmlformats.org/drawingml/2006/main">
            <a:off x="17907000" y="4452938"/>
            <a:ext cx="666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27" name=""/>
          <p:cNvCxnSpPr>
            <a:stCxn xmlns:a="http://schemas.openxmlformats.org/drawingml/2006/main" id="19" idx="3"/>
            <a:endCxn xmlns:a="http://schemas.openxmlformats.org/drawingml/2006/main" id="24" idx="1"/>
          </p:cNvCxnSpPr>
          <p:nvPr/>
        </p:nvCxnSpPr>
        <p:spPr>
          <a:xfrm xmlns:a="http://schemas.openxmlformats.org/drawingml/2006/main">
            <a:off x="23907750" y="4452938"/>
            <a:ext cx="666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28" name=""/>
          <p:cNvCxnSpPr>
            <a:stCxn xmlns:a="http://schemas.openxmlformats.org/drawingml/2006/main" id="24" idx="3"/>
            <a:endCxn xmlns:a="http://schemas.openxmlformats.org/drawingml/2006/main" id="27" idx="1"/>
          </p:cNvCxnSpPr>
          <p:nvPr/>
        </p:nvCxnSpPr>
        <p:spPr>
          <a:xfrm xmlns:a="http://schemas.openxmlformats.org/drawingml/2006/main">
            <a:off x="29908500" y="4452938"/>
            <a:ext cx="666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36" name="">
            <a:extLst xmlns:a="http://schemas.openxmlformats.org/drawingml/2006/main">
              <a:ext uri="{FF2B5EF4-FFF2-40B4-BE49-F238E27FC236}">
                <a16:creationId xmlns:a16="http://schemas.microsoft.com/office/drawing/2014/main" id="{0E0014F9-509A-49E0-8CD9-DC56CBCE5A70}"/>
              </a:ext>
            </a:extLst>
          </p:cNvPr>
          <p:cNvSpPr>
            <a:spLocks xmlns:a="http://schemas.openxmlformats.org/drawingml/2006/main" noGrp="1"/>
          </p:cNvSpPr>
          <p:nvPr/>
        </p:nvSpPr>
        <p:spPr>
          <a:xfrm xmlns:a="http://schemas.openxmlformats.org/drawingml/2006/main">
            <a:off x="571500" y="5953125"/>
            <a:ext cx="1685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C9502F"/>
                </a:solidFill>
                <a:latin typeface="Arial"/>
                <a:ea typeface="Arial"/>
                <a:cs typeface="Arial"/>
              </a:defRPr>
            </a:pPr>
            <a:r>
              <a:rPr sz="2925" b="1">
                <a:solidFill>
                  <a:srgbClr val="C9502F"/>
                </a:solidFill>
                <a:latin typeface="Arial"/>
                <a:ea typeface="Arial"/>
                <a:cs typeface="Arial"/>
              </a:rPr>
              <a:t>A. Restaurant knowledge ingestion</a:t>
            </a:r>
          </a:p>
        </p:txBody>
      </p:sp>
      <p:sp>
        <p:nvSpPr>
          <p:cNvPr id="37" name="">
            <a:extLst xmlns:a="http://schemas.openxmlformats.org/drawingml/2006/main">
              <a:ext uri="{FF2B5EF4-FFF2-40B4-BE49-F238E27FC236}">
                <a16:creationId xmlns:a16="http://schemas.microsoft.com/office/drawing/2014/main" id="{471212F6-25E2-414B-BDD2-0AAC1E4B72FC}"/>
              </a:ext>
            </a:extLst>
          </p:cNvPr>
          <p:cNvSpPr>
            <a:spLocks xmlns:a="http://schemas.openxmlformats.org/drawingml/2006/main" noGrp="1"/>
          </p:cNvSpPr>
          <p:nvPr/>
        </p:nvSpPr>
        <p:spPr>
          <a:xfrm xmlns:a="http://schemas.openxmlformats.org/drawingml/2006/main">
            <a:off x="571500" y="6467475"/>
            <a:ext cx="1685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FastAPI Knowledge Service + in-process BackgroundTasks</a:t>
            </a:r>
          </a:p>
        </p:txBody>
      </p:sp>
      <p:sp>
        <p:nvSpPr>
          <p:cNvPr id="38" name="">
            <a:extLst xmlns:a="http://schemas.openxmlformats.org/drawingml/2006/main">
              <a:ext uri="{FF2B5EF4-FFF2-40B4-BE49-F238E27FC236}">
                <a16:creationId xmlns:a16="http://schemas.microsoft.com/office/drawing/2014/main" id="{D382B288-A08C-4905-BD28-E94523A6C2EE}"/>
              </a:ext>
            </a:extLst>
          </p:cNvPr>
          <p:cNvSpPr>
            <a:spLocks xmlns:a="http://schemas.openxmlformats.org/drawingml/2006/main" noGrp="1"/>
          </p:cNvSpPr>
          <p:nvPr/>
        </p:nvSpPr>
        <p:spPr>
          <a:xfrm xmlns:a="http://schemas.openxmlformats.org/drawingml/2006/main">
            <a:off x="571500" y="6953250"/>
            <a:ext cx="5286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32" name=""/>
          <p:cNvPicPr>
            <a:picLocks xmlns:a="http://schemas.openxmlformats.org/drawingml/2006/main" noChangeAspect="1"/>
          </p:cNvPicPr>
          <p:nvPr/>
        </p:nvPicPr>
        <p:blipFill>
          <a:blip xmlns:r="http://schemas.openxmlformats.org/officeDocument/2006/relationships" xmlns:a="http://schemas.openxmlformats.org/drawingml/2006/main" r:embed="R23a3b8ccc7374f1e"/>
          <a:stretch xmlns:a="http://schemas.openxmlformats.org/drawingml/2006/main"/>
        </p:blipFill>
        <p:spPr>
          <a:xfrm xmlns:a="http://schemas.openxmlformats.org/drawingml/2006/main">
            <a:off x="742950" y="7105650"/>
            <a:ext cx="552450" cy="552450"/>
          </a:xfrm>
          <a:prstGeom xmlns:a="http://schemas.openxmlformats.org/drawingml/2006/main" prst="rect">
            <a:avLst/>
          </a:prstGeom>
        </p:spPr>
      </p:pic>
      <p:sp>
        <p:nvSpPr>
          <p:cNvPr id="40" name="">
            <a:extLst xmlns:a="http://schemas.openxmlformats.org/drawingml/2006/main">
              <a:ext uri="{FF2B5EF4-FFF2-40B4-BE49-F238E27FC236}">
                <a16:creationId xmlns:a16="http://schemas.microsoft.com/office/drawing/2014/main" id="{875FABB1-85E4-4724-BFB7-069FA3AD9686}"/>
              </a:ext>
            </a:extLst>
          </p:cNvPr>
          <p:cNvSpPr>
            <a:spLocks xmlns:a="http://schemas.openxmlformats.org/drawingml/2006/main" noGrp="1"/>
          </p:cNvSpPr>
          <p:nvPr/>
        </p:nvSpPr>
        <p:spPr>
          <a:xfrm xmlns:a="http://schemas.openxmlformats.org/drawingml/2006/main">
            <a:off x="762000" y="773430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1. Admin uploads PDF</a:t>
            </a:r>
          </a:p>
        </p:txBody>
      </p:sp>
      <p:sp>
        <p:nvSpPr>
          <p:cNvPr id="41" name="">
            <a:extLst xmlns:a="http://schemas.openxmlformats.org/drawingml/2006/main">
              <a:ext uri="{FF2B5EF4-FFF2-40B4-BE49-F238E27FC236}">
                <a16:creationId xmlns:a16="http://schemas.microsoft.com/office/drawing/2014/main" id="{E5E087BC-903B-4089-AE44-9B41D9CCB62E}"/>
              </a:ext>
            </a:extLst>
          </p:cNvPr>
          <p:cNvSpPr>
            <a:spLocks xmlns:a="http://schemas.openxmlformats.org/drawingml/2006/main" noGrp="1"/>
          </p:cNvSpPr>
          <p:nvPr/>
        </p:nvSpPr>
        <p:spPr>
          <a:xfrm xmlns:a="http://schemas.openxmlformats.org/drawingml/2006/main">
            <a:off x="762000" y="8401050"/>
            <a:ext cx="4905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Next.js forwards the PDF to FastAPI</a:t>
            </a:r>
          </a:p>
        </p:txBody>
      </p:sp>
      <p:sp>
        <p:nvSpPr>
          <p:cNvPr id="42" name="">
            <a:extLst xmlns:a="http://schemas.openxmlformats.org/drawingml/2006/main">
              <a:ext uri="{FF2B5EF4-FFF2-40B4-BE49-F238E27FC236}">
                <a16:creationId xmlns:a16="http://schemas.microsoft.com/office/drawing/2014/main" id="{E23508DC-A5BF-4BC3-9581-ADD4B937DBA1}"/>
              </a:ext>
            </a:extLst>
          </p:cNvPr>
          <p:cNvSpPr>
            <a:spLocks xmlns:a="http://schemas.openxmlformats.org/drawingml/2006/main" noGrp="1"/>
          </p:cNvSpPr>
          <p:nvPr/>
        </p:nvSpPr>
        <p:spPr>
          <a:xfrm xmlns:a="http://schemas.openxmlformats.org/drawingml/2006/main">
            <a:off x="6429375" y="6953250"/>
            <a:ext cx="5286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36" name=""/>
          <p:cNvPicPr>
            <a:picLocks xmlns:a="http://schemas.openxmlformats.org/drawingml/2006/main" noChangeAspect="1"/>
          </p:cNvPicPr>
          <p:nvPr/>
        </p:nvPicPr>
        <p:blipFill>
          <a:blip xmlns:r="http://schemas.openxmlformats.org/officeDocument/2006/relationships" xmlns:a="http://schemas.openxmlformats.org/drawingml/2006/main" r:embed="R6245113430914723"/>
          <a:stretch xmlns:a="http://schemas.openxmlformats.org/drawingml/2006/main"/>
        </p:blipFill>
        <p:spPr>
          <a:xfrm xmlns:a="http://schemas.openxmlformats.org/drawingml/2006/main">
            <a:off x="6600825" y="7105650"/>
            <a:ext cx="552450" cy="552450"/>
          </a:xfrm>
          <a:prstGeom xmlns:a="http://schemas.openxmlformats.org/drawingml/2006/main" prst="rect">
            <a:avLst/>
          </a:prstGeom>
        </p:spPr>
      </p:pic>
      <p:sp>
        <p:nvSpPr>
          <p:cNvPr id="44" name="">
            <a:extLst xmlns:a="http://schemas.openxmlformats.org/drawingml/2006/main">
              <a:ext uri="{FF2B5EF4-FFF2-40B4-BE49-F238E27FC236}">
                <a16:creationId xmlns:a16="http://schemas.microsoft.com/office/drawing/2014/main" id="{81B2C9AD-2CDD-4412-8E1F-D45869DAD0ED}"/>
              </a:ext>
            </a:extLst>
          </p:cNvPr>
          <p:cNvSpPr>
            <a:spLocks xmlns:a="http://schemas.openxmlformats.org/drawingml/2006/main" noGrp="1"/>
          </p:cNvSpPr>
          <p:nvPr/>
        </p:nvSpPr>
        <p:spPr>
          <a:xfrm xmlns:a="http://schemas.openxmlformats.org/drawingml/2006/main">
            <a:off x="6619875" y="773430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2. Amazon S3 stores PDF</a:t>
            </a:r>
          </a:p>
        </p:txBody>
      </p:sp>
      <p:sp>
        <p:nvSpPr>
          <p:cNvPr id="45" name="">
            <a:extLst xmlns:a="http://schemas.openxmlformats.org/drawingml/2006/main">
              <a:ext uri="{FF2B5EF4-FFF2-40B4-BE49-F238E27FC236}">
                <a16:creationId xmlns:a16="http://schemas.microsoft.com/office/drawing/2014/main" id="{3EF6285A-4F48-455A-83BB-F035C390FFCD}"/>
              </a:ext>
            </a:extLst>
          </p:cNvPr>
          <p:cNvSpPr>
            <a:spLocks xmlns:a="http://schemas.openxmlformats.org/drawingml/2006/main" noGrp="1"/>
          </p:cNvSpPr>
          <p:nvPr/>
        </p:nvSpPr>
        <p:spPr>
          <a:xfrm xmlns:a="http://schemas.openxmlformats.org/drawingml/2006/main">
            <a:off x="6619875" y="8401050"/>
            <a:ext cx="4905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knowledge/ + SQLite processing job</a:t>
            </a:r>
          </a:p>
        </p:txBody>
      </p:sp>
      <p:sp>
        <p:nvSpPr>
          <p:cNvPr id="46" name="">
            <a:extLst xmlns:a="http://schemas.openxmlformats.org/drawingml/2006/main">
              <a:ext uri="{FF2B5EF4-FFF2-40B4-BE49-F238E27FC236}">
                <a16:creationId xmlns:a16="http://schemas.microsoft.com/office/drawing/2014/main" id="{B2B2A12E-BDA6-409D-BA65-81B27C785A31}"/>
              </a:ext>
            </a:extLst>
          </p:cNvPr>
          <p:cNvSpPr>
            <a:spLocks xmlns:a="http://schemas.openxmlformats.org/drawingml/2006/main" noGrp="1"/>
          </p:cNvSpPr>
          <p:nvPr/>
        </p:nvSpPr>
        <p:spPr>
          <a:xfrm xmlns:a="http://schemas.openxmlformats.org/drawingml/2006/main">
            <a:off x="12287250" y="6953250"/>
            <a:ext cx="5286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5e24d7aa39e04dd3"/>
          <a:stretch xmlns:a="http://schemas.openxmlformats.org/drawingml/2006/main"/>
        </p:blipFill>
        <p:spPr>
          <a:xfrm xmlns:a="http://schemas.openxmlformats.org/drawingml/2006/main">
            <a:off x="12458700" y="7105650"/>
            <a:ext cx="552450" cy="552450"/>
          </a:xfrm>
          <a:prstGeom xmlns:a="http://schemas.openxmlformats.org/drawingml/2006/main" prst="rect">
            <a:avLst/>
          </a:prstGeom>
        </p:spPr>
      </p:pic>
      <p:sp>
        <p:nvSpPr>
          <p:cNvPr id="48" name="">
            <a:extLst xmlns:a="http://schemas.openxmlformats.org/drawingml/2006/main">
              <a:ext uri="{FF2B5EF4-FFF2-40B4-BE49-F238E27FC236}">
                <a16:creationId xmlns:a16="http://schemas.microsoft.com/office/drawing/2014/main" id="{B047E07B-E4DF-4AD8-B999-CDBB58A1ED04}"/>
              </a:ext>
            </a:extLst>
          </p:cNvPr>
          <p:cNvSpPr>
            <a:spLocks xmlns:a="http://schemas.openxmlformats.org/drawingml/2006/main" noGrp="1"/>
          </p:cNvSpPr>
          <p:nvPr/>
        </p:nvSpPr>
        <p:spPr>
          <a:xfrm xmlns:a="http://schemas.openxmlformats.org/drawingml/2006/main">
            <a:off x="12477750" y="773430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3. Amazon Textract extracts text</a:t>
            </a:r>
          </a:p>
        </p:txBody>
      </p:sp>
      <p:sp>
        <p:nvSpPr>
          <p:cNvPr id="49" name="">
            <a:extLst xmlns:a="http://schemas.openxmlformats.org/drawingml/2006/main">
              <a:ext uri="{FF2B5EF4-FFF2-40B4-BE49-F238E27FC236}">
                <a16:creationId xmlns:a16="http://schemas.microsoft.com/office/drawing/2014/main" id="{78CA492B-BADD-47ED-B3D0-1A18064A3CD2}"/>
              </a:ext>
            </a:extLst>
          </p:cNvPr>
          <p:cNvSpPr>
            <a:spLocks xmlns:a="http://schemas.openxmlformats.org/drawingml/2006/main" noGrp="1"/>
          </p:cNvSpPr>
          <p:nvPr/>
        </p:nvSpPr>
        <p:spPr>
          <a:xfrm xmlns:a="http://schemas.openxmlformats.org/drawingml/2006/main">
            <a:off x="12477750" y="8401050"/>
            <a:ext cx="4905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FastAPI starts, polls and fetches all pages</a:t>
            </a:r>
          </a:p>
        </p:txBody>
      </p:sp>
      <p:sp>
        <p:nvSpPr>
          <p:cNvPr id="50" name="">
            <a:extLst xmlns:a="http://schemas.openxmlformats.org/drawingml/2006/main">
              <a:ext uri="{FF2B5EF4-FFF2-40B4-BE49-F238E27FC236}">
                <a16:creationId xmlns:a16="http://schemas.microsoft.com/office/drawing/2014/main" id="{12BE3CA8-E7C7-4302-AD86-3BEBED9F0AD1}"/>
              </a:ext>
            </a:extLst>
          </p:cNvPr>
          <p:cNvSpPr>
            <a:spLocks xmlns:a="http://schemas.openxmlformats.org/drawingml/2006/main" noGrp="1"/>
          </p:cNvSpPr>
          <p:nvPr/>
        </p:nvSpPr>
        <p:spPr>
          <a:xfrm xmlns:a="http://schemas.openxmlformats.org/drawingml/2006/main">
            <a:off x="12287250" y="9429750"/>
            <a:ext cx="5286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51" name="">
            <a:extLst xmlns:a="http://schemas.openxmlformats.org/drawingml/2006/main">
              <a:ext uri="{FF2B5EF4-FFF2-40B4-BE49-F238E27FC236}">
                <a16:creationId xmlns:a16="http://schemas.microsoft.com/office/drawing/2014/main" id="{E19CF361-ADE6-4C45-B28E-5D482414839A}"/>
              </a:ext>
            </a:extLst>
          </p:cNvPr>
          <p:cNvSpPr>
            <a:spLocks xmlns:a="http://schemas.openxmlformats.org/drawingml/2006/main" noGrp="1"/>
          </p:cNvSpPr>
          <p:nvPr/>
        </p:nvSpPr>
        <p:spPr>
          <a:xfrm xmlns:a="http://schemas.openxmlformats.org/drawingml/2006/main">
            <a:off x="12458700" y="958215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245" name=""/>
          <p:cNvPicPr>
            <a:picLocks xmlns:a="http://schemas.openxmlformats.org/drawingml/2006/main" noChangeAspect="1"/>
          </p:cNvPicPr>
          <p:nvPr/>
        </p:nvPicPr>
        <p:blipFill>
          <a:blip xmlns:r="http://schemas.openxmlformats.org/officeDocument/2006/relationships" xmlns:a="http://schemas.openxmlformats.org/drawingml/2006/main" r:embed="R0d874f2b89524c8d"/>
          <a:stretch xmlns:a="http://schemas.openxmlformats.org/drawingml/2006/main"/>
        </p:blipFill>
        <p:spPr>
          <a:xfrm xmlns:a="http://schemas.openxmlformats.org/drawingml/2006/main">
            <a:off x="12458700" y="9582150"/>
            <a:ext cx="552450" cy="552450"/>
          </a:xfrm>
          <a:prstGeom xmlns:a="http://schemas.openxmlformats.org/drawingml/2006/main" prst="rect">
            <a:avLst/>
          </a:prstGeom>
        </p:spPr>
      </p:pic>
      <p:sp>
        <p:nvSpPr>
          <p:cNvPr id="53" name="">
            <a:extLst xmlns:a="http://schemas.openxmlformats.org/drawingml/2006/main">
              <a:ext uri="{FF2B5EF4-FFF2-40B4-BE49-F238E27FC236}">
                <a16:creationId xmlns:a16="http://schemas.microsoft.com/office/drawing/2014/main" id="{696E4754-056C-4CB3-8EA6-3F1EABD90AE0}"/>
              </a:ext>
            </a:extLst>
          </p:cNvPr>
          <p:cNvSpPr>
            <a:spLocks xmlns:a="http://schemas.openxmlformats.org/drawingml/2006/main" noGrp="1"/>
          </p:cNvSpPr>
          <p:nvPr/>
        </p:nvSpPr>
        <p:spPr>
          <a:xfrm xmlns:a="http://schemas.openxmlformats.org/drawingml/2006/main">
            <a:off x="12477750" y="1021080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4. Text chunking in FastAPI</a:t>
            </a:r>
          </a:p>
        </p:txBody>
      </p:sp>
      <p:sp>
        <p:nvSpPr>
          <p:cNvPr id="54" name="">
            <a:extLst xmlns:a="http://schemas.openxmlformats.org/drawingml/2006/main">
              <a:ext uri="{FF2B5EF4-FFF2-40B4-BE49-F238E27FC236}">
                <a16:creationId xmlns:a16="http://schemas.microsoft.com/office/drawing/2014/main" id="{9067CD63-C9EF-4DD8-A4D0-68CBE5503815}"/>
              </a:ext>
            </a:extLst>
          </p:cNvPr>
          <p:cNvSpPr>
            <a:spLocks xmlns:a="http://schemas.openxmlformats.org/drawingml/2006/main" noGrp="1"/>
          </p:cNvSpPr>
          <p:nvPr/>
        </p:nvSpPr>
        <p:spPr>
          <a:xfrm xmlns:a="http://schemas.openxmlformats.org/drawingml/2006/main">
            <a:off x="12477750" y="10877550"/>
            <a:ext cx="4905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1,000-character chunks, no overlap</a:t>
            </a:r>
          </a:p>
        </p:txBody>
      </p:sp>
      <p:sp>
        <p:nvSpPr>
          <p:cNvPr id="55" name="">
            <a:extLst xmlns:a="http://schemas.openxmlformats.org/drawingml/2006/main">
              <a:ext uri="{FF2B5EF4-FFF2-40B4-BE49-F238E27FC236}">
                <a16:creationId xmlns:a16="http://schemas.microsoft.com/office/drawing/2014/main" id="{A5355864-C876-4D17-8683-D8156B42BCE2}"/>
              </a:ext>
            </a:extLst>
          </p:cNvPr>
          <p:cNvSpPr>
            <a:spLocks xmlns:a="http://schemas.openxmlformats.org/drawingml/2006/main" noGrp="1"/>
          </p:cNvSpPr>
          <p:nvPr/>
        </p:nvSpPr>
        <p:spPr>
          <a:xfrm xmlns:a="http://schemas.openxmlformats.org/drawingml/2006/main">
            <a:off x="6429375" y="9429750"/>
            <a:ext cx="5286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49" name=""/>
          <p:cNvPicPr>
            <a:picLocks xmlns:a="http://schemas.openxmlformats.org/drawingml/2006/main" noChangeAspect="1"/>
          </p:cNvPicPr>
          <p:nvPr/>
        </p:nvPicPr>
        <p:blipFill>
          <a:blip xmlns:r="http://schemas.openxmlformats.org/officeDocument/2006/relationships" xmlns:a="http://schemas.openxmlformats.org/drawingml/2006/main" r:embed="Rbb0f5a81e4a04431"/>
          <a:stretch xmlns:a="http://schemas.openxmlformats.org/drawingml/2006/main"/>
        </p:blipFill>
        <p:spPr>
          <a:xfrm xmlns:a="http://schemas.openxmlformats.org/drawingml/2006/main">
            <a:off x="6600825" y="9582150"/>
            <a:ext cx="552450" cy="552450"/>
          </a:xfrm>
          <a:prstGeom xmlns:a="http://schemas.openxmlformats.org/drawingml/2006/main" prst="rect">
            <a:avLst/>
          </a:prstGeom>
        </p:spPr>
      </p:pic>
      <p:sp>
        <p:nvSpPr>
          <p:cNvPr id="57" name="">
            <a:extLst xmlns:a="http://schemas.openxmlformats.org/drawingml/2006/main">
              <a:ext uri="{FF2B5EF4-FFF2-40B4-BE49-F238E27FC236}">
                <a16:creationId xmlns:a16="http://schemas.microsoft.com/office/drawing/2014/main" id="{76E15777-1530-4993-9F76-28A631E838B9}"/>
              </a:ext>
            </a:extLst>
          </p:cNvPr>
          <p:cNvSpPr>
            <a:spLocks xmlns:a="http://schemas.openxmlformats.org/drawingml/2006/main" noGrp="1"/>
          </p:cNvSpPr>
          <p:nvPr/>
        </p:nvSpPr>
        <p:spPr>
          <a:xfrm xmlns:a="http://schemas.openxmlformats.org/drawingml/2006/main">
            <a:off x="6619875" y="1021080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5. Amazon Titan Text Embeddings V2</a:t>
            </a:r>
          </a:p>
        </p:txBody>
      </p:sp>
      <p:sp>
        <p:nvSpPr>
          <p:cNvPr id="58" name="">
            <a:extLst xmlns:a="http://schemas.openxmlformats.org/drawingml/2006/main">
              <a:ext uri="{FF2B5EF4-FFF2-40B4-BE49-F238E27FC236}">
                <a16:creationId xmlns:a16="http://schemas.microsoft.com/office/drawing/2014/main" id="{67CF899D-A937-47BA-8068-85D1A6C7FE8E}"/>
              </a:ext>
            </a:extLst>
          </p:cNvPr>
          <p:cNvSpPr>
            <a:spLocks xmlns:a="http://schemas.openxmlformats.org/drawingml/2006/main" noGrp="1"/>
          </p:cNvSpPr>
          <p:nvPr/>
        </p:nvSpPr>
        <p:spPr>
          <a:xfrm xmlns:a="http://schemas.openxmlformats.org/drawingml/2006/main">
            <a:off x="6619875" y="10877550"/>
            <a:ext cx="4905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Normalized, 1,024-D text embeddings</a:t>
            </a:r>
          </a:p>
        </p:txBody>
      </p:sp>
      <p:sp>
        <p:nvSpPr>
          <p:cNvPr id="59" name="">
            <a:extLst xmlns:a="http://schemas.openxmlformats.org/drawingml/2006/main">
              <a:ext uri="{FF2B5EF4-FFF2-40B4-BE49-F238E27FC236}">
                <a16:creationId xmlns:a16="http://schemas.microsoft.com/office/drawing/2014/main" id="{100AF8C3-1731-47E6-B9AB-8403FAC4CB20}"/>
              </a:ext>
            </a:extLst>
          </p:cNvPr>
          <p:cNvSpPr>
            <a:spLocks xmlns:a="http://schemas.openxmlformats.org/drawingml/2006/main" noGrp="1"/>
          </p:cNvSpPr>
          <p:nvPr/>
        </p:nvSpPr>
        <p:spPr>
          <a:xfrm xmlns:a="http://schemas.openxmlformats.org/drawingml/2006/main">
            <a:off x="571500" y="9429750"/>
            <a:ext cx="5286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53" name=""/>
          <p:cNvPicPr>
            <a:picLocks xmlns:a="http://schemas.openxmlformats.org/drawingml/2006/main" noChangeAspect="1"/>
          </p:cNvPicPr>
          <p:nvPr/>
        </p:nvPicPr>
        <p:blipFill>
          <a:blip xmlns:r="http://schemas.openxmlformats.org/officeDocument/2006/relationships" xmlns:a="http://schemas.openxmlformats.org/drawingml/2006/main" r:embed="R4829471433694313"/>
          <a:stretch xmlns:a="http://schemas.openxmlformats.org/drawingml/2006/main"/>
        </p:blipFill>
        <p:spPr>
          <a:xfrm xmlns:a="http://schemas.openxmlformats.org/drawingml/2006/main">
            <a:off x="762000" y="9573233"/>
            <a:ext cx="1714500" cy="455984"/>
          </a:xfrm>
          <a:prstGeom xmlns:a="http://schemas.openxmlformats.org/drawingml/2006/main" prst="rect">
            <a:avLst/>
          </a:prstGeom>
        </p:spPr>
      </p:pic>
      <p:pic>
        <p:nvPicPr>
          <p:cNvPr id="254" name=""/>
          <p:cNvPicPr>
            <a:picLocks xmlns:a="http://schemas.openxmlformats.org/drawingml/2006/main" noChangeAspect="1"/>
          </p:cNvPicPr>
          <p:nvPr/>
        </p:nvPicPr>
        <p:blipFill>
          <a:blip xmlns:r="http://schemas.openxmlformats.org/officeDocument/2006/relationships" xmlns:a="http://schemas.openxmlformats.org/drawingml/2006/main" r:embed="R561ab98084774cda"/>
          <a:stretch xmlns:a="http://schemas.openxmlformats.org/drawingml/2006/main"/>
        </p:blipFill>
        <p:spPr>
          <a:xfrm xmlns:a="http://schemas.openxmlformats.org/drawingml/2006/main">
            <a:off x="2691310" y="9591675"/>
            <a:ext cx="580030" cy="457200"/>
          </a:xfrm>
          <a:prstGeom xmlns:a="http://schemas.openxmlformats.org/drawingml/2006/main" prst="rect">
            <a:avLst/>
          </a:prstGeom>
        </p:spPr>
      </p:pic>
      <p:sp>
        <p:nvSpPr>
          <p:cNvPr id="62" name="">
            <a:extLst xmlns:a="http://schemas.openxmlformats.org/drawingml/2006/main">
              <a:ext uri="{FF2B5EF4-FFF2-40B4-BE49-F238E27FC236}">
                <a16:creationId xmlns:a16="http://schemas.microsoft.com/office/drawing/2014/main" id="{4FCFE446-30B0-43DB-9FC5-7BB1AB94FFB1}"/>
              </a:ext>
            </a:extLst>
          </p:cNvPr>
          <p:cNvSpPr>
            <a:spLocks xmlns:a="http://schemas.openxmlformats.org/drawingml/2006/main" noGrp="1"/>
          </p:cNvSpPr>
          <p:nvPr/>
        </p:nvSpPr>
        <p:spPr>
          <a:xfrm xmlns:a="http://schemas.openxmlformats.org/drawingml/2006/main">
            <a:off x="762000" y="1021080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6. Store embeddings in Qdrant</a:t>
            </a:r>
          </a:p>
        </p:txBody>
      </p:sp>
      <p:sp>
        <p:nvSpPr>
          <p:cNvPr id="63" name="">
            <a:extLst xmlns:a="http://schemas.openxmlformats.org/drawingml/2006/main">
              <a:ext uri="{FF2B5EF4-FFF2-40B4-BE49-F238E27FC236}">
                <a16:creationId xmlns:a16="http://schemas.microsoft.com/office/drawing/2014/main" id="{9A8A7012-8989-476E-A0DE-30661E40CEB7}"/>
              </a:ext>
            </a:extLst>
          </p:cNvPr>
          <p:cNvSpPr>
            <a:spLocks xmlns:a="http://schemas.openxmlformats.org/drawingml/2006/main" noGrp="1"/>
          </p:cNvSpPr>
          <p:nvPr/>
        </p:nvSpPr>
        <p:spPr>
          <a:xfrm xmlns:a="http://schemas.openxmlformats.org/drawingml/2006/main">
            <a:off x="762000" y="10877550"/>
            <a:ext cx="4905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Vectors + text + document metadata; cosine distance</a:t>
            </a:r>
          </a:p>
        </p:txBody>
      </p:sp>
      <p:cxnSp>
        <p:nvCxnSpPr>
          <p:cNvPr id="257" name=""/>
          <p:cNvCxnSpPr>
            <a:stCxn xmlns:a="http://schemas.openxmlformats.org/drawingml/2006/main" id="38" idx="3"/>
            <a:endCxn xmlns:a="http://schemas.openxmlformats.org/drawingml/2006/main" id="42" idx="1"/>
          </p:cNvCxnSpPr>
          <p:nvPr/>
        </p:nvCxnSpPr>
        <p:spPr>
          <a:xfrm xmlns:a="http://schemas.openxmlformats.org/drawingml/2006/main">
            <a:off x="5857875" y="7977188"/>
            <a:ext cx="571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58" name=""/>
          <p:cNvCxnSpPr>
            <a:stCxn xmlns:a="http://schemas.openxmlformats.org/drawingml/2006/main" id="42" idx="3"/>
            <a:endCxn xmlns:a="http://schemas.openxmlformats.org/drawingml/2006/main" id="46" idx="1"/>
          </p:cNvCxnSpPr>
          <p:nvPr/>
        </p:nvCxnSpPr>
        <p:spPr>
          <a:xfrm xmlns:a="http://schemas.openxmlformats.org/drawingml/2006/main">
            <a:off x="11715750" y="7977188"/>
            <a:ext cx="571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59" name=""/>
          <p:cNvCxnSpPr>
            <a:stCxn xmlns:a="http://schemas.openxmlformats.org/drawingml/2006/main" id="46" idx="2"/>
            <a:endCxn xmlns:a="http://schemas.openxmlformats.org/drawingml/2006/main" id="50" idx="0"/>
          </p:cNvCxnSpPr>
          <p:nvPr/>
        </p:nvCxnSpPr>
        <p:spPr>
          <a:xfrm xmlns:a="http://schemas.openxmlformats.org/drawingml/2006/main">
            <a:off x="14930438" y="9001125"/>
            <a:ext cx="0" cy="42862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60" name=""/>
          <p:cNvCxnSpPr>
            <a:stCxn xmlns:a="http://schemas.openxmlformats.org/drawingml/2006/main" id="50" idx="1"/>
            <a:endCxn xmlns:a="http://schemas.openxmlformats.org/drawingml/2006/main" id="55" idx="3"/>
          </p:cNvCxnSpPr>
          <p:nvPr/>
        </p:nvCxnSpPr>
        <p:spPr>
          <a:xfrm xmlns:a="http://schemas.openxmlformats.org/drawingml/2006/main" flipH="1">
            <a:off x="11715750" y="10453688"/>
            <a:ext cx="571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61" name=""/>
          <p:cNvCxnSpPr>
            <a:stCxn xmlns:a="http://schemas.openxmlformats.org/drawingml/2006/main" id="55" idx="1"/>
            <a:endCxn xmlns:a="http://schemas.openxmlformats.org/drawingml/2006/main" id="59" idx="3"/>
          </p:cNvCxnSpPr>
          <p:nvPr/>
        </p:nvCxnSpPr>
        <p:spPr>
          <a:xfrm xmlns:a="http://schemas.openxmlformats.org/drawingml/2006/main" flipH="1">
            <a:off x="5857875" y="10453688"/>
            <a:ext cx="571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69" name="">
            <a:extLst xmlns:a="http://schemas.openxmlformats.org/drawingml/2006/main">
              <a:ext uri="{FF2B5EF4-FFF2-40B4-BE49-F238E27FC236}">
                <a16:creationId xmlns:a16="http://schemas.microsoft.com/office/drawing/2014/main" id="{F17FF9CF-D743-4AF6-A23C-C40A9DC94FFD}"/>
              </a:ext>
            </a:extLst>
          </p:cNvPr>
          <p:cNvSpPr>
            <a:spLocks xmlns:a="http://schemas.openxmlformats.org/drawingml/2006/main" noGrp="1"/>
          </p:cNvSpPr>
          <p:nvPr/>
        </p:nvSpPr>
        <p:spPr>
          <a:xfrm xmlns:a="http://schemas.openxmlformats.org/drawingml/2006/main">
            <a:off x="571500" y="11953875"/>
            <a:ext cx="1685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C9502F"/>
                </a:solidFill>
                <a:latin typeface="Arial"/>
                <a:ea typeface="Arial"/>
                <a:cs typeface="Arial"/>
              </a:defRPr>
            </a:pPr>
            <a:r>
              <a:rPr sz="2925" b="1">
                <a:solidFill>
                  <a:srgbClr val="C9502F"/>
                </a:solidFill>
                <a:latin typeface="Arial"/>
                <a:ea typeface="Arial"/>
                <a:cs typeface="Arial"/>
              </a:rPr>
              <a:t>B. Knowledge search and RAG</a:t>
            </a:r>
          </a:p>
        </p:txBody>
      </p:sp>
      <p:sp>
        <p:nvSpPr>
          <p:cNvPr id="70" name="">
            <a:extLst xmlns:a="http://schemas.openxmlformats.org/drawingml/2006/main">
              <a:ext uri="{FF2B5EF4-FFF2-40B4-BE49-F238E27FC236}">
                <a16:creationId xmlns:a16="http://schemas.microsoft.com/office/drawing/2014/main" id="{1190CC1E-05FE-438E-8BEC-49E1E3A97CB5}"/>
              </a:ext>
            </a:extLst>
          </p:cNvPr>
          <p:cNvSpPr>
            <a:spLocks xmlns:a="http://schemas.openxmlformats.org/drawingml/2006/main" noGrp="1"/>
          </p:cNvSpPr>
          <p:nvPr/>
        </p:nvSpPr>
        <p:spPr>
          <a:xfrm xmlns:a="http://schemas.openxmlformats.org/drawingml/2006/main">
            <a:off x="571500" y="12468225"/>
            <a:ext cx="1685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search-knowledge executes in FastAPI; the model never queries Qdrant directly</a:t>
            </a:r>
          </a:p>
        </p:txBody>
      </p:sp>
      <p:sp>
        <p:nvSpPr>
          <p:cNvPr id="71" name="">
            <a:extLst xmlns:a="http://schemas.openxmlformats.org/drawingml/2006/main">
              <a:ext uri="{FF2B5EF4-FFF2-40B4-BE49-F238E27FC236}">
                <a16:creationId xmlns:a16="http://schemas.microsoft.com/office/drawing/2014/main" id="{328C054A-B7AA-440A-AA05-F2EF6E1E5D5B}"/>
              </a:ext>
            </a:extLst>
          </p:cNvPr>
          <p:cNvSpPr>
            <a:spLocks xmlns:a="http://schemas.openxmlformats.org/drawingml/2006/main" noGrp="1"/>
          </p:cNvSpPr>
          <p:nvPr/>
        </p:nvSpPr>
        <p:spPr>
          <a:xfrm xmlns:a="http://schemas.openxmlformats.org/drawingml/2006/main">
            <a:off x="571500" y="12954000"/>
            <a:ext cx="3000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65" name=""/>
          <p:cNvPicPr>
            <a:picLocks xmlns:a="http://schemas.openxmlformats.org/drawingml/2006/main" noChangeAspect="1"/>
          </p:cNvPicPr>
          <p:nvPr/>
        </p:nvPicPr>
        <p:blipFill>
          <a:blip xmlns:r="http://schemas.openxmlformats.org/officeDocument/2006/relationships" xmlns:a="http://schemas.openxmlformats.org/drawingml/2006/main" r:embed="Rf3a6e4b187dc49b5"/>
          <a:stretch xmlns:a="http://schemas.openxmlformats.org/drawingml/2006/main"/>
        </p:blipFill>
        <p:spPr>
          <a:xfrm xmlns:a="http://schemas.openxmlformats.org/drawingml/2006/main">
            <a:off x="742950" y="13106400"/>
            <a:ext cx="552450" cy="552450"/>
          </a:xfrm>
          <a:prstGeom xmlns:a="http://schemas.openxmlformats.org/drawingml/2006/main" prst="rect">
            <a:avLst/>
          </a:prstGeom>
        </p:spPr>
      </p:pic>
      <p:sp>
        <p:nvSpPr>
          <p:cNvPr id="73" name="">
            <a:extLst xmlns:a="http://schemas.openxmlformats.org/drawingml/2006/main">
              <a:ext uri="{FF2B5EF4-FFF2-40B4-BE49-F238E27FC236}">
                <a16:creationId xmlns:a16="http://schemas.microsoft.com/office/drawing/2014/main" id="{CAB9020D-B32F-4B02-8369-6CAD09379EEB}"/>
              </a:ext>
            </a:extLst>
          </p:cNvPr>
          <p:cNvSpPr>
            <a:spLocks xmlns:a="http://schemas.openxmlformats.org/drawingml/2006/main" noGrp="1"/>
          </p:cNvSpPr>
          <p:nvPr/>
        </p:nvSpPr>
        <p:spPr>
          <a:xfrm xmlns:a="http://schemas.openxmlformats.org/drawingml/2006/main">
            <a:off x="762000" y="137350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4231D"/>
                </a:solidFill>
                <a:latin typeface="Arial"/>
                <a:ea typeface="Arial"/>
                <a:cs typeface="Arial"/>
              </a:defRPr>
            </a:pPr>
            <a:r>
              <a:rPr sz="1950" b="1">
                <a:solidFill>
                  <a:srgbClr val="34231D"/>
                </a:solidFill>
                <a:latin typeface="Arial"/>
                <a:ea typeface="Arial"/>
                <a:cs typeface="Arial"/>
              </a:rPr>
              <a:t>Question</a:t>
            </a:r>
          </a:p>
        </p:txBody>
      </p:sp>
      <p:sp>
        <p:nvSpPr>
          <p:cNvPr id="74" name="">
            <a:extLst xmlns:a="http://schemas.openxmlformats.org/drawingml/2006/main">
              <a:ext uri="{FF2B5EF4-FFF2-40B4-BE49-F238E27FC236}">
                <a16:creationId xmlns:a16="http://schemas.microsoft.com/office/drawing/2014/main" id="{273D6E26-D0A0-4C66-B6FC-5BB8F761B826}"/>
              </a:ext>
            </a:extLst>
          </p:cNvPr>
          <p:cNvSpPr>
            <a:spLocks xmlns:a="http://schemas.openxmlformats.org/drawingml/2006/main" noGrp="1"/>
          </p:cNvSpPr>
          <p:nvPr/>
        </p:nvSpPr>
        <p:spPr>
          <a:xfrm xmlns:a="http://schemas.openxmlformats.org/drawingml/2006/main">
            <a:off x="762000" y="14401800"/>
            <a:ext cx="2619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Bedrock requests knowledge search</a:t>
            </a:r>
          </a:p>
        </p:txBody>
      </p:sp>
      <p:sp>
        <p:nvSpPr>
          <p:cNvPr id="75" name="">
            <a:extLst xmlns:a="http://schemas.openxmlformats.org/drawingml/2006/main">
              <a:ext uri="{FF2B5EF4-FFF2-40B4-BE49-F238E27FC236}">
                <a16:creationId xmlns:a16="http://schemas.microsoft.com/office/drawing/2014/main" id="{6B4B29F2-0CEA-471F-9078-DF71023275CF}"/>
              </a:ext>
            </a:extLst>
          </p:cNvPr>
          <p:cNvSpPr>
            <a:spLocks xmlns:a="http://schemas.openxmlformats.org/drawingml/2006/main" noGrp="1"/>
          </p:cNvSpPr>
          <p:nvPr/>
        </p:nvSpPr>
        <p:spPr>
          <a:xfrm xmlns:a="http://schemas.openxmlformats.org/drawingml/2006/main">
            <a:off x="4095750" y="12954000"/>
            <a:ext cx="3000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69" name=""/>
          <p:cNvPicPr>
            <a:picLocks xmlns:a="http://schemas.openxmlformats.org/drawingml/2006/main" noChangeAspect="1"/>
          </p:cNvPicPr>
          <p:nvPr/>
        </p:nvPicPr>
        <p:blipFill>
          <a:blip xmlns:r="http://schemas.openxmlformats.org/officeDocument/2006/relationships" xmlns:a="http://schemas.openxmlformats.org/drawingml/2006/main" r:embed="R613191e51ab24b30"/>
          <a:stretch xmlns:a="http://schemas.openxmlformats.org/drawingml/2006/main"/>
        </p:blipFill>
        <p:spPr>
          <a:xfrm xmlns:a="http://schemas.openxmlformats.org/drawingml/2006/main">
            <a:off x="4267200" y="13106400"/>
            <a:ext cx="552450" cy="552450"/>
          </a:xfrm>
          <a:prstGeom xmlns:a="http://schemas.openxmlformats.org/drawingml/2006/main" prst="rect">
            <a:avLst/>
          </a:prstGeom>
        </p:spPr>
      </p:pic>
      <p:sp>
        <p:nvSpPr>
          <p:cNvPr id="77" name="">
            <a:extLst xmlns:a="http://schemas.openxmlformats.org/drawingml/2006/main">
              <a:ext uri="{FF2B5EF4-FFF2-40B4-BE49-F238E27FC236}">
                <a16:creationId xmlns:a16="http://schemas.microsoft.com/office/drawing/2014/main" id="{82627D1D-FE2E-48B1-946D-353EF1A8953E}"/>
              </a:ext>
            </a:extLst>
          </p:cNvPr>
          <p:cNvSpPr>
            <a:spLocks xmlns:a="http://schemas.openxmlformats.org/drawingml/2006/main" noGrp="1"/>
          </p:cNvSpPr>
          <p:nvPr/>
        </p:nvSpPr>
        <p:spPr>
          <a:xfrm xmlns:a="http://schemas.openxmlformats.org/drawingml/2006/main">
            <a:off x="4286250" y="137350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4231D"/>
                </a:solidFill>
                <a:latin typeface="Arial"/>
                <a:ea typeface="Arial"/>
                <a:cs typeface="Arial"/>
              </a:defRPr>
            </a:pPr>
            <a:r>
              <a:rPr sz="1950" b="1">
                <a:solidFill>
                  <a:srgbClr val="34231D"/>
                </a:solidFill>
                <a:latin typeface="Arial"/>
                <a:ea typeface="Arial"/>
                <a:cs typeface="Arial"/>
              </a:rPr>
              <a:t>Query embedding</a:t>
            </a:r>
          </a:p>
        </p:txBody>
      </p:sp>
      <p:sp>
        <p:nvSpPr>
          <p:cNvPr id="78" name="">
            <a:extLst xmlns:a="http://schemas.openxmlformats.org/drawingml/2006/main">
              <a:ext uri="{FF2B5EF4-FFF2-40B4-BE49-F238E27FC236}">
                <a16:creationId xmlns:a16="http://schemas.microsoft.com/office/drawing/2014/main" id="{FD923AD2-B7DD-42C5-A088-0700917C8313}"/>
              </a:ext>
            </a:extLst>
          </p:cNvPr>
          <p:cNvSpPr>
            <a:spLocks xmlns:a="http://schemas.openxmlformats.org/drawingml/2006/main" noGrp="1"/>
          </p:cNvSpPr>
          <p:nvPr/>
        </p:nvSpPr>
        <p:spPr>
          <a:xfrm xmlns:a="http://schemas.openxmlformats.org/drawingml/2006/main">
            <a:off x="4286250" y="14401800"/>
            <a:ext cx="2619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Amazon Titan Embeddings V2</a:t>
            </a:r>
          </a:p>
        </p:txBody>
      </p:sp>
      <p:sp>
        <p:nvSpPr>
          <p:cNvPr id="79" name="">
            <a:extLst xmlns:a="http://schemas.openxmlformats.org/drawingml/2006/main">
              <a:ext uri="{FF2B5EF4-FFF2-40B4-BE49-F238E27FC236}">
                <a16:creationId xmlns:a16="http://schemas.microsoft.com/office/drawing/2014/main" id="{61955D30-DD41-4A3E-9EFC-20A454D0E762}"/>
              </a:ext>
            </a:extLst>
          </p:cNvPr>
          <p:cNvSpPr>
            <a:spLocks xmlns:a="http://schemas.openxmlformats.org/drawingml/2006/main" noGrp="1"/>
          </p:cNvSpPr>
          <p:nvPr/>
        </p:nvSpPr>
        <p:spPr>
          <a:xfrm xmlns:a="http://schemas.openxmlformats.org/drawingml/2006/main">
            <a:off x="7620000" y="12954000"/>
            <a:ext cx="3000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73" name=""/>
          <p:cNvPicPr>
            <a:picLocks xmlns:a="http://schemas.openxmlformats.org/drawingml/2006/main" noChangeAspect="1"/>
          </p:cNvPicPr>
          <p:nvPr/>
        </p:nvPicPr>
        <p:blipFill>
          <a:blip xmlns:r="http://schemas.openxmlformats.org/officeDocument/2006/relationships" xmlns:a="http://schemas.openxmlformats.org/drawingml/2006/main" r:embed="R6c745009cdba44f0"/>
          <a:stretch xmlns:a="http://schemas.openxmlformats.org/drawingml/2006/main"/>
        </p:blipFill>
        <p:spPr>
          <a:xfrm xmlns:a="http://schemas.openxmlformats.org/drawingml/2006/main">
            <a:off x="7810500" y="13129149"/>
            <a:ext cx="1476375" cy="392653"/>
          </a:xfrm>
          <a:prstGeom xmlns:a="http://schemas.openxmlformats.org/drawingml/2006/main" prst="rect">
            <a:avLst/>
          </a:prstGeom>
        </p:spPr>
      </p:pic>
      <p:pic>
        <p:nvPicPr>
          <p:cNvPr id="274" name=""/>
          <p:cNvPicPr>
            <a:picLocks xmlns:a="http://schemas.openxmlformats.org/drawingml/2006/main" noChangeAspect="1"/>
          </p:cNvPicPr>
          <p:nvPr/>
        </p:nvPicPr>
        <p:blipFill>
          <a:blip xmlns:r="http://schemas.openxmlformats.org/officeDocument/2006/relationships" xmlns:a="http://schemas.openxmlformats.org/drawingml/2006/main" r:embed="R4b7ac6e4f6274055"/>
          <a:stretch xmlns:a="http://schemas.openxmlformats.org/drawingml/2006/main"/>
        </p:blipFill>
        <p:spPr>
          <a:xfrm xmlns:a="http://schemas.openxmlformats.org/drawingml/2006/main">
            <a:off x="9644560" y="13115925"/>
            <a:ext cx="580030" cy="457200"/>
          </a:xfrm>
          <a:prstGeom xmlns:a="http://schemas.openxmlformats.org/drawingml/2006/main" prst="rect">
            <a:avLst/>
          </a:prstGeom>
        </p:spPr>
      </p:pic>
      <p:sp>
        <p:nvSpPr>
          <p:cNvPr id="82" name="">
            <a:extLst xmlns:a="http://schemas.openxmlformats.org/drawingml/2006/main">
              <a:ext uri="{FF2B5EF4-FFF2-40B4-BE49-F238E27FC236}">
                <a16:creationId xmlns:a16="http://schemas.microsoft.com/office/drawing/2014/main" id="{17D8486F-668A-481F-AFBE-2D4B6A4A6AE7}"/>
              </a:ext>
            </a:extLst>
          </p:cNvPr>
          <p:cNvSpPr>
            <a:spLocks xmlns:a="http://schemas.openxmlformats.org/drawingml/2006/main" noGrp="1"/>
          </p:cNvSpPr>
          <p:nvPr/>
        </p:nvSpPr>
        <p:spPr>
          <a:xfrm xmlns:a="http://schemas.openxmlformats.org/drawingml/2006/main">
            <a:off x="7810500" y="137350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4231D"/>
                </a:solidFill>
                <a:latin typeface="Arial"/>
                <a:ea typeface="Arial"/>
                <a:cs typeface="Arial"/>
              </a:defRPr>
            </a:pPr>
            <a:r>
              <a:rPr sz="1950" b="1">
                <a:solidFill>
                  <a:srgbClr val="34231D"/>
                </a:solidFill>
                <a:latin typeface="Arial"/>
                <a:ea typeface="Arial"/>
                <a:cs typeface="Arial"/>
              </a:rPr>
              <a:t>Vector search</a:t>
            </a:r>
          </a:p>
        </p:txBody>
      </p:sp>
      <p:sp>
        <p:nvSpPr>
          <p:cNvPr id="83" name="">
            <a:extLst xmlns:a="http://schemas.openxmlformats.org/drawingml/2006/main">
              <a:ext uri="{FF2B5EF4-FFF2-40B4-BE49-F238E27FC236}">
                <a16:creationId xmlns:a16="http://schemas.microsoft.com/office/drawing/2014/main" id="{8C20B31B-7AF7-4202-8D68-4774BCC97941}"/>
              </a:ext>
            </a:extLst>
          </p:cNvPr>
          <p:cNvSpPr>
            <a:spLocks xmlns:a="http://schemas.openxmlformats.org/drawingml/2006/main" noGrp="1"/>
          </p:cNvSpPr>
          <p:nvPr/>
        </p:nvSpPr>
        <p:spPr>
          <a:xfrm xmlns:a="http://schemas.openxmlformats.org/drawingml/2006/main">
            <a:off x="7810500" y="14401800"/>
            <a:ext cx="2619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FastAPI returns top four text chunks</a:t>
            </a:r>
          </a:p>
        </p:txBody>
      </p:sp>
      <p:sp>
        <p:nvSpPr>
          <p:cNvPr id="84" name="">
            <a:extLst xmlns:a="http://schemas.openxmlformats.org/drawingml/2006/main">
              <a:ext uri="{FF2B5EF4-FFF2-40B4-BE49-F238E27FC236}">
                <a16:creationId xmlns:a16="http://schemas.microsoft.com/office/drawing/2014/main" id="{CAD2336D-B850-4A51-B5C3-29F378F5C48D}"/>
              </a:ext>
            </a:extLst>
          </p:cNvPr>
          <p:cNvSpPr>
            <a:spLocks xmlns:a="http://schemas.openxmlformats.org/drawingml/2006/main" noGrp="1"/>
          </p:cNvSpPr>
          <p:nvPr/>
        </p:nvSpPr>
        <p:spPr>
          <a:xfrm xmlns:a="http://schemas.openxmlformats.org/drawingml/2006/main">
            <a:off x="11144250" y="12954000"/>
            <a:ext cx="3000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85" name="">
            <a:extLst xmlns:a="http://schemas.openxmlformats.org/drawingml/2006/main">
              <a:ext uri="{FF2B5EF4-FFF2-40B4-BE49-F238E27FC236}">
                <a16:creationId xmlns:a16="http://schemas.microsoft.com/office/drawing/2014/main" id="{DB8DEDBE-C62A-4CFD-A73B-87FF83C7CBDB}"/>
              </a:ext>
            </a:extLst>
          </p:cNvPr>
          <p:cNvSpPr>
            <a:spLocks xmlns:a="http://schemas.openxmlformats.org/drawingml/2006/main" noGrp="1"/>
          </p:cNvSpPr>
          <p:nvPr/>
        </p:nvSpPr>
        <p:spPr>
          <a:xfrm xmlns:a="http://schemas.openxmlformats.org/drawingml/2006/main">
            <a:off x="11315700" y="1310640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279" name=""/>
          <p:cNvPicPr>
            <a:picLocks xmlns:a="http://schemas.openxmlformats.org/drawingml/2006/main" noChangeAspect="1"/>
          </p:cNvPicPr>
          <p:nvPr/>
        </p:nvPicPr>
        <p:blipFill>
          <a:blip xmlns:r="http://schemas.openxmlformats.org/officeDocument/2006/relationships" xmlns:a="http://schemas.openxmlformats.org/drawingml/2006/main" r:embed="R991f97abc4364d1a"/>
          <a:stretch xmlns:a="http://schemas.openxmlformats.org/drawingml/2006/main"/>
        </p:blipFill>
        <p:spPr>
          <a:xfrm xmlns:a="http://schemas.openxmlformats.org/drawingml/2006/main">
            <a:off x="11315700" y="13106400"/>
            <a:ext cx="552450" cy="552450"/>
          </a:xfrm>
          <a:prstGeom xmlns:a="http://schemas.openxmlformats.org/drawingml/2006/main" prst="rect">
            <a:avLst/>
          </a:prstGeom>
        </p:spPr>
      </p:pic>
      <p:sp>
        <p:nvSpPr>
          <p:cNvPr id="87" name="">
            <a:extLst xmlns:a="http://schemas.openxmlformats.org/drawingml/2006/main">
              <a:ext uri="{FF2B5EF4-FFF2-40B4-BE49-F238E27FC236}">
                <a16:creationId xmlns:a16="http://schemas.microsoft.com/office/drawing/2014/main" id="{06AE42F9-9826-4F84-B0DD-0641772A3808}"/>
              </a:ext>
            </a:extLst>
          </p:cNvPr>
          <p:cNvSpPr>
            <a:spLocks xmlns:a="http://schemas.openxmlformats.org/drawingml/2006/main" noGrp="1"/>
          </p:cNvSpPr>
          <p:nvPr/>
        </p:nvSpPr>
        <p:spPr>
          <a:xfrm xmlns:a="http://schemas.openxmlformats.org/drawingml/2006/main">
            <a:off x="11334750" y="137350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4231D"/>
                </a:solidFill>
                <a:latin typeface="Arial"/>
                <a:ea typeface="Arial"/>
                <a:cs typeface="Arial"/>
              </a:defRPr>
            </a:pPr>
            <a:r>
              <a:rPr sz="1950" b="1">
                <a:solidFill>
                  <a:srgbClr val="34231D"/>
                </a:solidFill>
                <a:latin typeface="Arial"/>
                <a:ea typeface="Arial"/>
                <a:cs typeface="Arial"/>
              </a:rPr>
              <a:t>Tool result</a:t>
            </a:r>
          </a:p>
        </p:txBody>
      </p:sp>
      <p:sp>
        <p:nvSpPr>
          <p:cNvPr id="88" name="">
            <a:extLst xmlns:a="http://schemas.openxmlformats.org/drawingml/2006/main">
              <a:ext uri="{FF2B5EF4-FFF2-40B4-BE49-F238E27FC236}">
                <a16:creationId xmlns:a16="http://schemas.microsoft.com/office/drawing/2014/main" id="{62A69C82-6630-4410-94D8-47FF82D56738}"/>
              </a:ext>
            </a:extLst>
          </p:cNvPr>
          <p:cNvSpPr>
            <a:spLocks xmlns:a="http://schemas.openxmlformats.org/drawingml/2006/main" noGrp="1"/>
          </p:cNvSpPr>
          <p:nvPr/>
        </p:nvSpPr>
        <p:spPr>
          <a:xfrm xmlns:a="http://schemas.openxmlformats.org/drawingml/2006/main">
            <a:off x="11334750" y="14401800"/>
            <a:ext cx="2619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FastAPI returns retrieved text</a:t>
            </a:r>
          </a:p>
        </p:txBody>
      </p:sp>
      <p:sp>
        <p:nvSpPr>
          <p:cNvPr id="89" name="">
            <a:extLst xmlns:a="http://schemas.openxmlformats.org/drawingml/2006/main">
              <a:ext uri="{FF2B5EF4-FFF2-40B4-BE49-F238E27FC236}">
                <a16:creationId xmlns:a16="http://schemas.microsoft.com/office/drawing/2014/main" id="{0F6C83CF-C96B-4161-9B30-A85DD991A32A}"/>
              </a:ext>
            </a:extLst>
          </p:cNvPr>
          <p:cNvSpPr>
            <a:spLocks xmlns:a="http://schemas.openxmlformats.org/drawingml/2006/main" noGrp="1"/>
          </p:cNvSpPr>
          <p:nvPr/>
        </p:nvSpPr>
        <p:spPr>
          <a:xfrm xmlns:a="http://schemas.openxmlformats.org/drawingml/2006/main">
            <a:off x="14668500" y="12954000"/>
            <a:ext cx="3000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83" name=""/>
          <p:cNvPicPr>
            <a:picLocks xmlns:a="http://schemas.openxmlformats.org/drawingml/2006/main" noChangeAspect="1"/>
          </p:cNvPicPr>
          <p:nvPr/>
        </p:nvPicPr>
        <p:blipFill>
          <a:blip xmlns:r="http://schemas.openxmlformats.org/officeDocument/2006/relationships" xmlns:a="http://schemas.openxmlformats.org/drawingml/2006/main" r:embed="Rfc5844ac33d74985"/>
          <a:stretch xmlns:a="http://schemas.openxmlformats.org/drawingml/2006/main"/>
        </p:blipFill>
        <p:spPr>
          <a:xfrm xmlns:a="http://schemas.openxmlformats.org/drawingml/2006/main">
            <a:off x="14839950" y="13106400"/>
            <a:ext cx="552450" cy="552450"/>
          </a:xfrm>
          <a:prstGeom xmlns:a="http://schemas.openxmlformats.org/drawingml/2006/main" prst="rect">
            <a:avLst/>
          </a:prstGeom>
        </p:spPr>
      </p:pic>
      <p:sp>
        <p:nvSpPr>
          <p:cNvPr id="91" name="">
            <a:extLst xmlns:a="http://schemas.openxmlformats.org/drawingml/2006/main">
              <a:ext uri="{FF2B5EF4-FFF2-40B4-BE49-F238E27FC236}">
                <a16:creationId xmlns:a16="http://schemas.microsoft.com/office/drawing/2014/main" id="{976D985A-8FD5-431A-8CD3-F21AF90D610F}"/>
              </a:ext>
            </a:extLst>
          </p:cNvPr>
          <p:cNvSpPr>
            <a:spLocks xmlns:a="http://schemas.openxmlformats.org/drawingml/2006/main" noGrp="1"/>
          </p:cNvSpPr>
          <p:nvPr/>
        </p:nvSpPr>
        <p:spPr>
          <a:xfrm xmlns:a="http://schemas.openxmlformats.org/drawingml/2006/main">
            <a:off x="14859000" y="137350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4231D"/>
                </a:solidFill>
                <a:latin typeface="Arial"/>
                <a:ea typeface="Arial"/>
                <a:cs typeface="Arial"/>
              </a:defRPr>
            </a:pPr>
            <a:r>
              <a:rPr sz="1950" b="1">
                <a:solidFill>
                  <a:srgbClr val="34231D"/>
                </a:solidFill>
                <a:latin typeface="Arial"/>
                <a:ea typeface="Arial"/>
                <a:cs typeface="Arial"/>
              </a:rPr>
              <a:t>Grounded answer</a:t>
            </a:r>
          </a:p>
        </p:txBody>
      </p:sp>
      <p:sp>
        <p:nvSpPr>
          <p:cNvPr id="92" name="">
            <a:extLst xmlns:a="http://schemas.openxmlformats.org/drawingml/2006/main">
              <a:ext uri="{FF2B5EF4-FFF2-40B4-BE49-F238E27FC236}">
                <a16:creationId xmlns:a16="http://schemas.microsoft.com/office/drawing/2014/main" id="{B95A9619-A1DE-4098-AC15-1CC61147D901}"/>
              </a:ext>
            </a:extLst>
          </p:cNvPr>
          <p:cNvSpPr>
            <a:spLocks xmlns:a="http://schemas.openxmlformats.org/drawingml/2006/main" noGrp="1"/>
          </p:cNvSpPr>
          <p:nvPr/>
        </p:nvSpPr>
        <p:spPr>
          <a:xfrm xmlns:a="http://schemas.openxmlformats.org/drawingml/2006/main">
            <a:off x="14859000" y="14401800"/>
            <a:ext cx="2619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Answer using restaurant source text</a:t>
            </a:r>
          </a:p>
        </p:txBody>
      </p:sp>
      <p:cxnSp>
        <p:nvCxnSpPr>
          <p:cNvPr id="286" name=""/>
          <p:cNvCxnSpPr>
            <a:stCxn xmlns:a="http://schemas.openxmlformats.org/drawingml/2006/main" id="71" idx="3"/>
            <a:endCxn xmlns:a="http://schemas.openxmlformats.org/drawingml/2006/main" id="75" idx="1"/>
          </p:cNvCxnSpPr>
          <p:nvPr/>
        </p:nvCxnSpPr>
        <p:spPr>
          <a:xfrm xmlns:a="http://schemas.openxmlformats.org/drawingml/2006/main">
            <a:off x="3571875" y="13977938"/>
            <a:ext cx="52387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87" name=""/>
          <p:cNvCxnSpPr>
            <a:stCxn xmlns:a="http://schemas.openxmlformats.org/drawingml/2006/main" id="75" idx="3"/>
            <a:endCxn xmlns:a="http://schemas.openxmlformats.org/drawingml/2006/main" id="79" idx="1"/>
          </p:cNvCxnSpPr>
          <p:nvPr/>
        </p:nvCxnSpPr>
        <p:spPr>
          <a:xfrm xmlns:a="http://schemas.openxmlformats.org/drawingml/2006/main">
            <a:off x="7096125" y="13977938"/>
            <a:ext cx="52387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88" name=""/>
          <p:cNvCxnSpPr>
            <a:stCxn xmlns:a="http://schemas.openxmlformats.org/drawingml/2006/main" id="79" idx="3"/>
            <a:endCxn xmlns:a="http://schemas.openxmlformats.org/drawingml/2006/main" id="84" idx="1"/>
          </p:cNvCxnSpPr>
          <p:nvPr/>
        </p:nvCxnSpPr>
        <p:spPr>
          <a:xfrm xmlns:a="http://schemas.openxmlformats.org/drawingml/2006/main">
            <a:off x="10620375" y="13977938"/>
            <a:ext cx="52387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89" name=""/>
          <p:cNvCxnSpPr>
            <a:stCxn xmlns:a="http://schemas.openxmlformats.org/drawingml/2006/main" id="84" idx="3"/>
            <a:endCxn xmlns:a="http://schemas.openxmlformats.org/drawingml/2006/main" id="89" idx="1"/>
          </p:cNvCxnSpPr>
          <p:nvPr/>
        </p:nvCxnSpPr>
        <p:spPr>
          <a:xfrm xmlns:a="http://schemas.openxmlformats.org/drawingml/2006/main">
            <a:off x="14144625" y="13977938"/>
            <a:ext cx="52387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97" name="">
            <a:extLst xmlns:a="http://schemas.openxmlformats.org/drawingml/2006/main">
              <a:ext uri="{FF2B5EF4-FFF2-40B4-BE49-F238E27FC236}">
                <a16:creationId xmlns:a16="http://schemas.microsoft.com/office/drawing/2014/main" id="{4339862E-F3A4-40DB-BC3C-A3FB9250CF14}"/>
              </a:ext>
            </a:extLst>
          </p:cNvPr>
          <p:cNvSpPr>
            <a:spLocks xmlns:a="http://schemas.openxmlformats.org/drawingml/2006/main" noGrp="1"/>
          </p:cNvSpPr>
          <p:nvPr/>
        </p:nvSpPr>
        <p:spPr>
          <a:xfrm xmlns:a="http://schemas.openxmlformats.org/drawingml/2006/main">
            <a:off x="571500" y="15478125"/>
            <a:ext cx="1685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C9502F"/>
                </a:solidFill>
                <a:latin typeface="Arial"/>
                <a:ea typeface="Arial"/>
                <a:cs typeface="Arial"/>
              </a:defRPr>
            </a:pPr>
            <a:r>
              <a:rPr sz="2925" b="1">
                <a:solidFill>
                  <a:srgbClr val="C9502F"/>
                </a:solidFill>
                <a:latin typeface="Arial"/>
                <a:ea typeface="Arial"/>
                <a:cs typeface="Arial"/>
              </a:rPr>
              <a:t>C. Bedrock GPT-OSS 20B and business tools</a:t>
            </a:r>
          </a:p>
        </p:txBody>
      </p:sp>
      <p:sp>
        <p:nvSpPr>
          <p:cNvPr id="98" name="">
            <a:extLst xmlns:a="http://schemas.openxmlformats.org/drawingml/2006/main">
              <a:ext uri="{FF2B5EF4-FFF2-40B4-BE49-F238E27FC236}">
                <a16:creationId xmlns:a16="http://schemas.microsoft.com/office/drawing/2014/main" id="{4578A23A-3C33-4801-8CE4-48034F6A40CD}"/>
              </a:ext>
            </a:extLst>
          </p:cNvPr>
          <p:cNvSpPr>
            <a:spLocks xmlns:a="http://schemas.openxmlformats.org/drawingml/2006/main" noGrp="1"/>
          </p:cNvSpPr>
          <p:nvPr/>
        </p:nvSpPr>
        <p:spPr>
          <a:xfrm xmlns:a="http://schemas.openxmlformats.org/drawingml/2006/main">
            <a:off x="571500" y="15992475"/>
            <a:ext cx="1685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Memory → Converse → tool selection → FastAPI execution → results → answer (up to 4 tool rounds)</a:t>
            </a:r>
          </a:p>
        </p:txBody>
      </p:sp>
      <p:sp>
        <p:nvSpPr>
          <p:cNvPr id="99" name="">
            <a:extLst xmlns:a="http://schemas.openxmlformats.org/drawingml/2006/main">
              <a:ext uri="{FF2B5EF4-FFF2-40B4-BE49-F238E27FC236}">
                <a16:creationId xmlns:a16="http://schemas.microsoft.com/office/drawing/2014/main" id="{08D1AC78-B8A2-45B1-8FC8-CB1C89E37B97}"/>
              </a:ext>
            </a:extLst>
          </p:cNvPr>
          <p:cNvSpPr>
            <a:spLocks xmlns:a="http://schemas.openxmlformats.org/drawingml/2006/main" noGrp="1"/>
          </p:cNvSpPr>
          <p:nvPr/>
        </p:nvSpPr>
        <p:spPr>
          <a:xfrm xmlns:a="http://schemas.openxmlformats.org/drawingml/2006/main">
            <a:off x="571500" y="16544925"/>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search-knowledge</a:t>
            </a:r>
          </a:p>
        </p:txBody>
      </p:sp>
      <p:sp>
        <p:nvSpPr>
          <p:cNvPr id="100" name="">
            <a:extLst xmlns:a="http://schemas.openxmlformats.org/drawingml/2006/main">
              <a:ext uri="{FF2B5EF4-FFF2-40B4-BE49-F238E27FC236}">
                <a16:creationId xmlns:a16="http://schemas.microsoft.com/office/drawing/2014/main" id="{B1F06F27-7B47-4DC7-A81B-9AE3EC5CF09F}"/>
              </a:ext>
            </a:extLst>
          </p:cNvPr>
          <p:cNvSpPr>
            <a:spLocks xmlns:a="http://schemas.openxmlformats.org/drawingml/2006/main" noGrp="1"/>
          </p:cNvSpPr>
          <p:nvPr/>
        </p:nvSpPr>
        <p:spPr>
          <a:xfrm xmlns:a="http://schemas.openxmlformats.org/drawingml/2006/main">
            <a:off x="4857750" y="165449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Restaurant facts through RAG</a:t>
            </a:r>
          </a:p>
        </p:txBody>
      </p:sp>
      <p:sp>
        <p:nvSpPr>
          <p:cNvPr id="101" name="">
            <a:extLst xmlns:a="http://schemas.openxmlformats.org/drawingml/2006/main">
              <a:ext uri="{FF2B5EF4-FFF2-40B4-BE49-F238E27FC236}">
                <a16:creationId xmlns:a16="http://schemas.microsoft.com/office/drawing/2014/main" id="{2DA6B69E-9DEF-4001-B55C-C95C73FE6DA8}"/>
              </a:ext>
            </a:extLst>
          </p:cNvPr>
          <p:cNvSpPr>
            <a:spLocks xmlns:a="http://schemas.openxmlformats.org/drawingml/2006/main" noGrp="1"/>
          </p:cNvSpPr>
          <p:nvPr/>
        </p:nvSpPr>
        <p:spPr>
          <a:xfrm xmlns:a="http://schemas.openxmlformats.org/drawingml/2006/main">
            <a:off x="9334500" y="16544925"/>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search-menu</a:t>
            </a:r>
          </a:p>
        </p:txBody>
      </p:sp>
      <p:sp>
        <p:nvSpPr>
          <p:cNvPr id="102" name="">
            <a:extLst xmlns:a="http://schemas.openxmlformats.org/drawingml/2006/main">
              <a:ext uri="{FF2B5EF4-FFF2-40B4-BE49-F238E27FC236}">
                <a16:creationId xmlns:a16="http://schemas.microsoft.com/office/drawing/2014/main" id="{BD4BB3E6-7EC6-433A-8D98-EE956C496C75}"/>
              </a:ext>
            </a:extLst>
          </p:cNvPr>
          <p:cNvSpPr>
            <a:spLocks xmlns:a="http://schemas.openxmlformats.org/drawingml/2006/main" noGrp="1"/>
          </p:cNvSpPr>
          <p:nvPr/>
        </p:nvSpPr>
        <p:spPr>
          <a:xfrm xmlns:a="http://schemas.openxmlformats.org/drawingml/2006/main">
            <a:off x="13620750" y="165449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Current dishes, prices and stock</a:t>
            </a:r>
          </a:p>
        </p:txBody>
      </p:sp>
      <p:sp>
        <p:nvSpPr>
          <p:cNvPr id="103" name="">
            <a:extLst xmlns:a="http://schemas.openxmlformats.org/drawingml/2006/main">
              <a:ext uri="{FF2B5EF4-FFF2-40B4-BE49-F238E27FC236}">
                <a16:creationId xmlns:a16="http://schemas.microsoft.com/office/drawing/2014/main" id="{9A7D40ED-DC01-4D2F-9692-14F29940905D}"/>
              </a:ext>
            </a:extLst>
          </p:cNvPr>
          <p:cNvSpPr>
            <a:spLocks xmlns:a="http://schemas.openxmlformats.org/drawingml/2006/main" noGrp="1"/>
          </p:cNvSpPr>
          <p:nvPr/>
        </p:nvSpPr>
        <p:spPr>
          <a:xfrm xmlns:a="http://schemas.openxmlformats.org/drawingml/2006/main">
            <a:off x="571500" y="1710690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check-order-items</a:t>
            </a:r>
          </a:p>
        </p:txBody>
      </p:sp>
      <p:sp>
        <p:nvSpPr>
          <p:cNvPr id="104" name="">
            <a:extLst xmlns:a="http://schemas.openxmlformats.org/drawingml/2006/main">
              <a:ext uri="{FF2B5EF4-FFF2-40B4-BE49-F238E27FC236}">
                <a16:creationId xmlns:a16="http://schemas.microsoft.com/office/drawing/2014/main" id="{4D7EA74D-890B-46F5-A597-0C63DA0ECDA9}"/>
              </a:ext>
            </a:extLst>
          </p:cNvPr>
          <p:cNvSpPr>
            <a:spLocks xmlns:a="http://schemas.openxmlformats.org/drawingml/2006/main" noGrp="1"/>
          </p:cNvSpPr>
          <p:nvPr/>
        </p:nvSpPr>
        <p:spPr>
          <a:xfrm xmlns:a="http://schemas.openxmlformats.org/drawingml/2006/main">
            <a:off x="4857750" y="1710690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Quantities, stock and subtotal</a:t>
            </a:r>
          </a:p>
        </p:txBody>
      </p:sp>
      <p:sp>
        <p:nvSpPr>
          <p:cNvPr id="105" name="">
            <a:extLst xmlns:a="http://schemas.openxmlformats.org/drawingml/2006/main">
              <a:ext uri="{FF2B5EF4-FFF2-40B4-BE49-F238E27FC236}">
                <a16:creationId xmlns:a16="http://schemas.microsoft.com/office/drawing/2014/main" id="{ED3E82A8-B7B4-49D3-9310-3DFE5A382DC1}"/>
              </a:ext>
            </a:extLst>
          </p:cNvPr>
          <p:cNvSpPr>
            <a:spLocks xmlns:a="http://schemas.openxmlformats.org/drawingml/2006/main" noGrp="1"/>
          </p:cNvSpPr>
          <p:nvPr/>
        </p:nvSpPr>
        <p:spPr>
          <a:xfrm xmlns:a="http://schemas.openxmlformats.org/drawingml/2006/main">
            <a:off x="9334500" y="1710690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create-order-draft</a:t>
            </a:r>
          </a:p>
        </p:txBody>
      </p:sp>
      <p:sp>
        <p:nvSpPr>
          <p:cNvPr id="106" name="">
            <a:extLst xmlns:a="http://schemas.openxmlformats.org/drawingml/2006/main">
              <a:ext uri="{FF2B5EF4-FFF2-40B4-BE49-F238E27FC236}">
                <a16:creationId xmlns:a16="http://schemas.microsoft.com/office/drawing/2014/main" id="{6593A929-4DA6-4C4F-A4B2-4CB5B3961709}"/>
              </a:ext>
            </a:extLst>
          </p:cNvPr>
          <p:cNvSpPr>
            <a:spLocks xmlns:a="http://schemas.openxmlformats.org/drawingml/2006/main" noGrp="1"/>
          </p:cNvSpPr>
          <p:nvPr/>
        </p:nvSpPr>
        <p:spPr>
          <a:xfrm xmlns:a="http://schemas.openxmlformats.org/drawingml/2006/main">
            <a:off x="13620750" y="1710690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Draft after address approval</a:t>
            </a:r>
          </a:p>
        </p:txBody>
      </p:sp>
      <p:sp>
        <p:nvSpPr>
          <p:cNvPr id="107" name="">
            <a:extLst xmlns:a="http://schemas.openxmlformats.org/drawingml/2006/main">
              <a:ext uri="{FF2B5EF4-FFF2-40B4-BE49-F238E27FC236}">
                <a16:creationId xmlns:a16="http://schemas.microsoft.com/office/drawing/2014/main" id="{12F90935-12C8-4069-A255-BC65C2BF1673}"/>
              </a:ext>
            </a:extLst>
          </p:cNvPr>
          <p:cNvSpPr>
            <a:spLocks xmlns:a="http://schemas.openxmlformats.org/drawingml/2006/main" noGrp="1"/>
          </p:cNvSpPr>
          <p:nvPr/>
        </p:nvSpPr>
        <p:spPr>
          <a:xfrm xmlns:a="http://schemas.openxmlformats.org/drawingml/2006/main">
            <a:off x="571500" y="17668875"/>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confirm-order</a:t>
            </a:r>
          </a:p>
        </p:txBody>
      </p:sp>
      <p:sp>
        <p:nvSpPr>
          <p:cNvPr id="108" name="">
            <a:extLst xmlns:a="http://schemas.openxmlformats.org/drawingml/2006/main">
              <a:ext uri="{FF2B5EF4-FFF2-40B4-BE49-F238E27FC236}">
                <a16:creationId xmlns:a16="http://schemas.microsoft.com/office/drawing/2014/main" id="{F5E4DB7D-3CB7-488E-AE94-6EB3A7153CB8}"/>
              </a:ext>
            </a:extLst>
          </p:cNvPr>
          <p:cNvSpPr>
            <a:spLocks xmlns:a="http://schemas.openxmlformats.org/drawingml/2006/main" noGrp="1"/>
          </p:cNvSpPr>
          <p:nvPr/>
        </p:nvSpPr>
        <p:spPr>
          <a:xfrm xmlns:a="http://schemas.openxmlformats.org/drawingml/2006/main">
            <a:off x="4857750" y="176688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Recheck stock, confirm, reduce stock</a:t>
            </a:r>
          </a:p>
        </p:txBody>
      </p:sp>
      <p:sp>
        <p:nvSpPr>
          <p:cNvPr id="109" name="">
            <a:extLst xmlns:a="http://schemas.openxmlformats.org/drawingml/2006/main">
              <a:ext uri="{FF2B5EF4-FFF2-40B4-BE49-F238E27FC236}">
                <a16:creationId xmlns:a16="http://schemas.microsoft.com/office/drawing/2014/main" id="{893C6057-DAFC-4DF6-BE0D-FCC7789A6F0D}"/>
              </a:ext>
            </a:extLst>
          </p:cNvPr>
          <p:cNvSpPr>
            <a:spLocks xmlns:a="http://schemas.openxmlformats.org/drawingml/2006/main" noGrp="1"/>
          </p:cNvSpPr>
          <p:nvPr/>
        </p:nvSpPr>
        <p:spPr>
          <a:xfrm xmlns:a="http://schemas.openxmlformats.org/drawingml/2006/main">
            <a:off x="9334500" y="17668875"/>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check-table-availability</a:t>
            </a:r>
          </a:p>
        </p:txBody>
      </p:sp>
      <p:sp>
        <p:nvSpPr>
          <p:cNvPr id="110" name="">
            <a:extLst xmlns:a="http://schemas.openxmlformats.org/drawingml/2006/main">
              <a:ext uri="{FF2B5EF4-FFF2-40B4-BE49-F238E27FC236}">
                <a16:creationId xmlns:a16="http://schemas.microsoft.com/office/drawing/2014/main" id="{EF298420-62C4-416A-95C2-8EB32F038E02}"/>
              </a:ext>
            </a:extLst>
          </p:cNvPr>
          <p:cNvSpPr>
            <a:spLocks xmlns:a="http://schemas.openxmlformats.org/drawingml/2006/main" noGrp="1"/>
          </p:cNvSpPr>
          <p:nvPr/>
        </p:nvSpPr>
        <p:spPr>
          <a:xfrm xmlns:a="http://schemas.openxmlformats.org/drawingml/2006/main">
            <a:off x="13620750" y="176688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Capacity and two-hour overlaps</a:t>
            </a:r>
          </a:p>
        </p:txBody>
      </p:sp>
      <p:sp>
        <p:nvSpPr>
          <p:cNvPr id="111" name="">
            <a:extLst xmlns:a="http://schemas.openxmlformats.org/drawingml/2006/main">
              <a:ext uri="{FF2B5EF4-FFF2-40B4-BE49-F238E27FC236}">
                <a16:creationId xmlns:a16="http://schemas.microsoft.com/office/drawing/2014/main" id="{95E35DD7-F75E-4FAF-B4BB-5288E2887E40}"/>
              </a:ext>
            </a:extLst>
          </p:cNvPr>
          <p:cNvSpPr>
            <a:spLocks xmlns:a="http://schemas.openxmlformats.org/drawingml/2006/main" noGrp="1"/>
          </p:cNvSpPr>
          <p:nvPr/>
        </p:nvSpPr>
        <p:spPr>
          <a:xfrm xmlns:a="http://schemas.openxmlformats.org/drawingml/2006/main">
            <a:off x="571500" y="1823085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create-reservation-draft</a:t>
            </a:r>
          </a:p>
        </p:txBody>
      </p:sp>
      <p:sp>
        <p:nvSpPr>
          <p:cNvPr id="112" name="">
            <a:extLst xmlns:a="http://schemas.openxmlformats.org/drawingml/2006/main">
              <a:ext uri="{FF2B5EF4-FFF2-40B4-BE49-F238E27FC236}">
                <a16:creationId xmlns:a16="http://schemas.microsoft.com/office/drawing/2014/main" id="{F520847D-6108-4EDC-A0DE-DE31E5DF7645}"/>
              </a:ext>
            </a:extLst>
          </p:cNvPr>
          <p:cNvSpPr>
            <a:spLocks xmlns:a="http://schemas.openxmlformats.org/drawingml/2006/main" noGrp="1"/>
          </p:cNvSpPr>
          <p:nvPr/>
        </p:nvSpPr>
        <p:spPr>
          <a:xfrm xmlns:a="http://schemas.openxmlformats.org/drawingml/2006/main">
            <a:off x="4857750" y="1823085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Save unconfirmed booking details</a:t>
            </a:r>
          </a:p>
        </p:txBody>
      </p:sp>
      <p:sp>
        <p:nvSpPr>
          <p:cNvPr id="113" name="">
            <a:extLst xmlns:a="http://schemas.openxmlformats.org/drawingml/2006/main">
              <a:ext uri="{FF2B5EF4-FFF2-40B4-BE49-F238E27FC236}">
                <a16:creationId xmlns:a16="http://schemas.microsoft.com/office/drawing/2014/main" id="{B854C34A-94E7-4CCB-A1A3-EEE3A86F6601}"/>
              </a:ext>
            </a:extLst>
          </p:cNvPr>
          <p:cNvSpPr>
            <a:spLocks xmlns:a="http://schemas.openxmlformats.org/drawingml/2006/main" noGrp="1"/>
          </p:cNvSpPr>
          <p:nvPr/>
        </p:nvSpPr>
        <p:spPr>
          <a:xfrm xmlns:a="http://schemas.openxmlformats.org/drawingml/2006/main">
            <a:off x="9334500" y="1823085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confirm-reservation</a:t>
            </a:r>
          </a:p>
        </p:txBody>
      </p:sp>
      <p:sp>
        <p:nvSpPr>
          <p:cNvPr id="114" name="">
            <a:extLst xmlns:a="http://schemas.openxmlformats.org/drawingml/2006/main">
              <a:ext uri="{FF2B5EF4-FFF2-40B4-BE49-F238E27FC236}">
                <a16:creationId xmlns:a16="http://schemas.microsoft.com/office/drawing/2014/main" id="{2C5662CF-1F12-4358-B2BF-9D73C853771E}"/>
              </a:ext>
            </a:extLst>
          </p:cNvPr>
          <p:cNvSpPr>
            <a:spLocks xmlns:a="http://schemas.openxmlformats.org/drawingml/2006/main" noGrp="1"/>
          </p:cNvSpPr>
          <p:nvPr/>
        </p:nvSpPr>
        <p:spPr>
          <a:xfrm xmlns:a="http://schemas.openxmlformats.org/drawingml/2006/main">
            <a:off x="13620750" y="1823085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Recheck, assign table and confirm</a:t>
            </a:r>
          </a:p>
        </p:txBody>
      </p:sp>
      <p:sp>
        <p:nvSpPr>
          <p:cNvPr id="115" name="">
            <a:extLst xmlns:a="http://schemas.openxmlformats.org/drawingml/2006/main">
              <a:ext uri="{FF2B5EF4-FFF2-40B4-BE49-F238E27FC236}">
                <a16:creationId xmlns:a16="http://schemas.microsoft.com/office/drawing/2014/main" id="{ECB7AE44-2383-413E-BCC3-898674172E7D}"/>
              </a:ext>
            </a:extLst>
          </p:cNvPr>
          <p:cNvSpPr>
            <a:spLocks xmlns:a="http://schemas.openxmlformats.org/drawingml/2006/main" noGrp="1"/>
          </p:cNvSpPr>
          <p:nvPr/>
        </p:nvSpPr>
        <p:spPr>
          <a:xfrm xmlns:a="http://schemas.openxmlformats.org/drawingml/2006/main">
            <a:off x="571500" y="18954750"/>
            <a:ext cx="17097375" cy="790575"/>
          </a:xfrm>
          <a:prstGeom xmlns:a="http://schemas.openxmlformats.org/drawingml/2006/main" prst="rect">
            <a:avLst/>
          </a:prstGeom>
          <a:solidFill xmlns:a="http://schemas.openxmlformats.org/drawingml/2006/main">
            <a:srgbClr val="F6E7D4"/>
          </a:solidFill>
          <a:ln xmlns:a="http://schemas.openxmlformats.org/drawingml/2006/main" w="19050">
            <a:solidFill>
              <a:srgbClr val="EAD7C0"/>
            </a:solidFill>
            <a:prstDash val="solid"/>
          </a:ln>
        </p:spPr>
      </p:sp>
      <p:pic>
        <p:nvPicPr>
          <p:cNvPr id="309" name=""/>
          <p:cNvPicPr>
            <a:picLocks xmlns:a="http://schemas.openxmlformats.org/drawingml/2006/main" noChangeAspect="1"/>
          </p:cNvPicPr>
          <p:nvPr/>
        </p:nvPicPr>
        <p:blipFill>
          <a:blip xmlns:r="http://schemas.openxmlformats.org/officeDocument/2006/relationships" xmlns:a="http://schemas.openxmlformats.org/drawingml/2006/main" r:embed="R6d60ba98c1cb4f18"/>
          <a:stretch xmlns:a="http://schemas.openxmlformats.org/drawingml/2006/main"/>
        </p:blipFill>
        <p:spPr>
          <a:xfrm xmlns:a="http://schemas.openxmlformats.org/drawingml/2006/main">
            <a:off x="714375" y="19088100"/>
            <a:ext cx="457200" cy="457200"/>
          </a:xfrm>
          <a:prstGeom xmlns:a="http://schemas.openxmlformats.org/drawingml/2006/main" prst="rect">
            <a:avLst/>
          </a:prstGeom>
        </p:spPr>
      </p:pic>
      <p:sp>
        <p:nvSpPr>
          <p:cNvPr id="117" name="">
            <a:extLst xmlns:a="http://schemas.openxmlformats.org/drawingml/2006/main">
              <a:ext uri="{FF2B5EF4-FFF2-40B4-BE49-F238E27FC236}">
                <a16:creationId xmlns:a16="http://schemas.microsoft.com/office/drawing/2014/main" id="{C5DAFB8A-B0CA-44EE-B573-C82D73B5A154}"/>
              </a:ext>
            </a:extLst>
          </p:cNvPr>
          <p:cNvSpPr>
            <a:spLocks xmlns:a="http://schemas.openxmlformats.org/drawingml/2006/main" noGrp="1"/>
          </p:cNvSpPr>
          <p:nvPr/>
        </p:nvSpPr>
        <p:spPr>
          <a:xfrm xmlns:a="http://schemas.openxmlformats.org/drawingml/2006/main">
            <a:off x="1381125" y="19040475"/>
            <a:ext cx="16002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C9502F"/>
                </a:solidFill>
                <a:latin typeface="Arial"/>
                <a:ea typeface="Arial"/>
                <a:cs typeface="Arial"/>
              </a:defRPr>
            </a:pPr>
            <a:r>
              <a:rPr sz="2175" b="1">
                <a:solidFill>
                  <a:srgbClr val="C9502F"/>
                </a:solidFill>
                <a:latin typeface="Arial"/>
                <a:ea typeface="Arial"/>
                <a:cs typeface="Arial"/>
              </a:rPr>
              <a:t>Amazon Bedrock Guardrails (optional chat policy)</a:t>
            </a:r>
          </a:p>
        </p:txBody>
      </p:sp>
      <p:sp>
        <p:nvSpPr>
          <p:cNvPr id="118" name="">
            <a:extLst xmlns:a="http://schemas.openxmlformats.org/drawingml/2006/main">
              <a:ext uri="{FF2B5EF4-FFF2-40B4-BE49-F238E27FC236}">
                <a16:creationId xmlns:a16="http://schemas.microsoft.com/office/drawing/2014/main" id="{5F8F6696-6A4D-41BF-8B7D-E32BD04E5A4A}"/>
              </a:ext>
            </a:extLst>
          </p:cNvPr>
          <p:cNvSpPr>
            <a:spLocks xmlns:a="http://schemas.openxmlformats.org/drawingml/2006/main" noGrp="1"/>
          </p:cNvSpPr>
          <p:nvPr/>
        </p:nvSpPr>
        <p:spPr>
          <a:xfrm xmlns:a="http://schemas.openxmlformats.org/drawingml/2006/main">
            <a:off x="1381125" y="19431000"/>
            <a:ext cx="1590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4231D"/>
                </a:solidFill>
                <a:latin typeface="Arial"/>
                <a:ea typeface="Arial"/>
                <a:cs typeface="Arial"/>
              </a:defRPr>
            </a:pPr>
            <a:r>
              <a:rPr sz="1800" b="0">
                <a:solidFill>
                  <a:srgbClr val="34231D"/>
                </a:solidFill>
                <a:latin typeface="Arial"/>
                <a:ea typeface="Arial"/>
                <a:cs typeface="Arial"/>
              </a:rPr>
              <a:t>Prompt-injection / jailbreak filtering; harmful-content and blocked-word policies; safe blocked response.</a:t>
            </a:r>
          </a:p>
        </p:txBody>
      </p:sp>
      <p:sp>
        <p:nvSpPr>
          <p:cNvPr id="119" name="">
            <a:extLst xmlns:a="http://schemas.openxmlformats.org/drawingml/2006/main">
              <a:ext uri="{FF2B5EF4-FFF2-40B4-BE49-F238E27FC236}">
                <a16:creationId xmlns:a16="http://schemas.microsoft.com/office/drawing/2014/main" id="{9D131F8D-FE6B-452D-99D1-2BCBD0F120AC}"/>
              </a:ext>
            </a:extLst>
          </p:cNvPr>
          <p:cNvSpPr>
            <a:spLocks xmlns:a="http://schemas.openxmlformats.org/drawingml/2006/main" noGrp="1"/>
          </p:cNvSpPr>
          <p:nvPr/>
        </p:nvSpPr>
        <p:spPr>
          <a:xfrm xmlns:a="http://schemas.openxmlformats.org/drawingml/2006/main">
            <a:off x="19145250" y="5953125"/>
            <a:ext cx="1685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C9502F"/>
                </a:solidFill>
                <a:latin typeface="Arial"/>
                <a:ea typeface="Arial"/>
                <a:cs typeface="Arial"/>
              </a:defRPr>
            </a:pPr>
            <a:r>
              <a:rPr sz="2925" b="1">
                <a:solidFill>
                  <a:srgbClr val="C9502F"/>
                </a:solidFill>
                <a:latin typeface="Arial"/>
                <a:ea typeface="Arial"/>
                <a:cs typeface="Arial"/>
              </a:rPr>
              <a:t>D. Complete voice conversation</a:t>
            </a:r>
          </a:p>
        </p:txBody>
      </p:sp>
      <p:sp>
        <p:nvSpPr>
          <p:cNvPr id="120" name="">
            <a:extLst xmlns:a="http://schemas.openxmlformats.org/drawingml/2006/main">
              <a:ext uri="{FF2B5EF4-FFF2-40B4-BE49-F238E27FC236}">
                <a16:creationId xmlns:a16="http://schemas.microsoft.com/office/drawing/2014/main" id="{9D13370B-718D-4FCC-B488-7661F278CC68}"/>
              </a:ext>
            </a:extLst>
          </p:cNvPr>
          <p:cNvSpPr>
            <a:spLocks xmlns:a="http://schemas.openxmlformats.org/drawingml/2006/main" noGrp="1"/>
          </p:cNvSpPr>
          <p:nvPr/>
        </p:nvSpPr>
        <p:spPr>
          <a:xfrm xmlns:a="http://schemas.openxmlformats.org/drawingml/2006/main">
            <a:off x="19145250" y="6467475"/>
            <a:ext cx="1685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Chime setup: FastAPI creates meeting + attendee; browser joins Chime directly</a:t>
            </a:r>
          </a:p>
        </p:txBody>
      </p:sp>
      <p:sp>
        <p:nvSpPr>
          <p:cNvPr id="121" name="">
            <a:extLst xmlns:a="http://schemas.openxmlformats.org/drawingml/2006/main">
              <a:ext uri="{FF2B5EF4-FFF2-40B4-BE49-F238E27FC236}">
                <a16:creationId xmlns:a16="http://schemas.microsoft.com/office/drawing/2014/main" id="{192F2E7E-2BF9-4E09-B07C-384FCA1AA89A}"/>
              </a:ext>
            </a:extLst>
          </p:cNvPr>
          <p:cNvSpPr>
            <a:spLocks xmlns:a="http://schemas.openxmlformats.org/drawingml/2006/main" noGrp="1"/>
          </p:cNvSpPr>
          <p:nvPr/>
        </p:nvSpPr>
        <p:spPr>
          <a:xfrm xmlns:a="http://schemas.openxmlformats.org/drawingml/2006/main">
            <a:off x="19145250" y="695325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315" name=""/>
          <p:cNvPicPr>
            <a:picLocks xmlns:a="http://schemas.openxmlformats.org/drawingml/2006/main" noChangeAspect="1"/>
          </p:cNvPicPr>
          <p:nvPr/>
        </p:nvPicPr>
        <p:blipFill>
          <a:blip xmlns:r="http://schemas.openxmlformats.org/officeDocument/2006/relationships" xmlns:a="http://schemas.openxmlformats.org/drawingml/2006/main" r:embed="Ra9c007df6a814838"/>
          <a:stretch xmlns:a="http://schemas.openxmlformats.org/drawingml/2006/main"/>
        </p:blipFill>
        <p:spPr>
          <a:xfrm xmlns:a="http://schemas.openxmlformats.org/drawingml/2006/main">
            <a:off x="19316700" y="7105650"/>
            <a:ext cx="552450" cy="552450"/>
          </a:xfrm>
          <a:prstGeom xmlns:a="http://schemas.openxmlformats.org/drawingml/2006/main" prst="rect">
            <a:avLst/>
          </a:prstGeom>
        </p:spPr>
      </p:pic>
      <p:sp>
        <p:nvSpPr>
          <p:cNvPr id="123" name="">
            <a:extLst xmlns:a="http://schemas.openxmlformats.org/drawingml/2006/main">
              <a:ext uri="{FF2B5EF4-FFF2-40B4-BE49-F238E27FC236}">
                <a16:creationId xmlns:a16="http://schemas.microsoft.com/office/drawing/2014/main" id="{ED1B93B3-23E4-440B-86CD-EAB271517D5E}"/>
              </a:ext>
            </a:extLst>
          </p:cNvPr>
          <p:cNvSpPr>
            <a:spLocks xmlns:a="http://schemas.openxmlformats.org/drawingml/2006/main" noGrp="1"/>
          </p:cNvSpPr>
          <p:nvPr/>
        </p:nvSpPr>
        <p:spPr>
          <a:xfrm xmlns:a="http://schemas.openxmlformats.org/drawingml/2006/main">
            <a:off x="19335750" y="773430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1. Customer microphone</a:t>
            </a:r>
          </a:p>
        </p:txBody>
      </p:sp>
      <p:sp>
        <p:nvSpPr>
          <p:cNvPr id="124" name="">
            <a:extLst xmlns:a="http://schemas.openxmlformats.org/drawingml/2006/main">
              <a:ext uri="{FF2B5EF4-FFF2-40B4-BE49-F238E27FC236}">
                <a16:creationId xmlns:a16="http://schemas.microsoft.com/office/drawing/2014/main" id="{9DDD63D5-A10A-44F7-8441-C00E08CB7089}"/>
              </a:ext>
            </a:extLst>
          </p:cNvPr>
          <p:cNvSpPr>
            <a:spLocks xmlns:a="http://schemas.openxmlformats.org/drawingml/2006/main" noGrp="1"/>
          </p:cNvSpPr>
          <p:nvPr/>
        </p:nvSpPr>
        <p:spPr>
          <a:xfrm xmlns:a="http://schemas.openxmlformats.org/drawingml/2006/main">
            <a:off x="19335750" y="8401050"/>
            <a:ext cx="361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PCM turn captured after silence</a:t>
            </a:r>
          </a:p>
        </p:txBody>
      </p:sp>
      <p:sp>
        <p:nvSpPr>
          <p:cNvPr id="125" name="">
            <a:extLst xmlns:a="http://schemas.openxmlformats.org/drawingml/2006/main">
              <a:ext uri="{FF2B5EF4-FFF2-40B4-BE49-F238E27FC236}">
                <a16:creationId xmlns:a16="http://schemas.microsoft.com/office/drawing/2014/main" id="{24C6E5E4-28C0-46BA-B26E-1017D39F817C}"/>
              </a:ext>
            </a:extLst>
          </p:cNvPr>
          <p:cNvSpPr>
            <a:spLocks xmlns:a="http://schemas.openxmlformats.org/drawingml/2006/main" noGrp="1"/>
          </p:cNvSpPr>
          <p:nvPr/>
        </p:nvSpPr>
        <p:spPr>
          <a:xfrm xmlns:a="http://schemas.openxmlformats.org/drawingml/2006/main">
            <a:off x="23431500" y="695325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319" name=""/>
          <p:cNvPicPr>
            <a:picLocks xmlns:a="http://schemas.openxmlformats.org/drawingml/2006/main" noChangeAspect="1"/>
          </p:cNvPicPr>
          <p:nvPr/>
        </p:nvPicPr>
        <p:blipFill>
          <a:blip xmlns:r="http://schemas.openxmlformats.org/officeDocument/2006/relationships" xmlns:a="http://schemas.openxmlformats.org/drawingml/2006/main" r:embed="R20b30e0fb94c4868"/>
          <a:stretch xmlns:a="http://schemas.openxmlformats.org/drawingml/2006/main"/>
        </p:blipFill>
        <p:spPr>
          <a:xfrm xmlns:a="http://schemas.openxmlformats.org/drawingml/2006/main">
            <a:off x="23602950" y="7105650"/>
            <a:ext cx="552450" cy="552450"/>
          </a:xfrm>
          <a:prstGeom xmlns:a="http://schemas.openxmlformats.org/drawingml/2006/main" prst="rect">
            <a:avLst/>
          </a:prstGeom>
        </p:spPr>
      </p:pic>
      <p:sp>
        <p:nvSpPr>
          <p:cNvPr id="127" name="">
            <a:extLst xmlns:a="http://schemas.openxmlformats.org/drawingml/2006/main">
              <a:ext uri="{FF2B5EF4-FFF2-40B4-BE49-F238E27FC236}">
                <a16:creationId xmlns:a16="http://schemas.microsoft.com/office/drawing/2014/main" id="{5AF79212-B289-4A41-B755-0CEF5B690399}"/>
              </a:ext>
            </a:extLst>
          </p:cNvPr>
          <p:cNvSpPr>
            <a:spLocks xmlns:a="http://schemas.openxmlformats.org/drawingml/2006/main" noGrp="1"/>
          </p:cNvSpPr>
          <p:nvPr/>
        </p:nvSpPr>
        <p:spPr>
          <a:xfrm xmlns:a="http://schemas.openxmlformats.org/drawingml/2006/main">
            <a:off x="23622000" y="773430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2. Upload + Transcribe</a:t>
            </a:r>
          </a:p>
        </p:txBody>
      </p:sp>
      <p:sp>
        <p:nvSpPr>
          <p:cNvPr id="128" name="">
            <a:extLst xmlns:a="http://schemas.openxmlformats.org/drawingml/2006/main">
              <a:ext uri="{FF2B5EF4-FFF2-40B4-BE49-F238E27FC236}">
                <a16:creationId xmlns:a16="http://schemas.microsoft.com/office/drawing/2014/main" id="{6A50742B-607C-4A7B-B264-9693E00353FD}"/>
              </a:ext>
            </a:extLst>
          </p:cNvPr>
          <p:cNvSpPr>
            <a:spLocks xmlns:a="http://schemas.openxmlformats.org/drawingml/2006/main" noGrp="1"/>
          </p:cNvSpPr>
          <p:nvPr/>
        </p:nvSpPr>
        <p:spPr>
          <a:xfrm xmlns:a="http://schemas.openxmlformats.org/drawingml/2006/main">
            <a:off x="23622000" y="8401050"/>
            <a:ext cx="361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FastAPI calls Transcribe Streaming</a:t>
            </a:r>
          </a:p>
        </p:txBody>
      </p:sp>
      <p:sp>
        <p:nvSpPr>
          <p:cNvPr id="129" name="">
            <a:extLst xmlns:a="http://schemas.openxmlformats.org/drawingml/2006/main">
              <a:ext uri="{FF2B5EF4-FFF2-40B4-BE49-F238E27FC236}">
                <a16:creationId xmlns:a16="http://schemas.microsoft.com/office/drawing/2014/main" id="{7D3883F6-C50F-46E8-8FF6-CB97CA2BB68B}"/>
              </a:ext>
            </a:extLst>
          </p:cNvPr>
          <p:cNvSpPr>
            <a:spLocks xmlns:a="http://schemas.openxmlformats.org/drawingml/2006/main" noGrp="1"/>
          </p:cNvSpPr>
          <p:nvPr/>
        </p:nvSpPr>
        <p:spPr>
          <a:xfrm xmlns:a="http://schemas.openxmlformats.org/drawingml/2006/main">
            <a:off x="27717750" y="695325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30" name="">
            <a:extLst xmlns:a="http://schemas.openxmlformats.org/drawingml/2006/main">
              <a:ext uri="{FF2B5EF4-FFF2-40B4-BE49-F238E27FC236}">
                <a16:creationId xmlns:a16="http://schemas.microsoft.com/office/drawing/2014/main" id="{EA4A70E0-DBCA-40B4-97DD-837F46455B80}"/>
              </a:ext>
            </a:extLst>
          </p:cNvPr>
          <p:cNvSpPr>
            <a:spLocks xmlns:a="http://schemas.openxmlformats.org/drawingml/2006/main" noGrp="1"/>
          </p:cNvSpPr>
          <p:nvPr/>
        </p:nvSpPr>
        <p:spPr>
          <a:xfrm xmlns:a="http://schemas.openxmlformats.org/drawingml/2006/main">
            <a:off x="27889200" y="710565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324" name=""/>
          <p:cNvPicPr>
            <a:picLocks xmlns:a="http://schemas.openxmlformats.org/drawingml/2006/main" noChangeAspect="1"/>
          </p:cNvPicPr>
          <p:nvPr/>
        </p:nvPicPr>
        <p:blipFill>
          <a:blip xmlns:r="http://schemas.openxmlformats.org/officeDocument/2006/relationships" xmlns:a="http://schemas.openxmlformats.org/drawingml/2006/main" r:embed="R5b50c05fde124ecc"/>
          <a:stretch xmlns:a="http://schemas.openxmlformats.org/drawingml/2006/main"/>
        </p:blipFill>
        <p:spPr>
          <a:xfrm xmlns:a="http://schemas.openxmlformats.org/drawingml/2006/main">
            <a:off x="27889200" y="7105650"/>
            <a:ext cx="552450" cy="552450"/>
          </a:xfrm>
          <a:prstGeom xmlns:a="http://schemas.openxmlformats.org/drawingml/2006/main" prst="rect">
            <a:avLst/>
          </a:prstGeom>
        </p:spPr>
      </p:pic>
      <p:sp>
        <p:nvSpPr>
          <p:cNvPr id="132" name="">
            <a:extLst xmlns:a="http://schemas.openxmlformats.org/drawingml/2006/main">
              <a:ext uri="{FF2B5EF4-FFF2-40B4-BE49-F238E27FC236}">
                <a16:creationId xmlns:a16="http://schemas.microsoft.com/office/drawing/2014/main" id="{00F229B7-241E-4407-B76D-17909E633D07}"/>
              </a:ext>
            </a:extLst>
          </p:cNvPr>
          <p:cNvSpPr>
            <a:spLocks xmlns:a="http://schemas.openxmlformats.org/drawingml/2006/main" noGrp="1"/>
          </p:cNvSpPr>
          <p:nvPr/>
        </p:nvSpPr>
        <p:spPr>
          <a:xfrm xmlns:a="http://schemas.openxmlformats.org/drawingml/2006/main">
            <a:off x="27908250" y="773430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3. Transcript to Chat Service</a:t>
            </a:r>
          </a:p>
        </p:txBody>
      </p:sp>
      <p:sp>
        <p:nvSpPr>
          <p:cNvPr id="133" name="">
            <a:extLst xmlns:a="http://schemas.openxmlformats.org/drawingml/2006/main">
              <a:ext uri="{FF2B5EF4-FFF2-40B4-BE49-F238E27FC236}">
                <a16:creationId xmlns:a16="http://schemas.microsoft.com/office/drawing/2014/main" id="{D1CD5707-80A1-4E9B-9AA7-6B6CB6FB13F6}"/>
              </a:ext>
            </a:extLst>
          </p:cNvPr>
          <p:cNvSpPr>
            <a:spLocks xmlns:a="http://schemas.openxmlformats.org/drawingml/2006/main" noGrp="1"/>
          </p:cNvSpPr>
          <p:nvPr/>
        </p:nvSpPr>
        <p:spPr>
          <a:xfrm xmlns:a="http://schemas.openxmlformats.org/drawingml/2006/main">
            <a:off x="27908250" y="8401050"/>
            <a:ext cx="361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Browser posts transcript to FastAPI</a:t>
            </a:r>
          </a:p>
        </p:txBody>
      </p:sp>
      <p:sp>
        <p:nvSpPr>
          <p:cNvPr id="134" name="">
            <a:extLst xmlns:a="http://schemas.openxmlformats.org/drawingml/2006/main">
              <a:ext uri="{FF2B5EF4-FFF2-40B4-BE49-F238E27FC236}">
                <a16:creationId xmlns:a16="http://schemas.microsoft.com/office/drawing/2014/main" id="{02D89263-6F7B-476D-B1B2-9E484325CDBD}"/>
              </a:ext>
            </a:extLst>
          </p:cNvPr>
          <p:cNvSpPr>
            <a:spLocks xmlns:a="http://schemas.openxmlformats.org/drawingml/2006/main" noGrp="1"/>
          </p:cNvSpPr>
          <p:nvPr/>
        </p:nvSpPr>
        <p:spPr>
          <a:xfrm xmlns:a="http://schemas.openxmlformats.org/drawingml/2006/main">
            <a:off x="32004000" y="695325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328" name=""/>
          <p:cNvPicPr>
            <a:picLocks xmlns:a="http://schemas.openxmlformats.org/drawingml/2006/main" noChangeAspect="1"/>
          </p:cNvPicPr>
          <p:nvPr/>
        </p:nvPicPr>
        <p:blipFill>
          <a:blip xmlns:r="http://schemas.openxmlformats.org/officeDocument/2006/relationships" xmlns:a="http://schemas.openxmlformats.org/drawingml/2006/main" r:embed="Rb133dd5c816e4e34"/>
          <a:stretch xmlns:a="http://schemas.openxmlformats.org/drawingml/2006/main"/>
        </p:blipFill>
        <p:spPr>
          <a:xfrm xmlns:a="http://schemas.openxmlformats.org/drawingml/2006/main">
            <a:off x="32175450" y="7105650"/>
            <a:ext cx="552450" cy="552450"/>
          </a:xfrm>
          <a:prstGeom xmlns:a="http://schemas.openxmlformats.org/drawingml/2006/main" prst="rect">
            <a:avLst/>
          </a:prstGeom>
        </p:spPr>
      </p:pic>
      <p:sp>
        <p:nvSpPr>
          <p:cNvPr id="136" name="">
            <a:extLst xmlns:a="http://schemas.openxmlformats.org/drawingml/2006/main">
              <a:ext uri="{FF2B5EF4-FFF2-40B4-BE49-F238E27FC236}">
                <a16:creationId xmlns:a16="http://schemas.microsoft.com/office/drawing/2014/main" id="{C79232A5-FCDE-4E06-A771-7250CD1AAB47}"/>
              </a:ext>
            </a:extLst>
          </p:cNvPr>
          <p:cNvSpPr>
            <a:spLocks xmlns:a="http://schemas.openxmlformats.org/drawingml/2006/main" noGrp="1"/>
          </p:cNvSpPr>
          <p:nvPr/>
        </p:nvSpPr>
        <p:spPr>
          <a:xfrm xmlns:a="http://schemas.openxmlformats.org/drawingml/2006/main">
            <a:off x="32194500" y="773430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4. Bedrock + backend tools</a:t>
            </a:r>
          </a:p>
        </p:txBody>
      </p:sp>
      <p:sp>
        <p:nvSpPr>
          <p:cNvPr id="137" name="">
            <a:extLst xmlns:a="http://schemas.openxmlformats.org/drawingml/2006/main">
              <a:ext uri="{FF2B5EF4-FFF2-40B4-BE49-F238E27FC236}">
                <a16:creationId xmlns:a16="http://schemas.microsoft.com/office/drawing/2014/main" id="{83A1840C-BE5F-4556-A760-8168F3C72217}"/>
              </a:ext>
            </a:extLst>
          </p:cNvPr>
          <p:cNvSpPr>
            <a:spLocks xmlns:a="http://schemas.openxmlformats.org/drawingml/2006/main" noGrp="1"/>
          </p:cNvSpPr>
          <p:nvPr/>
        </p:nvSpPr>
        <p:spPr>
          <a:xfrm xmlns:a="http://schemas.openxmlformats.org/drawingml/2006/main">
            <a:off x="32194500" y="8401050"/>
            <a:ext cx="361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History, tool selection, execution</a:t>
            </a:r>
          </a:p>
        </p:txBody>
      </p:sp>
      <p:cxnSp>
        <p:nvCxnSpPr>
          <p:cNvPr id="331" name=""/>
          <p:cNvCxnSpPr>
            <a:stCxn xmlns:a="http://schemas.openxmlformats.org/drawingml/2006/main" id="121" idx="3"/>
            <a:endCxn xmlns:a="http://schemas.openxmlformats.org/drawingml/2006/main" id="125" idx="1"/>
          </p:cNvCxnSpPr>
          <p:nvPr/>
        </p:nvCxnSpPr>
        <p:spPr>
          <a:xfrm xmlns:a="http://schemas.openxmlformats.org/drawingml/2006/main">
            <a:off x="23145750" y="7977188"/>
            <a:ext cx="285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332" name=""/>
          <p:cNvCxnSpPr>
            <a:stCxn xmlns:a="http://schemas.openxmlformats.org/drawingml/2006/main" id="125" idx="3"/>
            <a:endCxn xmlns:a="http://schemas.openxmlformats.org/drawingml/2006/main" id="129" idx="1"/>
          </p:cNvCxnSpPr>
          <p:nvPr/>
        </p:nvCxnSpPr>
        <p:spPr>
          <a:xfrm xmlns:a="http://schemas.openxmlformats.org/drawingml/2006/main">
            <a:off x="27432000" y="7977188"/>
            <a:ext cx="285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333" name=""/>
          <p:cNvCxnSpPr>
            <a:stCxn xmlns:a="http://schemas.openxmlformats.org/drawingml/2006/main" id="129" idx="3"/>
            <a:endCxn xmlns:a="http://schemas.openxmlformats.org/drawingml/2006/main" id="134" idx="1"/>
          </p:cNvCxnSpPr>
          <p:nvPr/>
        </p:nvCxnSpPr>
        <p:spPr>
          <a:xfrm xmlns:a="http://schemas.openxmlformats.org/drawingml/2006/main">
            <a:off x="31718250" y="7977188"/>
            <a:ext cx="285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141" name="">
            <a:extLst xmlns:a="http://schemas.openxmlformats.org/drawingml/2006/main">
              <a:ext uri="{FF2B5EF4-FFF2-40B4-BE49-F238E27FC236}">
                <a16:creationId xmlns:a16="http://schemas.microsoft.com/office/drawing/2014/main" id="{12E08969-34A8-4840-B1A3-FDC3D0794A5A}"/>
              </a:ext>
            </a:extLst>
          </p:cNvPr>
          <p:cNvSpPr>
            <a:spLocks xmlns:a="http://schemas.openxmlformats.org/drawingml/2006/main" noGrp="1"/>
          </p:cNvSpPr>
          <p:nvPr/>
        </p:nvSpPr>
        <p:spPr>
          <a:xfrm xmlns:a="http://schemas.openxmlformats.org/drawingml/2006/main">
            <a:off x="32004000" y="952500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42" name="">
            <a:extLst xmlns:a="http://schemas.openxmlformats.org/drawingml/2006/main">
              <a:ext uri="{FF2B5EF4-FFF2-40B4-BE49-F238E27FC236}">
                <a16:creationId xmlns:a16="http://schemas.microsoft.com/office/drawing/2014/main" id="{068FA62A-8586-46A1-B16D-30670CC0C3B0}"/>
              </a:ext>
            </a:extLst>
          </p:cNvPr>
          <p:cNvSpPr>
            <a:spLocks xmlns:a="http://schemas.openxmlformats.org/drawingml/2006/main" noGrp="1"/>
          </p:cNvSpPr>
          <p:nvPr/>
        </p:nvSpPr>
        <p:spPr>
          <a:xfrm xmlns:a="http://schemas.openxmlformats.org/drawingml/2006/main">
            <a:off x="32175450" y="967740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336" name=""/>
          <p:cNvPicPr>
            <a:picLocks xmlns:a="http://schemas.openxmlformats.org/drawingml/2006/main" noChangeAspect="1"/>
          </p:cNvPicPr>
          <p:nvPr/>
        </p:nvPicPr>
        <p:blipFill>
          <a:blip xmlns:r="http://schemas.openxmlformats.org/officeDocument/2006/relationships" xmlns:a="http://schemas.openxmlformats.org/drawingml/2006/main" r:embed="Rc42e7843e4034da3"/>
          <a:stretch xmlns:a="http://schemas.openxmlformats.org/drawingml/2006/main"/>
        </p:blipFill>
        <p:spPr>
          <a:xfrm xmlns:a="http://schemas.openxmlformats.org/drawingml/2006/main">
            <a:off x="32175450" y="9677400"/>
            <a:ext cx="552450" cy="552450"/>
          </a:xfrm>
          <a:prstGeom xmlns:a="http://schemas.openxmlformats.org/drawingml/2006/main" prst="rect">
            <a:avLst/>
          </a:prstGeom>
        </p:spPr>
      </p:pic>
      <p:sp>
        <p:nvSpPr>
          <p:cNvPr id="144" name="">
            <a:extLst xmlns:a="http://schemas.openxmlformats.org/drawingml/2006/main">
              <a:ext uri="{FF2B5EF4-FFF2-40B4-BE49-F238E27FC236}">
                <a16:creationId xmlns:a16="http://schemas.microsoft.com/office/drawing/2014/main" id="{0F09DAA8-ECAC-4CAA-AB0B-CAD4F2DDBFE4}"/>
              </a:ext>
            </a:extLst>
          </p:cNvPr>
          <p:cNvSpPr>
            <a:spLocks xmlns:a="http://schemas.openxmlformats.org/drawingml/2006/main" noGrp="1"/>
          </p:cNvSpPr>
          <p:nvPr/>
        </p:nvSpPr>
        <p:spPr>
          <a:xfrm xmlns:a="http://schemas.openxmlformats.org/drawingml/2006/main">
            <a:off x="32194500" y="1030605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5. Return cleaned answer</a:t>
            </a:r>
          </a:p>
        </p:txBody>
      </p:sp>
      <p:sp>
        <p:nvSpPr>
          <p:cNvPr id="145" name="">
            <a:extLst xmlns:a="http://schemas.openxmlformats.org/drawingml/2006/main">
              <a:ext uri="{FF2B5EF4-FFF2-40B4-BE49-F238E27FC236}">
                <a16:creationId xmlns:a16="http://schemas.microsoft.com/office/drawing/2014/main" id="{608DAB74-AF52-464C-BD3D-D50023E9A7F0}"/>
              </a:ext>
            </a:extLst>
          </p:cNvPr>
          <p:cNvSpPr>
            <a:spLocks xmlns:a="http://schemas.openxmlformats.org/drawingml/2006/main" noGrp="1"/>
          </p:cNvSpPr>
          <p:nvPr/>
        </p:nvSpPr>
        <p:spPr>
          <a:xfrm xmlns:a="http://schemas.openxmlformats.org/drawingml/2006/main">
            <a:off x="32194500" y="10972800"/>
            <a:ext cx="361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Remove formatting and internal IDs</a:t>
            </a:r>
          </a:p>
        </p:txBody>
      </p:sp>
      <p:sp>
        <p:nvSpPr>
          <p:cNvPr id="146" name="">
            <a:extLst xmlns:a="http://schemas.openxmlformats.org/drawingml/2006/main">
              <a:ext uri="{FF2B5EF4-FFF2-40B4-BE49-F238E27FC236}">
                <a16:creationId xmlns:a16="http://schemas.microsoft.com/office/drawing/2014/main" id="{4ADE6F66-53CB-4412-9427-FE401073649C}"/>
              </a:ext>
            </a:extLst>
          </p:cNvPr>
          <p:cNvSpPr>
            <a:spLocks xmlns:a="http://schemas.openxmlformats.org/drawingml/2006/main" noGrp="1"/>
          </p:cNvSpPr>
          <p:nvPr/>
        </p:nvSpPr>
        <p:spPr>
          <a:xfrm xmlns:a="http://schemas.openxmlformats.org/drawingml/2006/main">
            <a:off x="26003250" y="952500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340" name=""/>
          <p:cNvPicPr>
            <a:picLocks xmlns:a="http://schemas.openxmlformats.org/drawingml/2006/main" noChangeAspect="1"/>
          </p:cNvPicPr>
          <p:nvPr/>
        </p:nvPicPr>
        <p:blipFill>
          <a:blip xmlns:r="http://schemas.openxmlformats.org/officeDocument/2006/relationships" xmlns:a="http://schemas.openxmlformats.org/drawingml/2006/main" r:embed="R81793775b1094301"/>
          <a:stretch xmlns:a="http://schemas.openxmlformats.org/drawingml/2006/main"/>
        </p:blipFill>
        <p:spPr>
          <a:xfrm xmlns:a="http://schemas.openxmlformats.org/drawingml/2006/main">
            <a:off x="26174700" y="9677400"/>
            <a:ext cx="552450" cy="552450"/>
          </a:xfrm>
          <a:prstGeom xmlns:a="http://schemas.openxmlformats.org/drawingml/2006/main" prst="rect">
            <a:avLst/>
          </a:prstGeom>
        </p:spPr>
      </p:pic>
      <p:sp>
        <p:nvSpPr>
          <p:cNvPr id="148" name="">
            <a:extLst xmlns:a="http://schemas.openxmlformats.org/drawingml/2006/main">
              <a:ext uri="{FF2B5EF4-FFF2-40B4-BE49-F238E27FC236}">
                <a16:creationId xmlns:a16="http://schemas.microsoft.com/office/drawing/2014/main" id="{561E52F1-6E1E-4A5F-827B-392BD8FBB19F}"/>
              </a:ext>
            </a:extLst>
          </p:cNvPr>
          <p:cNvSpPr>
            <a:spLocks xmlns:a="http://schemas.openxmlformats.org/drawingml/2006/main" noGrp="1"/>
          </p:cNvSpPr>
          <p:nvPr/>
        </p:nvSpPr>
        <p:spPr>
          <a:xfrm xmlns:a="http://schemas.openxmlformats.org/drawingml/2006/main">
            <a:off x="26193750" y="1030605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6. Polly neural speech</a:t>
            </a:r>
          </a:p>
        </p:txBody>
      </p:sp>
      <p:sp>
        <p:nvSpPr>
          <p:cNvPr id="149" name="">
            <a:extLst xmlns:a="http://schemas.openxmlformats.org/drawingml/2006/main">
              <a:ext uri="{FF2B5EF4-FFF2-40B4-BE49-F238E27FC236}">
                <a16:creationId xmlns:a16="http://schemas.microsoft.com/office/drawing/2014/main" id="{87A9919F-D624-41FA-A37F-33400A738F17}"/>
              </a:ext>
            </a:extLst>
          </p:cNvPr>
          <p:cNvSpPr>
            <a:spLocks xmlns:a="http://schemas.openxmlformats.org/drawingml/2006/main" noGrp="1"/>
          </p:cNvSpPr>
          <p:nvPr/>
        </p:nvSpPr>
        <p:spPr>
          <a:xfrm xmlns:a="http://schemas.openxmlformats.org/drawingml/2006/main">
            <a:off x="26193750" y="10972800"/>
            <a:ext cx="361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FastAPI requests neural MP3 audio</a:t>
            </a:r>
          </a:p>
        </p:txBody>
      </p:sp>
      <p:sp>
        <p:nvSpPr>
          <p:cNvPr id="150" name="">
            <a:extLst xmlns:a="http://schemas.openxmlformats.org/drawingml/2006/main">
              <a:ext uri="{FF2B5EF4-FFF2-40B4-BE49-F238E27FC236}">
                <a16:creationId xmlns:a16="http://schemas.microsoft.com/office/drawing/2014/main" id="{1C8FDB86-D5B1-46A5-9E8B-99D23EDD448A}"/>
              </a:ext>
            </a:extLst>
          </p:cNvPr>
          <p:cNvSpPr>
            <a:spLocks xmlns:a="http://schemas.openxmlformats.org/drawingml/2006/main" noGrp="1"/>
          </p:cNvSpPr>
          <p:nvPr/>
        </p:nvSpPr>
        <p:spPr>
          <a:xfrm xmlns:a="http://schemas.openxmlformats.org/drawingml/2006/main">
            <a:off x="20002500" y="952500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344" name=""/>
          <p:cNvPicPr>
            <a:picLocks xmlns:a="http://schemas.openxmlformats.org/drawingml/2006/main" noChangeAspect="1"/>
          </p:cNvPicPr>
          <p:nvPr/>
        </p:nvPicPr>
        <p:blipFill>
          <a:blip xmlns:r="http://schemas.openxmlformats.org/officeDocument/2006/relationships" xmlns:a="http://schemas.openxmlformats.org/drawingml/2006/main" r:embed="Rcd78edfbb79f4f2f"/>
          <a:stretch xmlns:a="http://schemas.openxmlformats.org/drawingml/2006/main"/>
        </p:blipFill>
        <p:spPr>
          <a:xfrm xmlns:a="http://schemas.openxmlformats.org/drawingml/2006/main">
            <a:off x="20173950" y="9677400"/>
            <a:ext cx="552450" cy="552450"/>
          </a:xfrm>
          <a:prstGeom xmlns:a="http://schemas.openxmlformats.org/drawingml/2006/main" prst="rect">
            <a:avLst/>
          </a:prstGeom>
        </p:spPr>
      </p:pic>
      <p:sp>
        <p:nvSpPr>
          <p:cNvPr id="152" name="">
            <a:extLst xmlns:a="http://schemas.openxmlformats.org/drawingml/2006/main">
              <a:ext uri="{FF2B5EF4-FFF2-40B4-BE49-F238E27FC236}">
                <a16:creationId xmlns:a16="http://schemas.microsoft.com/office/drawing/2014/main" id="{9B2C7FEB-A66D-4F96-889D-62E79AB21D79}"/>
              </a:ext>
            </a:extLst>
          </p:cNvPr>
          <p:cNvSpPr>
            <a:spLocks xmlns:a="http://schemas.openxmlformats.org/drawingml/2006/main" noGrp="1"/>
          </p:cNvSpPr>
          <p:nvPr/>
        </p:nvSpPr>
        <p:spPr>
          <a:xfrm xmlns:a="http://schemas.openxmlformats.org/drawingml/2006/main">
            <a:off x="20193000" y="1030605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7. Browser playback</a:t>
            </a:r>
          </a:p>
        </p:txBody>
      </p:sp>
      <p:sp>
        <p:nvSpPr>
          <p:cNvPr id="153" name="">
            <a:extLst xmlns:a="http://schemas.openxmlformats.org/drawingml/2006/main">
              <a:ext uri="{FF2B5EF4-FFF2-40B4-BE49-F238E27FC236}">
                <a16:creationId xmlns:a16="http://schemas.microsoft.com/office/drawing/2014/main" id="{3586E3F0-EDCA-497F-AEE7-80BAB9A3CA49}"/>
              </a:ext>
            </a:extLst>
          </p:cNvPr>
          <p:cNvSpPr>
            <a:spLocks xmlns:a="http://schemas.openxmlformats.org/drawingml/2006/main" noGrp="1"/>
          </p:cNvSpPr>
          <p:nvPr/>
        </p:nvSpPr>
        <p:spPr>
          <a:xfrm xmlns:a="http://schemas.openxmlformats.org/drawingml/2006/main">
            <a:off x="20193000" y="10972800"/>
            <a:ext cx="361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Play MP3, then resume listening</a:t>
            </a:r>
          </a:p>
        </p:txBody>
      </p:sp>
      <p:cxnSp>
        <p:nvCxnSpPr>
          <p:cNvPr id="347" name=""/>
          <p:cNvCxnSpPr>
            <a:stCxn xmlns:a="http://schemas.openxmlformats.org/drawingml/2006/main" id="141" idx="1"/>
            <a:endCxn xmlns:a="http://schemas.openxmlformats.org/drawingml/2006/main" id="146" idx="3"/>
          </p:cNvCxnSpPr>
          <p:nvPr/>
        </p:nvCxnSpPr>
        <p:spPr>
          <a:xfrm xmlns:a="http://schemas.openxmlformats.org/drawingml/2006/main" flipH="1">
            <a:off x="30003750" y="10548938"/>
            <a:ext cx="20002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348" name=""/>
          <p:cNvCxnSpPr>
            <a:stCxn xmlns:a="http://schemas.openxmlformats.org/drawingml/2006/main" id="146" idx="1"/>
            <a:endCxn xmlns:a="http://schemas.openxmlformats.org/drawingml/2006/main" id="150" idx="3"/>
          </p:cNvCxnSpPr>
          <p:nvPr/>
        </p:nvCxnSpPr>
        <p:spPr>
          <a:xfrm xmlns:a="http://schemas.openxmlformats.org/drawingml/2006/main" flipH="1">
            <a:off x="24003000" y="10548938"/>
            <a:ext cx="20002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156" name="">
            <a:extLst xmlns:a="http://schemas.openxmlformats.org/drawingml/2006/main">
              <a:ext uri="{FF2B5EF4-FFF2-40B4-BE49-F238E27FC236}">
                <a16:creationId xmlns:a16="http://schemas.microsoft.com/office/drawing/2014/main" id="{AAE25BAE-586D-4665-94ED-BC8858A64243}"/>
              </a:ext>
            </a:extLst>
          </p:cNvPr>
          <p:cNvSpPr>
            <a:spLocks xmlns:a="http://schemas.openxmlformats.org/drawingml/2006/main" noGrp="1"/>
          </p:cNvSpPr>
          <p:nvPr/>
        </p:nvSpPr>
        <p:spPr>
          <a:xfrm xmlns:a="http://schemas.openxmlformats.org/drawingml/2006/main">
            <a:off x="33985200" y="9001125"/>
            <a:ext cx="19050" cy="19050"/>
          </a:xfrm>
          <a:prstGeom xmlns:a="http://schemas.openxmlformats.org/drawingml/2006/main" prst="rect">
            <a:avLst/>
          </a:prstGeom>
          <a:solidFill xmlns:a="http://schemas.openxmlformats.org/drawingml/2006/main">
            <a:srgbClr val="C9502F"/>
          </a:solidFill>
          <a:ln xmlns:a="http://schemas.openxmlformats.org/drawingml/2006/main" w="19050">
            <a:solidFill>
              <a:srgbClr val="C9502F"/>
            </a:solidFill>
            <a:prstDash val="solid"/>
          </a:ln>
        </p:spPr>
      </p:sp>
      <p:sp>
        <p:nvSpPr>
          <p:cNvPr id="157" name="">
            <a:extLst xmlns:a="http://schemas.openxmlformats.org/drawingml/2006/main">
              <a:ext uri="{FF2B5EF4-FFF2-40B4-BE49-F238E27FC236}">
                <a16:creationId xmlns:a16="http://schemas.microsoft.com/office/drawing/2014/main" id="{15930D16-A6E5-4595-BD8E-2E77806F18FF}"/>
              </a:ext>
            </a:extLst>
          </p:cNvPr>
          <p:cNvSpPr>
            <a:spLocks xmlns:a="http://schemas.openxmlformats.org/drawingml/2006/main" noGrp="1"/>
          </p:cNvSpPr>
          <p:nvPr/>
        </p:nvSpPr>
        <p:spPr>
          <a:xfrm xmlns:a="http://schemas.openxmlformats.org/drawingml/2006/main">
            <a:off x="33985200" y="9525000"/>
            <a:ext cx="19050" cy="19050"/>
          </a:xfrm>
          <a:prstGeom xmlns:a="http://schemas.openxmlformats.org/drawingml/2006/main" prst="rect">
            <a:avLst/>
          </a:prstGeom>
          <a:solidFill xmlns:a="http://schemas.openxmlformats.org/drawingml/2006/main">
            <a:srgbClr val="C9502F"/>
          </a:solidFill>
          <a:ln xmlns:a="http://schemas.openxmlformats.org/drawingml/2006/main" w="19050">
            <a:solidFill>
              <a:srgbClr val="C9502F"/>
            </a:solidFill>
            <a:prstDash val="solid"/>
          </a:ln>
        </p:spPr>
      </p:sp>
      <p:cxnSp>
        <p:nvCxnSpPr>
          <p:cNvPr id="351" name=""/>
          <p:cNvCxnSpPr>
            <a:stCxn xmlns:a="http://schemas.openxmlformats.org/drawingml/2006/main" id="156" idx="2"/>
            <a:endCxn xmlns:a="http://schemas.openxmlformats.org/drawingml/2006/main" id="157" idx="0"/>
          </p:cNvCxnSpPr>
          <p:nvPr/>
        </p:nvCxnSpPr>
        <p:spPr>
          <a:xfrm xmlns:a="http://schemas.openxmlformats.org/drawingml/2006/main">
            <a:off x="33994725" y="9020175"/>
            <a:ext cx="0" cy="50482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pic>
        <p:nvPicPr>
          <p:cNvPr id="352" name=""/>
          <p:cNvPicPr>
            <a:picLocks xmlns:a="http://schemas.openxmlformats.org/drawingml/2006/main" noChangeAspect="1"/>
          </p:cNvPicPr>
          <p:nvPr/>
        </p:nvPicPr>
        <p:blipFill>
          <a:blip xmlns:r="http://schemas.openxmlformats.org/officeDocument/2006/relationships" xmlns:a="http://schemas.openxmlformats.org/drawingml/2006/main" r:embed="R77f2865b613f4a3b"/>
          <a:stretch xmlns:a="http://schemas.openxmlformats.org/drawingml/2006/main"/>
        </p:blipFill>
        <p:spPr>
          <a:xfrm xmlns:a="http://schemas.openxmlformats.org/drawingml/2006/main">
            <a:off x="32956500" y="5953125"/>
            <a:ext cx="523875" cy="523875"/>
          </a:xfrm>
          <a:prstGeom xmlns:a="http://schemas.openxmlformats.org/drawingml/2006/main" prst="rect">
            <a:avLst/>
          </a:prstGeom>
        </p:spPr>
      </p:pic>
      <p:sp>
        <p:nvSpPr>
          <p:cNvPr id="160" name="">
            <a:extLst xmlns:a="http://schemas.openxmlformats.org/drawingml/2006/main">
              <a:ext uri="{FF2B5EF4-FFF2-40B4-BE49-F238E27FC236}">
                <a16:creationId xmlns:a16="http://schemas.microsoft.com/office/drawing/2014/main" id="{7F1E7EA6-53CF-45DB-BF42-12AF955AFD74}"/>
              </a:ext>
            </a:extLst>
          </p:cNvPr>
          <p:cNvSpPr>
            <a:spLocks xmlns:a="http://schemas.openxmlformats.org/drawingml/2006/main" noGrp="1"/>
          </p:cNvSpPr>
          <p:nvPr/>
        </p:nvSpPr>
        <p:spPr>
          <a:xfrm xmlns:a="http://schemas.openxmlformats.org/drawingml/2006/main">
            <a:off x="33623250" y="6048375"/>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Chime SDK</a:t>
            </a:r>
          </a:p>
        </p:txBody>
      </p:sp>
      <p:sp>
        <p:nvSpPr>
          <p:cNvPr id="161" name="">
            <a:extLst xmlns:a="http://schemas.openxmlformats.org/drawingml/2006/main">
              <a:ext uri="{FF2B5EF4-FFF2-40B4-BE49-F238E27FC236}">
                <a16:creationId xmlns:a16="http://schemas.microsoft.com/office/drawing/2014/main" id="{580CCE4D-0EC7-4C32-8621-EEA80C8620C5}"/>
              </a:ext>
            </a:extLst>
          </p:cNvPr>
          <p:cNvSpPr>
            <a:spLocks xmlns:a="http://schemas.openxmlformats.org/drawingml/2006/main" noGrp="1"/>
          </p:cNvSpPr>
          <p:nvPr/>
        </p:nvSpPr>
        <p:spPr>
          <a:xfrm xmlns:a="http://schemas.openxmlformats.org/drawingml/2006/main">
            <a:off x="19145250" y="11849100"/>
            <a:ext cx="1685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Turn-based audio. Chime media is separate from the Transcribe input path.</a:t>
            </a:r>
          </a:p>
        </p:txBody>
      </p:sp>
      <p:sp>
        <p:nvSpPr>
          <p:cNvPr id="162" name="">
            <a:extLst xmlns:a="http://schemas.openxmlformats.org/drawingml/2006/main">
              <a:ext uri="{FF2B5EF4-FFF2-40B4-BE49-F238E27FC236}">
                <a16:creationId xmlns:a16="http://schemas.microsoft.com/office/drawing/2014/main" id="{527705AC-B060-405A-945E-57B65A5031D7}"/>
              </a:ext>
            </a:extLst>
          </p:cNvPr>
          <p:cNvSpPr>
            <a:spLocks xmlns:a="http://schemas.openxmlformats.org/drawingml/2006/main" noGrp="1"/>
          </p:cNvSpPr>
          <p:nvPr/>
        </p:nvSpPr>
        <p:spPr>
          <a:xfrm xmlns:a="http://schemas.openxmlformats.org/drawingml/2006/main">
            <a:off x="19145250" y="12573000"/>
            <a:ext cx="1685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C9502F"/>
                </a:solidFill>
                <a:latin typeface="Arial"/>
                <a:ea typeface="Arial"/>
                <a:cs typeface="Arial"/>
              </a:defRPr>
            </a:pPr>
            <a:r>
              <a:rPr sz="2925" b="1">
                <a:solidFill>
                  <a:srgbClr val="C9502F"/>
                </a:solidFill>
                <a:latin typeface="Arial"/>
                <a:ea typeface="Arial"/>
                <a:cs typeface="Arial"/>
              </a:rPr>
              <a:t>E. Recordings and file storage</a:t>
            </a:r>
          </a:p>
        </p:txBody>
      </p:sp>
      <p:sp>
        <p:nvSpPr>
          <p:cNvPr id="163" name="">
            <a:extLst xmlns:a="http://schemas.openxmlformats.org/drawingml/2006/main">
              <a:ext uri="{FF2B5EF4-FFF2-40B4-BE49-F238E27FC236}">
                <a16:creationId xmlns:a16="http://schemas.microsoft.com/office/drawing/2014/main" id="{89801ED6-6D10-4366-A182-BE4025ED1EFA}"/>
              </a:ext>
            </a:extLst>
          </p:cNvPr>
          <p:cNvSpPr>
            <a:spLocks xmlns:a="http://schemas.openxmlformats.org/drawingml/2006/main" noGrp="1"/>
          </p:cNvSpPr>
          <p:nvPr/>
        </p:nvSpPr>
        <p:spPr>
          <a:xfrm xmlns:a="http://schemas.openxmlformats.org/drawingml/2006/main">
            <a:off x="19145250" y="13239750"/>
            <a:ext cx="5143500" cy="171450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64" name="">
            <a:extLst xmlns:a="http://schemas.openxmlformats.org/drawingml/2006/main">
              <a:ext uri="{FF2B5EF4-FFF2-40B4-BE49-F238E27FC236}">
                <a16:creationId xmlns:a16="http://schemas.microsoft.com/office/drawing/2014/main" id="{CDE40197-6ED8-468E-8E5B-3B7CB2A80CBF}"/>
              </a:ext>
            </a:extLst>
          </p:cNvPr>
          <p:cNvSpPr>
            <a:spLocks xmlns:a="http://schemas.openxmlformats.org/drawingml/2006/main" noGrp="1"/>
          </p:cNvSpPr>
          <p:nvPr/>
        </p:nvSpPr>
        <p:spPr>
          <a:xfrm xmlns:a="http://schemas.openxmlformats.org/drawingml/2006/main">
            <a:off x="19335750" y="134112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Browser audio mixer</a:t>
            </a:r>
          </a:p>
        </p:txBody>
      </p:sp>
      <p:sp>
        <p:nvSpPr>
          <p:cNvPr id="165" name="">
            <a:extLst xmlns:a="http://schemas.openxmlformats.org/drawingml/2006/main">
              <a:ext uri="{FF2B5EF4-FFF2-40B4-BE49-F238E27FC236}">
                <a16:creationId xmlns:a16="http://schemas.microsoft.com/office/drawing/2014/main" id="{0BA9A4F8-DF71-4FCA-ADE0-3FD022ADBACF}"/>
              </a:ext>
            </a:extLst>
          </p:cNvPr>
          <p:cNvSpPr>
            <a:spLocks xmlns:a="http://schemas.openxmlformats.org/drawingml/2006/main" noGrp="1"/>
          </p:cNvSpPr>
          <p:nvPr/>
        </p:nvSpPr>
        <p:spPr>
          <a:xfrm xmlns:a="http://schemas.openxmlformats.org/drawingml/2006/main">
            <a:off x="19335750" y="13887450"/>
            <a:ext cx="4762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Microphone + assistant playback</a:t>
            </a:r>
          </a:p>
        </p:txBody>
      </p:sp>
      <p:sp>
        <p:nvSpPr>
          <p:cNvPr id="166" name="">
            <a:extLst xmlns:a="http://schemas.openxmlformats.org/drawingml/2006/main">
              <a:ext uri="{FF2B5EF4-FFF2-40B4-BE49-F238E27FC236}">
                <a16:creationId xmlns:a16="http://schemas.microsoft.com/office/drawing/2014/main" id="{EBC4B89C-97F3-4AB4-9892-AD972B1D96D7}"/>
              </a:ext>
            </a:extLst>
          </p:cNvPr>
          <p:cNvSpPr>
            <a:spLocks xmlns:a="http://schemas.openxmlformats.org/drawingml/2006/main" noGrp="1"/>
          </p:cNvSpPr>
          <p:nvPr/>
        </p:nvSpPr>
        <p:spPr>
          <a:xfrm xmlns:a="http://schemas.openxmlformats.org/drawingml/2006/main">
            <a:off x="25003125" y="13239750"/>
            <a:ext cx="5143500" cy="171450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67" name="">
            <a:extLst xmlns:a="http://schemas.openxmlformats.org/drawingml/2006/main">
              <a:ext uri="{FF2B5EF4-FFF2-40B4-BE49-F238E27FC236}">
                <a16:creationId xmlns:a16="http://schemas.microsoft.com/office/drawing/2014/main" id="{4537CA18-36EB-448A-903A-415CDEB6DD11}"/>
              </a:ext>
            </a:extLst>
          </p:cNvPr>
          <p:cNvSpPr>
            <a:spLocks xmlns:a="http://schemas.openxmlformats.org/drawingml/2006/main" noGrp="1"/>
          </p:cNvSpPr>
          <p:nvPr/>
        </p:nvSpPr>
        <p:spPr>
          <a:xfrm xmlns:a="http://schemas.openxmlformats.org/drawingml/2006/main">
            <a:off x="25193625" y="134112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WebM recording</a:t>
            </a:r>
          </a:p>
        </p:txBody>
      </p:sp>
      <p:sp>
        <p:nvSpPr>
          <p:cNvPr id="168" name="">
            <a:extLst xmlns:a="http://schemas.openxmlformats.org/drawingml/2006/main">
              <a:ext uri="{FF2B5EF4-FFF2-40B4-BE49-F238E27FC236}">
                <a16:creationId xmlns:a16="http://schemas.microsoft.com/office/drawing/2014/main" id="{9380604B-E3FC-4BD1-9DA7-881E123F56CB}"/>
              </a:ext>
            </a:extLst>
          </p:cNvPr>
          <p:cNvSpPr>
            <a:spLocks xmlns:a="http://schemas.openxmlformats.org/drawingml/2006/main" noGrp="1"/>
          </p:cNvSpPr>
          <p:nvPr/>
        </p:nvSpPr>
        <p:spPr>
          <a:xfrm xmlns:a="http://schemas.openxmlformats.org/drawingml/2006/main">
            <a:off x="25193625" y="13887450"/>
            <a:ext cx="4762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MediaRecorder completes the call</a:t>
            </a:r>
          </a:p>
        </p:txBody>
      </p:sp>
      <p:sp>
        <p:nvSpPr>
          <p:cNvPr id="169" name="">
            <a:extLst xmlns:a="http://schemas.openxmlformats.org/drawingml/2006/main">
              <a:ext uri="{FF2B5EF4-FFF2-40B4-BE49-F238E27FC236}">
                <a16:creationId xmlns:a16="http://schemas.microsoft.com/office/drawing/2014/main" id="{3F4C68ED-CBA9-4E76-9952-44FCF87DC110}"/>
              </a:ext>
            </a:extLst>
          </p:cNvPr>
          <p:cNvSpPr>
            <a:spLocks xmlns:a="http://schemas.openxmlformats.org/drawingml/2006/main" noGrp="1"/>
          </p:cNvSpPr>
          <p:nvPr/>
        </p:nvSpPr>
        <p:spPr>
          <a:xfrm xmlns:a="http://schemas.openxmlformats.org/drawingml/2006/main">
            <a:off x="30861000" y="13239750"/>
            <a:ext cx="5143500" cy="171450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363" name=""/>
          <p:cNvPicPr>
            <a:picLocks xmlns:a="http://schemas.openxmlformats.org/drawingml/2006/main" noChangeAspect="1"/>
          </p:cNvPicPr>
          <p:nvPr/>
        </p:nvPicPr>
        <p:blipFill>
          <a:blip xmlns:r="http://schemas.openxmlformats.org/officeDocument/2006/relationships" xmlns:a="http://schemas.openxmlformats.org/drawingml/2006/main" r:embed="Ree142a7ab2914be2"/>
          <a:stretch xmlns:a="http://schemas.openxmlformats.org/drawingml/2006/main"/>
        </p:blipFill>
        <p:spPr>
          <a:xfrm xmlns:a="http://schemas.openxmlformats.org/drawingml/2006/main">
            <a:off x="31032450" y="13392150"/>
            <a:ext cx="552450" cy="552450"/>
          </a:xfrm>
          <a:prstGeom xmlns:a="http://schemas.openxmlformats.org/drawingml/2006/main" prst="rect">
            <a:avLst/>
          </a:prstGeom>
        </p:spPr>
      </p:pic>
      <p:sp>
        <p:nvSpPr>
          <p:cNvPr id="171" name="">
            <a:extLst xmlns:a="http://schemas.openxmlformats.org/drawingml/2006/main">
              <a:ext uri="{FF2B5EF4-FFF2-40B4-BE49-F238E27FC236}">
                <a16:creationId xmlns:a16="http://schemas.microsoft.com/office/drawing/2014/main" id="{6BD9C594-443E-411E-8779-BEC0F94F68F2}"/>
              </a:ext>
            </a:extLst>
          </p:cNvPr>
          <p:cNvSpPr>
            <a:spLocks xmlns:a="http://schemas.openxmlformats.org/drawingml/2006/main" noGrp="1"/>
          </p:cNvSpPr>
          <p:nvPr/>
        </p:nvSpPr>
        <p:spPr>
          <a:xfrm xmlns:a="http://schemas.openxmlformats.org/drawingml/2006/main">
            <a:off x="31051500" y="140208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FastAPI → Amazon S3</a:t>
            </a:r>
          </a:p>
        </p:txBody>
      </p:sp>
      <p:sp>
        <p:nvSpPr>
          <p:cNvPr id="172" name="">
            <a:extLst xmlns:a="http://schemas.openxmlformats.org/drawingml/2006/main">
              <a:ext uri="{FF2B5EF4-FFF2-40B4-BE49-F238E27FC236}">
                <a16:creationId xmlns:a16="http://schemas.microsoft.com/office/drawing/2014/main" id="{81DF8784-E772-425A-9CB4-00C3752C59D1}"/>
              </a:ext>
            </a:extLst>
          </p:cNvPr>
          <p:cNvSpPr>
            <a:spLocks xmlns:a="http://schemas.openxmlformats.org/drawingml/2006/main" noGrp="1"/>
          </p:cNvSpPr>
          <p:nvPr/>
        </p:nvSpPr>
        <p:spPr>
          <a:xfrm xmlns:a="http://schemas.openxmlformats.org/drawingml/2006/main">
            <a:off x="31051500" y="144970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Save WebM; keep key in SQLite</a:t>
            </a:r>
          </a:p>
        </p:txBody>
      </p:sp>
      <p:cxnSp>
        <p:nvCxnSpPr>
          <p:cNvPr id="366" name=""/>
          <p:cNvCxnSpPr>
            <a:stCxn xmlns:a="http://schemas.openxmlformats.org/drawingml/2006/main" id="163" idx="3"/>
            <a:endCxn xmlns:a="http://schemas.openxmlformats.org/drawingml/2006/main" id="166" idx="1"/>
          </p:cNvCxnSpPr>
          <p:nvPr/>
        </p:nvCxnSpPr>
        <p:spPr>
          <a:xfrm xmlns:a="http://schemas.openxmlformats.org/drawingml/2006/main">
            <a:off x="24288750" y="14097000"/>
            <a:ext cx="71437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367" name=""/>
          <p:cNvCxnSpPr>
            <a:stCxn xmlns:a="http://schemas.openxmlformats.org/drawingml/2006/main" id="166" idx="3"/>
            <a:endCxn xmlns:a="http://schemas.openxmlformats.org/drawingml/2006/main" id="169" idx="1"/>
          </p:cNvCxnSpPr>
          <p:nvPr/>
        </p:nvCxnSpPr>
        <p:spPr>
          <a:xfrm xmlns:a="http://schemas.openxmlformats.org/drawingml/2006/main">
            <a:off x="30146625" y="14097000"/>
            <a:ext cx="71437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175" name="">
            <a:extLst xmlns:a="http://schemas.openxmlformats.org/drawingml/2006/main">
              <a:ext uri="{FF2B5EF4-FFF2-40B4-BE49-F238E27FC236}">
                <a16:creationId xmlns:a16="http://schemas.microsoft.com/office/drawing/2014/main" id="{01777715-2911-4A70-8042-18307DE77439}"/>
              </a:ext>
            </a:extLst>
          </p:cNvPr>
          <p:cNvSpPr>
            <a:spLocks xmlns:a="http://schemas.openxmlformats.org/drawingml/2006/main" noGrp="1"/>
          </p:cNvSpPr>
          <p:nvPr/>
        </p:nvSpPr>
        <p:spPr>
          <a:xfrm xmlns:a="http://schemas.openxmlformats.org/drawingml/2006/main">
            <a:off x="19145250" y="15049500"/>
            <a:ext cx="1685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S3 prefixes: knowledge/ for PDFs, images/menu/ for menu images, audios/calls/ for recordings.</a:t>
            </a:r>
          </a:p>
        </p:txBody>
      </p:sp>
      <p:sp>
        <p:nvSpPr>
          <p:cNvPr id="176" name="">
            <a:extLst xmlns:a="http://schemas.openxmlformats.org/drawingml/2006/main">
              <a:ext uri="{FF2B5EF4-FFF2-40B4-BE49-F238E27FC236}">
                <a16:creationId xmlns:a16="http://schemas.microsoft.com/office/drawing/2014/main" id="{BAD53580-1064-425C-99BE-01D24A592CEA}"/>
              </a:ext>
            </a:extLst>
          </p:cNvPr>
          <p:cNvSpPr>
            <a:spLocks xmlns:a="http://schemas.openxmlformats.org/drawingml/2006/main" noGrp="1"/>
          </p:cNvSpPr>
          <p:nvPr/>
        </p:nvSpPr>
        <p:spPr>
          <a:xfrm xmlns:a="http://schemas.openxmlformats.org/drawingml/2006/main">
            <a:off x="19145250" y="15811500"/>
            <a:ext cx="1685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C9502F"/>
                </a:solidFill>
                <a:latin typeface="Arial"/>
                <a:ea typeface="Arial"/>
                <a:cs typeface="Arial"/>
              </a:defRPr>
            </a:pPr>
            <a:r>
              <a:rPr sz="2925" b="1">
                <a:solidFill>
                  <a:srgbClr val="C9502F"/>
                </a:solidFill>
                <a:latin typeface="Arial"/>
                <a:ea typeface="Arial"/>
                <a:cs typeface="Arial"/>
              </a:rPr>
              <a:t>F. Planned SageMaker forecasting</a:t>
            </a:r>
          </a:p>
        </p:txBody>
      </p:sp>
      <p:sp>
        <p:nvSpPr>
          <p:cNvPr id="177" name="">
            <a:extLst xmlns:a="http://schemas.openxmlformats.org/drawingml/2006/main">
              <a:ext uri="{FF2B5EF4-FFF2-40B4-BE49-F238E27FC236}">
                <a16:creationId xmlns:a16="http://schemas.microsoft.com/office/drawing/2014/main" id="{14A97F73-6023-4BB8-8664-A18EB5DB0081}"/>
              </a:ext>
            </a:extLst>
          </p:cNvPr>
          <p:cNvSpPr>
            <a:spLocks xmlns:a="http://schemas.openxmlformats.org/drawingml/2006/main" noGrp="1"/>
          </p:cNvSpPr>
          <p:nvPr/>
        </p:nvSpPr>
        <p:spPr>
          <a:xfrm xmlns:a="http://schemas.openxmlformats.org/drawingml/2006/main">
            <a:off x="19145250" y="16325850"/>
            <a:ext cx="1685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Historical category demand → S3 dataset → DeepAR training/inference → backend rules → admin</a:t>
            </a:r>
          </a:p>
        </p:txBody>
      </p:sp>
      <p:sp>
        <p:nvSpPr>
          <p:cNvPr id="178" name="">
            <a:extLst xmlns:a="http://schemas.openxmlformats.org/drawingml/2006/main">
              <a:ext uri="{FF2B5EF4-FFF2-40B4-BE49-F238E27FC236}">
                <a16:creationId xmlns:a16="http://schemas.microsoft.com/office/drawing/2014/main" id="{391F2509-10AB-487A-8D62-B45FE20275FE}"/>
              </a:ext>
            </a:extLst>
          </p:cNvPr>
          <p:cNvSpPr>
            <a:spLocks xmlns:a="http://schemas.openxmlformats.org/drawingml/2006/main" noGrp="1"/>
          </p:cNvSpPr>
          <p:nvPr/>
        </p:nvSpPr>
        <p:spPr>
          <a:xfrm xmlns:a="http://schemas.openxmlformats.org/drawingml/2006/main">
            <a:off x="19145250" y="16859250"/>
            <a:ext cx="5143500" cy="1714500"/>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dash"/>
          </a:ln>
        </p:spPr>
      </p:sp>
      <p:pic>
        <p:nvPicPr>
          <p:cNvPr id="372" name=""/>
          <p:cNvPicPr>
            <a:picLocks xmlns:a="http://schemas.openxmlformats.org/drawingml/2006/main" noChangeAspect="1"/>
          </p:cNvPicPr>
          <p:nvPr/>
        </p:nvPicPr>
        <p:blipFill>
          <a:blip xmlns:r="http://schemas.openxmlformats.org/officeDocument/2006/relationships" xmlns:a="http://schemas.openxmlformats.org/drawingml/2006/main" r:embed="R212401993abb4657"/>
          <a:stretch xmlns:a="http://schemas.openxmlformats.org/drawingml/2006/main"/>
        </p:blipFill>
        <p:spPr>
          <a:xfrm xmlns:a="http://schemas.openxmlformats.org/drawingml/2006/main">
            <a:off x="19316700" y="17011650"/>
            <a:ext cx="552450" cy="552450"/>
          </a:xfrm>
          <a:prstGeom xmlns:a="http://schemas.openxmlformats.org/drawingml/2006/main" prst="rect">
            <a:avLst/>
          </a:prstGeom>
        </p:spPr>
      </p:pic>
      <p:sp>
        <p:nvSpPr>
          <p:cNvPr id="180" name="">
            <a:extLst xmlns:a="http://schemas.openxmlformats.org/drawingml/2006/main">
              <a:ext uri="{FF2B5EF4-FFF2-40B4-BE49-F238E27FC236}">
                <a16:creationId xmlns:a16="http://schemas.microsoft.com/office/drawing/2014/main" id="{B757618F-CF40-4965-A519-90C398C9D8F6}"/>
              </a:ext>
            </a:extLst>
          </p:cNvPr>
          <p:cNvSpPr>
            <a:spLocks xmlns:a="http://schemas.openxmlformats.org/drawingml/2006/main" noGrp="1"/>
          </p:cNvSpPr>
          <p:nvPr/>
        </p:nvSpPr>
        <p:spPr>
          <a:xfrm xmlns:a="http://schemas.openxmlformats.org/drawingml/2006/main">
            <a:off x="19335750" y="176403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Order history + S3</a:t>
            </a:r>
          </a:p>
        </p:txBody>
      </p:sp>
      <p:sp>
        <p:nvSpPr>
          <p:cNvPr id="181" name="">
            <a:extLst xmlns:a="http://schemas.openxmlformats.org/drawingml/2006/main">
              <a:ext uri="{FF2B5EF4-FFF2-40B4-BE49-F238E27FC236}">
                <a16:creationId xmlns:a16="http://schemas.microsoft.com/office/drawing/2014/main" id="{2FF04E92-4F7C-46CA-B9EB-0460831C784C}"/>
              </a:ext>
            </a:extLst>
          </p:cNvPr>
          <p:cNvSpPr>
            <a:spLocks xmlns:a="http://schemas.openxmlformats.org/drawingml/2006/main" noGrp="1"/>
          </p:cNvSpPr>
          <p:nvPr/>
        </p:nvSpPr>
        <p:spPr>
          <a:xfrm xmlns:a="http://schemas.openxmlformats.org/drawingml/2006/main">
            <a:off x="19335750" y="181165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Daily category time series</a:t>
            </a:r>
          </a:p>
        </p:txBody>
      </p:sp>
      <p:sp>
        <p:nvSpPr>
          <p:cNvPr id="182" name="">
            <a:extLst xmlns:a="http://schemas.openxmlformats.org/drawingml/2006/main">
              <a:ext uri="{FF2B5EF4-FFF2-40B4-BE49-F238E27FC236}">
                <a16:creationId xmlns:a16="http://schemas.microsoft.com/office/drawing/2014/main" id="{54B1E562-3F14-4727-BE6D-D06B2C6FDFDC}"/>
              </a:ext>
            </a:extLst>
          </p:cNvPr>
          <p:cNvSpPr>
            <a:spLocks xmlns:a="http://schemas.openxmlformats.org/drawingml/2006/main" noGrp="1"/>
          </p:cNvSpPr>
          <p:nvPr/>
        </p:nvSpPr>
        <p:spPr>
          <a:xfrm xmlns:a="http://schemas.openxmlformats.org/drawingml/2006/main">
            <a:off x="25003125" y="16859250"/>
            <a:ext cx="5143500" cy="1714500"/>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dash"/>
          </a:ln>
        </p:spPr>
      </p:sp>
      <p:pic>
        <p:nvPicPr>
          <p:cNvPr id="376" name=""/>
          <p:cNvPicPr>
            <a:picLocks xmlns:a="http://schemas.openxmlformats.org/drawingml/2006/main" noChangeAspect="1"/>
          </p:cNvPicPr>
          <p:nvPr/>
        </p:nvPicPr>
        <p:blipFill>
          <a:blip xmlns:r="http://schemas.openxmlformats.org/officeDocument/2006/relationships" xmlns:a="http://schemas.openxmlformats.org/drawingml/2006/main" r:embed="R890c199510c14db3"/>
          <a:stretch xmlns:a="http://schemas.openxmlformats.org/drawingml/2006/main"/>
        </p:blipFill>
        <p:spPr>
          <a:xfrm xmlns:a="http://schemas.openxmlformats.org/drawingml/2006/main">
            <a:off x="25174575" y="17011650"/>
            <a:ext cx="552450" cy="552450"/>
          </a:xfrm>
          <a:prstGeom xmlns:a="http://schemas.openxmlformats.org/drawingml/2006/main" prst="rect">
            <a:avLst/>
          </a:prstGeom>
        </p:spPr>
      </p:pic>
      <p:sp>
        <p:nvSpPr>
          <p:cNvPr id="184" name="">
            <a:extLst xmlns:a="http://schemas.openxmlformats.org/drawingml/2006/main">
              <a:ext uri="{FF2B5EF4-FFF2-40B4-BE49-F238E27FC236}">
                <a16:creationId xmlns:a16="http://schemas.microsoft.com/office/drawing/2014/main" id="{22F2EEF2-5AA8-49F1-B908-2D28D96F9C1F}"/>
              </a:ext>
            </a:extLst>
          </p:cNvPr>
          <p:cNvSpPr>
            <a:spLocks xmlns:a="http://schemas.openxmlformats.org/drawingml/2006/main" noGrp="1"/>
          </p:cNvSpPr>
          <p:nvPr/>
        </p:nvSpPr>
        <p:spPr>
          <a:xfrm xmlns:a="http://schemas.openxmlformats.org/drawingml/2006/main">
            <a:off x="25193625" y="176403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SageMaker DeepAR</a:t>
            </a:r>
          </a:p>
        </p:txBody>
      </p:sp>
      <p:sp>
        <p:nvSpPr>
          <p:cNvPr id="185" name="">
            <a:extLst xmlns:a="http://schemas.openxmlformats.org/drawingml/2006/main">
              <a:ext uri="{FF2B5EF4-FFF2-40B4-BE49-F238E27FC236}">
                <a16:creationId xmlns:a16="http://schemas.microsoft.com/office/drawing/2014/main" id="{09A61FB6-007B-445A-97FC-0EA8E9B50F24}"/>
              </a:ext>
            </a:extLst>
          </p:cNvPr>
          <p:cNvSpPr>
            <a:spLocks xmlns:a="http://schemas.openxmlformats.org/drawingml/2006/main" noGrp="1"/>
          </p:cNvSpPr>
          <p:nvPr/>
        </p:nvSpPr>
        <p:spPr>
          <a:xfrm xmlns:a="http://schemas.openxmlformats.org/drawingml/2006/main">
            <a:off x="25193625" y="181165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Train and forecast seven days</a:t>
            </a:r>
          </a:p>
        </p:txBody>
      </p:sp>
      <p:sp>
        <p:nvSpPr>
          <p:cNvPr id="186" name="">
            <a:extLst xmlns:a="http://schemas.openxmlformats.org/drawingml/2006/main">
              <a:ext uri="{FF2B5EF4-FFF2-40B4-BE49-F238E27FC236}">
                <a16:creationId xmlns:a16="http://schemas.microsoft.com/office/drawing/2014/main" id="{FDBF4CEF-755B-4718-90C1-6ECF8866F3BB}"/>
              </a:ext>
            </a:extLst>
          </p:cNvPr>
          <p:cNvSpPr>
            <a:spLocks xmlns:a="http://schemas.openxmlformats.org/drawingml/2006/main" noGrp="1"/>
          </p:cNvSpPr>
          <p:nvPr/>
        </p:nvSpPr>
        <p:spPr>
          <a:xfrm xmlns:a="http://schemas.openxmlformats.org/drawingml/2006/main">
            <a:off x="30861000" y="16859250"/>
            <a:ext cx="5143500" cy="1714500"/>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dash"/>
          </a:ln>
        </p:spPr>
      </p:sp>
      <p:pic>
        <p:nvPicPr>
          <p:cNvPr id="380" name=""/>
          <p:cNvPicPr>
            <a:picLocks xmlns:a="http://schemas.openxmlformats.org/drawingml/2006/main" noChangeAspect="1"/>
          </p:cNvPicPr>
          <p:nvPr/>
        </p:nvPicPr>
        <p:blipFill>
          <a:blip xmlns:r="http://schemas.openxmlformats.org/officeDocument/2006/relationships" xmlns:a="http://schemas.openxmlformats.org/drawingml/2006/main" r:embed="Re1f4a1ca072b4e08"/>
          <a:stretch xmlns:a="http://schemas.openxmlformats.org/drawingml/2006/main"/>
        </p:blipFill>
        <p:spPr>
          <a:xfrm xmlns:a="http://schemas.openxmlformats.org/drawingml/2006/main">
            <a:off x="31032450" y="17011650"/>
            <a:ext cx="552450" cy="552450"/>
          </a:xfrm>
          <a:prstGeom xmlns:a="http://schemas.openxmlformats.org/drawingml/2006/main" prst="rect">
            <a:avLst/>
          </a:prstGeom>
        </p:spPr>
      </p:pic>
      <p:sp>
        <p:nvSpPr>
          <p:cNvPr id="188" name="">
            <a:extLst xmlns:a="http://schemas.openxmlformats.org/drawingml/2006/main">
              <a:ext uri="{FF2B5EF4-FFF2-40B4-BE49-F238E27FC236}">
                <a16:creationId xmlns:a16="http://schemas.microsoft.com/office/drawing/2014/main" id="{2880F617-0269-4146-AB57-BE9A165F25BD}"/>
              </a:ext>
            </a:extLst>
          </p:cNvPr>
          <p:cNvSpPr>
            <a:spLocks xmlns:a="http://schemas.openxmlformats.org/drawingml/2006/main" noGrp="1"/>
          </p:cNvSpPr>
          <p:nvPr/>
        </p:nvSpPr>
        <p:spPr>
          <a:xfrm xmlns:a="http://schemas.openxmlformats.org/drawingml/2006/main">
            <a:off x="31051500" y="176403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FastAPI + admin dashboard</a:t>
            </a:r>
          </a:p>
        </p:txBody>
      </p:sp>
      <p:sp>
        <p:nvSpPr>
          <p:cNvPr id="189" name="">
            <a:extLst xmlns:a="http://schemas.openxmlformats.org/drawingml/2006/main">
              <a:ext uri="{FF2B5EF4-FFF2-40B4-BE49-F238E27FC236}">
                <a16:creationId xmlns:a16="http://schemas.microsoft.com/office/drawing/2014/main" id="{E1E2282E-DAE5-4FB2-83F3-877120DFF620}"/>
              </a:ext>
            </a:extLst>
          </p:cNvPr>
          <p:cNvSpPr>
            <a:spLocks xmlns:a="http://schemas.openxmlformats.org/drawingml/2006/main" noGrp="1"/>
          </p:cNvSpPr>
          <p:nvPr/>
        </p:nvSpPr>
        <p:spPr>
          <a:xfrm xmlns:a="http://schemas.openxmlformats.org/drawingml/2006/main">
            <a:off x="31051500" y="181165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88766B"/>
                </a:solidFill>
                <a:latin typeface="Arial"/>
                <a:ea typeface="Arial"/>
                <a:cs typeface="Arial"/>
              </a:defRPr>
            </a:pPr>
            <a:r>
              <a:rPr sz="1725" b="0">
                <a:solidFill>
                  <a:srgbClr val="88766B"/>
                </a:solidFill>
                <a:latin typeface="Arial"/>
                <a:ea typeface="Arial"/>
                <a:cs typeface="Arial"/>
              </a:rPr>
              <a:t>Forecasts and recommendations</a:t>
            </a:r>
          </a:p>
        </p:txBody>
      </p:sp>
      <p:cxnSp>
        <p:nvCxnSpPr>
          <p:cNvPr id="383" name=""/>
          <p:cNvCxnSpPr>
            <a:stCxn xmlns:a="http://schemas.openxmlformats.org/drawingml/2006/main" id="178" idx="3"/>
            <a:endCxn xmlns:a="http://schemas.openxmlformats.org/drawingml/2006/main" id="182" idx="1"/>
          </p:cNvCxnSpPr>
          <p:nvPr/>
        </p:nvCxnSpPr>
        <p:spPr>
          <a:xfrm xmlns:a="http://schemas.openxmlformats.org/drawingml/2006/main">
            <a:off x="24288750" y="17716500"/>
            <a:ext cx="71437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cxnSp>
        <p:nvCxnSpPr>
          <p:cNvPr id="384" name=""/>
          <p:cNvCxnSpPr>
            <a:stCxn xmlns:a="http://schemas.openxmlformats.org/drawingml/2006/main" id="182" idx="3"/>
            <a:endCxn xmlns:a="http://schemas.openxmlformats.org/drawingml/2006/main" id="186" idx="1"/>
          </p:cNvCxnSpPr>
          <p:nvPr/>
        </p:nvCxnSpPr>
        <p:spPr>
          <a:xfrm xmlns:a="http://schemas.openxmlformats.org/drawingml/2006/main">
            <a:off x="30146625" y="17716500"/>
            <a:ext cx="71437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sp>
        <p:nvSpPr>
          <p:cNvPr id="192" name="">
            <a:extLst xmlns:a="http://schemas.openxmlformats.org/drawingml/2006/main">
              <a:ext uri="{FF2B5EF4-FFF2-40B4-BE49-F238E27FC236}">
                <a16:creationId xmlns:a16="http://schemas.microsoft.com/office/drawing/2014/main" id="{D349FD95-53F8-4D45-8081-8319543BEB8A}"/>
              </a:ext>
            </a:extLst>
          </p:cNvPr>
          <p:cNvSpPr>
            <a:spLocks xmlns:a="http://schemas.openxmlformats.org/drawingml/2006/main" noGrp="1"/>
          </p:cNvSpPr>
          <p:nvPr/>
        </p:nvSpPr>
        <p:spPr>
          <a:xfrm xmlns:a="http://schemas.openxmlformats.org/drawingml/2006/main">
            <a:off x="19145250" y="18764250"/>
            <a:ext cx="1685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805299"/>
                </a:solidFill>
                <a:latin typeface="Arial"/>
                <a:ea typeface="Arial"/>
                <a:cs typeface="Arial"/>
              </a:defRPr>
            </a:pPr>
            <a:r>
              <a:rPr sz="2100" b="1">
                <a:solidFill>
                  <a:srgbClr val="805299"/>
                </a:solidFill>
                <a:latin typeface="Arial"/>
                <a:ea typeface="Arial"/>
                <a:cs typeface="Arial"/>
              </a:rPr>
              <a:t>PLANNED: current dashboard uses static demo values. Training and inference are not connected.</a:t>
            </a:r>
          </a:p>
        </p:txBody>
      </p:sp>
      <p:sp>
        <p:nvSpPr>
          <p:cNvPr id="193" name="">
            <a:extLst xmlns:a="http://schemas.openxmlformats.org/drawingml/2006/main">
              <a:ext uri="{FF2B5EF4-FFF2-40B4-BE49-F238E27FC236}">
                <a16:creationId xmlns:a16="http://schemas.microsoft.com/office/drawing/2014/main" id="{1F4347CE-1933-4BC2-BE35-95A791CAD87C}"/>
              </a:ext>
            </a:extLst>
          </p:cNvPr>
          <p:cNvSpPr>
            <a:spLocks xmlns:a="http://schemas.openxmlformats.org/drawingml/2006/main" noGrp="1"/>
          </p:cNvSpPr>
          <p:nvPr/>
        </p:nvSpPr>
        <p:spPr>
          <a:xfrm xmlns:a="http://schemas.openxmlformats.org/drawingml/2006/main">
            <a:off x="571500" y="19812000"/>
            <a:ext cx="3524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CloudWatch + Secrets Manager: client helpers only.  MCP: separate stdio prototype with a fixed demo user.  AWS hosting and live operation: unverified.</a:t>
            </a:r>
          </a:p>
        </p:txBody>
      </p:sp>
    </p:spTree>
    <p:extLst>
      <p:ext uri="{BB962C8B-B14F-4D97-AF65-F5344CB8AC3E}">
        <p14:creationId xmlns:p14="http://schemas.microsoft.com/office/powerpoint/2010/main" val="1775236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2026-09-12T14:05:39.8910000Z</dcterms:created>
  <dcterms:modified xsi:type="dcterms:W3CDTF">2026-09-12T14:05:39.8910000Z</dcterms:modified>
</coreProperties>
</file>