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fe8671918ab4825" /><Relationship Type="http://schemas.openxmlformats.org/officeDocument/2006/relationships/extended-properties" Target="/docProps/app.xml" Id="Rba1268d7aac24c45" /><Relationship Type="http://schemas.openxmlformats.org/officeDocument/2006/relationships/officeDocument" Target="/ppt/presentation.xml" Id="R046ea378ade2438a" /></Relationships>
</file>

<file path=ppt/presentation.xml><?xml version="1.0" encoding="utf-8"?>
<p:presentation xmlns:p="http://schemas.openxmlformats.org/presentationml/2006/main">
  <p:sldMasterIdLst>
    <p:sldMasterId xmlns:r="http://schemas.openxmlformats.org/officeDocument/2006/relationships" id="2147483648" r:id="Rc18ac87889ee4601"/>
  </p:sldMasterIdLst>
  <p:notesMasterIdLst>
    <p:notesMasterId xmlns:r="http://schemas.openxmlformats.org/officeDocument/2006/relationships" r:id="Rf1dedc7b1f94476b"/>
  </p:notesMasterIdLst>
  <p:sldIdLst>
    <p:sldId xmlns:r="http://schemas.openxmlformats.org/officeDocument/2006/relationships" id="256" r:id="Rad99ffc8dbda4aab"/>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98f0693fd24ba8" /><Relationship Type="http://schemas.openxmlformats.org/officeDocument/2006/relationships/slideMaster" Target="/ppt/slideMasters/slideMaster1.xml" Id="Rc18ac87889ee4601" /><Relationship Type="http://schemas.openxmlformats.org/officeDocument/2006/relationships/notesMaster" Target="/ppt/notesMasters/notesMaster1.xml" Id="Rf1dedc7b1f94476b" /><Relationship Type="http://schemas.openxmlformats.org/officeDocument/2006/relationships/presProps" Target="/ppt/presProps.xml" Id="R36d5012ebb3c4543" /><Relationship Type="http://schemas.openxmlformats.org/officeDocument/2006/relationships/tableStyles" Target="/ppt/tableStyles.xml" Id="R90d72f1633b644c9" /><Relationship Type="http://schemas.openxmlformats.org/officeDocument/2006/relationships/slide" Target="/ppt/slides/slide1.xml" Id="Rad99ffc8dbda4a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56d033fc8443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79229a9e4724e86" /><Relationship Type="http://schemas.openxmlformats.org/officeDocument/2006/relationships/notesMaster" Target="/ppt/notesMasters/notesMaster1.xml" Id="R4287312ad5b44d8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browser uses the Next.js interface and server API proxy. FastAPI coordinates chat, voice, knowledge, orders and reservations. Controlled services call Bedrock, S3, Textract, Transcribe and Polly through AWS clients. Knowledge search uses Qdrant, while repositories access SQLite. The browser connects to Chime separately and FastAPI creates the session. Guardrails are optional chat configuration. SageMaker remains planned. CloudWatch and Secrets Manager have client factories only. Solid lines represent source-code paths, not verified live AWS operation. AWS hosting is not established.</a:t>
            </a:r>
          </a:p>
          <a:p xmlns:a="http://schemas.openxmlformats.org/drawingml/2006/main">
            <a:r>
              <a:t>Source: CallDine repository scanned 12 September 2026. AWS icons: https://aws.amazon.com/architecture/icons/ . AWS logo: https://a0.awsstatic.com/libra-css/images/logos/aws_logo_smile_1200x630.png . Next.js logo: https://assets.vercel.com/image/upload/v1662130559/nextjs/Icon_light_background.png . FastAPI icon: https://github.com/fastapi/fastapi/blob/master/docs/en/docs/img/icon-white.svg . CallDine logo: Frontend/components/ui/Logo.tsx. Brand colors: Frontend/app/globals.css. SQLite logo: https://sqlite.org/images/sqlite370_banner.gif . Qdrant logo: https://github.com/qdrant/qdrant/blob/master/docs/logo.svg . Docker logo: https://www.docker.com/company/newsroom/media-resources/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df8ec3c818843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1cbe4bf56f44248" /><Relationship Type="http://schemas.openxmlformats.org/officeDocument/2006/relationships/slideLayout" Target="/ppt/slideLayouts/slideLayout1.xml" Id="R2cd1c21e35b946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cd1c21e35b946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2684e5b30b64085" /><Relationship Type="http://schemas.openxmlformats.org/officeDocument/2006/relationships/image" Target="/ppt/media/image.png" Id="R52865c293bce459d" /><Relationship Type="http://schemas.openxmlformats.org/officeDocument/2006/relationships/image" Target="/ppt/media/image2.png" Id="Rd29a818f4e584f84" /><Relationship Type="http://schemas.openxmlformats.org/officeDocument/2006/relationships/image" Target="/ppt/media/image3.png" Id="Rabffcfd3bd5e492d" /><Relationship Type="http://schemas.openxmlformats.org/officeDocument/2006/relationships/image" Target="/ppt/media/image4.png" Id="R3075b4975d6442d8" /><Relationship Type="http://schemas.openxmlformats.org/officeDocument/2006/relationships/image" Target="/ppt/media/image5.png" Id="Ra1c7a97a0a7141ac" /><Relationship Type="http://schemas.openxmlformats.org/officeDocument/2006/relationships/image" Target="/ppt/media/image6.png" Id="Re847a49a4bf3486b" /><Relationship Type="http://schemas.openxmlformats.org/officeDocument/2006/relationships/image" Target="/ppt/media/image7.png" Id="R7691db4c0de84170" /><Relationship Type="http://schemas.openxmlformats.org/officeDocument/2006/relationships/image" Target="/ppt/media/image8.png" Id="R2ce5009ca6fc4bd9" /><Relationship Type="http://schemas.openxmlformats.org/officeDocument/2006/relationships/image" Target="/ppt/media/image9.png" Id="Rcac856c6c0774423" /><Relationship Type="http://schemas.openxmlformats.org/officeDocument/2006/relationships/image" Target="/ppt/media/image10.png" Id="R35c2765afa4a45eb" /><Relationship Type="http://schemas.openxmlformats.org/officeDocument/2006/relationships/image" Target="/ppt/media/image11.png" Id="R2f7621f3ce25465a" /><Relationship Type="http://schemas.openxmlformats.org/officeDocument/2006/relationships/image" Target="/ppt/media/image12.png" Id="R3726508abf374da4" /><Relationship Type="http://schemas.openxmlformats.org/officeDocument/2006/relationships/image" Target="/ppt/media/image13.png" Id="R4da02cb1b320404a" /><Relationship Type="http://schemas.openxmlformats.org/officeDocument/2006/relationships/image" Target="/ppt/media/image14.png" Id="Rb98da08d11d64caa" /><Relationship Type="http://schemas.openxmlformats.org/officeDocument/2006/relationships/image" Target="/ppt/media/image15.png" Id="Rdd21925dd39140c7" /><Relationship Type="http://schemas.openxmlformats.org/officeDocument/2006/relationships/image" Target="/ppt/media/image16.png" Id="R59118f45bd224342" /><Relationship Type="http://schemas.openxmlformats.org/officeDocument/2006/relationships/image" Target="/ppt/media/image17.png" Id="R94c83b4379d34c78" /><Relationship Type="http://schemas.openxmlformats.org/officeDocument/2006/relationships/image" Target="/ppt/media/image18.png" Id="R38eb029475fe4529" /><Relationship Type="http://schemas.openxmlformats.org/officeDocument/2006/relationships/notesSlide" Target="/ppt/notesSlides/notesSlide1.xml" Id="R19ba3aa5e94c4ab3" /></Relationships>
</file>

<file path=ppt/slides/slide1.xml><?xml version="1.0" encoding="utf-8"?>
<p:sld xmlns:p="http://schemas.openxmlformats.org/presentationml/2006/main">
  <p:cSld>
    <p:bg>
      <p:bgPr>
        <a:solidFill xmlns:a="http://schemas.openxmlformats.org/drawingml/2006/main">
          <a:srgbClr val="FFF8EE"/>
        </a:solidFill>
      </p:bgPr>
    </p:bg>
    <p:spTree>
      <p:nvGrpSpPr>
        <p:cNvPr id="1" name=""/>
        <p:cNvGrpSpPr/>
        <p:nvPr/>
      </p:nvGrpSpPr>
      <p:grpSpPr>
        <a:xfrm xmlns:a="http://schemas.openxmlformats.org/drawingml/2006/main"/>
      </p:grpSpPr>
      <p:pic>
        <p:nvPicPr>
          <p:cNvPr id="81" name=""/>
          <p:cNvPicPr>
            <a:picLocks xmlns:a="http://schemas.openxmlformats.org/drawingml/2006/main" noChangeAspect="1"/>
          </p:cNvPicPr>
          <p:nvPr/>
        </p:nvPicPr>
        <p:blipFill>
          <a:blip xmlns:r="http://schemas.openxmlformats.org/officeDocument/2006/relationships" xmlns:a="http://schemas.openxmlformats.org/drawingml/2006/main" r:embed="R52865c293bce459d"/>
          <a:stretch xmlns:a="http://schemas.openxmlformats.org/drawingml/2006/main"/>
        </p:blipFill>
        <p:spPr>
          <a:xfrm xmlns:a="http://schemas.openxmlformats.org/drawingml/2006/main">
            <a:off x="571500" y="381000"/>
            <a:ext cx="495300" cy="4953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7661FF7-8318-4FA6-9168-D407DE02C649}"/>
              </a:ext>
            </a:extLst>
          </p:cNvPr>
          <p:cNvSpPr>
            <a:spLocks xmlns:a="http://schemas.openxmlformats.org/drawingml/2006/main" noGrp="1"/>
          </p:cNvSpPr>
          <p:nvPr/>
        </p:nvSpPr>
        <p:spPr>
          <a:xfrm xmlns:a="http://schemas.openxmlformats.org/drawingml/2006/main">
            <a:off x="1190625" y="447675"/>
            <a:ext cx="2476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C9502F"/>
                </a:solidFill>
                <a:latin typeface="Arial"/>
                <a:ea typeface="Arial"/>
                <a:cs typeface="Arial"/>
              </a:defRPr>
            </a:pPr>
            <a:r>
              <a:rPr sz="2400" b="1">
                <a:solidFill>
                  <a:srgbClr val="C9502F"/>
                </a:solidFill>
                <a:latin typeface="Arial"/>
                <a:ea typeface="Arial"/>
                <a:cs typeface="Arial"/>
              </a:rPr>
              <a:t>CallDine</a:t>
            </a:r>
          </a:p>
        </p:txBody>
      </p:sp>
      <p:sp>
        <p:nvSpPr>
          <p:cNvPr id="3" name="">
            <a:extLst xmlns:a="http://schemas.openxmlformats.org/drawingml/2006/main">
              <a:ext uri="{FF2B5EF4-FFF2-40B4-BE49-F238E27FC236}">
                <a16:creationId xmlns:a16="http://schemas.microsoft.com/office/drawing/2014/main" id="{ADCCC9CB-3ADF-464B-9CB9-34671588F97A}"/>
              </a:ext>
            </a:extLst>
          </p:cNvPr>
          <p:cNvSpPr>
            <a:spLocks xmlns:a="http://schemas.openxmlformats.org/drawingml/2006/main" noGrp="1"/>
          </p:cNvSpPr>
          <p:nvPr/>
        </p:nvSpPr>
        <p:spPr>
          <a:xfrm xmlns:a="http://schemas.openxmlformats.org/drawingml/2006/main">
            <a:off x="571500" y="1238250"/>
            <a:ext cx="16764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350" b="1">
                <a:solidFill>
                  <a:srgbClr val="34231D"/>
                </a:solidFill>
                <a:latin typeface="Arial"/>
                <a:ea typeface="Arial"/>
                <a:cs typeface="Arial"/>
              </a:defRPr>
            </a:pPr>
            <a:r>
              <a:rPr sz="4350" b="1">
                <a:solidFill>
                  <a:srgbClr val="34231D"/>
                </a:solidFill>
                <a:latin typeface="Arial"/>
                <a:ea typeface="Arial"/>
                <a:cs typeface="Arial"/>
              </a:rPr>
              <a:t>Complete system architecture</a:t>
            </a:r>
          </a:p>
        </p:txBody>
      </p:sp>
      <p:sp>
        <p:nvSpPr>
          <p:cNvPr id="4" name="">
            <a:extLst xmlns:a="http://schemas.openxmlformats.org/drawingml/2006/main">
              <a:ext uri="{FF2B5EF4-FFF2-40B4-BE49-F238E27FC236}">
                <a16:creationId xmlns:a16="http://schemas.microsoft.com/office/drawing/2014/main" id="{5CF03531-F020-478C-A6FB-B1E53DA937F7}"/>
              </a:ext>
            </a:extLst>
          </p:cNvPr>
          <p:cNvSpPr>
            <a:spLocks xmlns:a="http://schemas.openxmlformats.org/drawingml/2006/main" noGrp="1"/>
          </p:cNvSpPr>
          <p:nvPr/>
        </p:nvSpPr>
        <p:spPr>
          <a:xfrm xmlns:a="http://schemas.openxmlformats.org/drawingml/2006/main">
            <a:off x="600075" y="2133600"/>
            <a:ext cx="16764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88766B"/>
                </a:solidFill>
                <a:latin typeface="Arial"/>
                <a:ea typeface="Arial"/>
                <a:cs typeface="Arial"/>
              </a:defRPr>
            </a:pPr>
            <a:r>
              <a:rPr sz="2175" b="0">
                <a:solidFill>
                  <a:srgbClr val="88766B"/>
                </a:solidFill>
                <a:latin typeface="Arial"/>
                <a:ea typeface="Arial"/>
                <a:cs typeface="Arial"/>
              </a:rPr>
              <a:t>Numbered steps show the conversation. Arrows show requests and returned results.</a:t>
            </a:r>
          </a:p>
        </p:txBody>
      </p:sp>
      <p:sp>
        <p:nvSpPr>
          <p:cNvPr id="5" name="">
            <a:extLst xmlns:a="http://schemas.openxmlformats.org/drawingml/2006/main">
              <a:ext uri="{FF2B5EF4-FFF2-40B4-BE49-F238E27FC236}">
                <a16:creationId xmlns:a16="http://schemas.microsoft.com/office/drawing/2014/main" id="{7BE5B27F-B666-42F6-8D37-6B499A5BC044}"/>
              </a:ext>
            </a:extLst>
          </p:cNvPr>
          <p:cNvSpPr>
            <a:spLocks xmlns:a="http://schemas.openxmlformats.org/drawingml/2006/main" noGrp="1"/>
          </p:cNvSpPr>
          <p:nvPr/>
        </p:nvSpPr>
        <p:spPr>
          <a:xfrm xmlns:a="http://schemas.openxmlformats.org/drawingml/2006/main">
            <a:off x="17049750" y="9544050"/>
            <a:ext cx="666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01</a:t>
            </a:r>
          </a:p>
        </p:txBody>
      </p:sp>
      <p:pic>
        <p:nvPicPr>
          <p:cNvPr id="86" name=""/>
          <p:cNvPicPr>
            <a:picLocks xmlns:a="http://schemas.openxmlformats.org/drawingml/2006/main" noChangeAspect="1"/>
          </p:cNvPicPr>
          <p:nvPr/>
        </p:nvPicPr>
        <p:blipFill>
          <a:blip xmlns:r="http://schemas.openxmlformats.org/officeDocument/2006/relationships" xmlns:a="http://schemas.openxmlformats.org/drawingml/2006/main" r:embed="Rd29a818f4e584f84"/>
          <a:stretch xmlns:a="http://schemas.openxmlformats.org/drawingml/2006/main"/>
        </p:blipFill>
        <p:spPr>
          <a:xfrm xmlns:a="http://schemas.openxmlformats.org/drawingml/2006/main">
            <a:off x="14829518" y="114300"/>
            <a:ext cx="2630714" cy="138112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803862F4-DC4B-45FE-8B26-912724423BBC}"/>
              </a:ext>
            </a:extLst>
          </p:cNvPr>
          <p:cNvSpPr>
            <a:spLocks xmlns:a="http://schemas.openxmlformats.org/drawingml/2006/main" noGrp="1"/>
          </p:cNvSpPr>
          <p:nvPr/>
        </p:nvSpPr>
        <p:spPr>
          <a:xfrm xmlns:a="http://schemas.openxmlformats.org/drawingml/2006/main">
            <a:off x="571500" y="2847975"/>
            <a:ext cx="6572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9502F"/>
                </a:solidFill>
                <a:latin typeface="Arial"/>
                <a:ea typeface="Arial"/>
                <a:cs typeface="Arial"/>
              </a:defRPr>
            </a:pPr>
            <a:r>
              <a:rPr sz="1800" b="1">
                <a:solidFill>
                  <a:srgbClr val="C9502F"/>
                </a:solidFill>
                <a:latin typeface="Arial"/>
                <a:ea typeface="Arial"/>
                <a:cs typeface="Arial"/>
              </a:rPr>
              <a:t>APPLICATION RUNTIME</a:t>
            </a:r>
          </a:p>
        </p:txBody>
      </p:sp>
      <p:sp>
        <p:nvSpPr>
          <p:cNvPr id="8" name="">
            <a:extLst xmlns:a="http://schemas.openxmlformats.org/drawingml/2006/main">
              <a:ext uri="{FF2B5EF4-FFF2-40B4-BE49-F238E27FC236}">
                <a16:creationId xmlns:a16="http://schemas.microsoft.com/office/drawing/2014/main" id="{55CEC439-F87C-4E71-BC0E-38FCCFE5FA5C}"/>
              </a:ext>
            </a:extLst>
          </p:cNvPr>
          <p:cNvSpPr>
            <a:spLocks xmlns:a="http://schemas.openxmlformats.org/drawingml/2006/main" noGrp="1"/>
          </p:cNvSpPr>
          <p:nvPr/>
        </p:nvSpPr>
        <p:spPr>
          <a:xfrm xmlns:a="http://schemas.openxmlformats.org/drawingml/2006/main">
            <a:off x="12573000" y="27813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9502F"/>
                </a:solidFill>
                <a:latin typeface="Arial"/>
                <a:ea typeface="Arial"/>
                <a:cs typeface="Arial"/>
              </a:defRPr>
            </a:pPr>
            <a:r>
              <a:rPr sz="1800" b="1">
                <a:solidFill>
                  <a:srgbClr val="C9502F"/>
                </a:solidFill>
                <a:latin typeface="Arial"/>
                <a:ea typeface="Arial"/>
                <a:cs typeface="Arial"/>
              </a:rPr>
              <a:t>AWS MANAGED SERVICES</a:t>
            </a:r>
          </a:p>
        </p:txBody>
      </p:sp>
      <p:sp>
        <p:nvSpPr>
          <p:cNvPr id="9" name="">
            <a:extLst xmlns:a="http://schemas.openxmlformats.org/drawingml/2006/main">
              <a:ext uri="{FF2B5EF4-FFF2-40B4-BE49-F238E27FC236}">
                <a16:creationId xmlns:a16="http://schemas.microsoft.com/office/drawing/2014/main" id="{7FB9EF85-82E4-483A-976A-BE6FC0EE39B5}"/>
              </a:ext>
            </a:extLst>
          </p:cNvPr>
          <p:cNvSpPr>
            <a:spLocks xmlns:a="http://schemas.openxmlformats.org/drawingml/2006/main" noGrp="1"/>
          </p:cNvSpPr>
          <p:nvPr/>
        </p:nvSpPr>
        <p:spPr>
          <a:xfrm xmlns:a="http://schemas.openxmlformats.org/drawingml/2006/main">
            <a:off x="571500" y="3333750"/>
            <a:ext cx="2619375"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90" name=""/>
          <p:cNvPicPr>
            <a:picLocks xmlns:a="http://schemas.openxmlformats.org/drawingml/2006/main" noChangeAspect="1"/>
          </p:cNvPicPr>
          <p:nvPr/>
        </p:nvPicPr>
        <p:blipFill>
          <a:blip xmlns:r="http://schemas.openxmlformats.org/officeDocument/2006/relationships" xmlns:a="http://schemas.openxmlformats.org/drawingml/2006/main" r:embed="Rabffcfd3bd5e492d"/>
          <a:stretch xmlns:a="http://schemas.openxmlformats.org/drawingml/2006/main"/>
        </p:blipFill>
        <p:spPr>
          <a:xfrm xmlns:a="http://schemas.openxmlformats.org/drawingml/2006/main">
            <a:off x="762000" y="3524250"/>
            <a:ext cx="609600" cy="609600"/>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7ACDFE0B-4992-4113-97BB-BE1639B0E70D}"/>
              </a:ext>
            </a:extLst>
          </p:cNvPr>
          <p:cNvSpPr>
            <a:spLocks xmlns:a="http://schemas.openxmlformats.org/drawingml/2006/main" noGrp="1"/>
          </p:cNvSpPr>
          <p:nvPr/>
        </p:nvSpPr>
        <p:spPr>
          <a:xfrm xmlns:a="http://schemas.openxmlformats.org/drawingml/2006/main">
            <a:off x="1514475" y="3543300"/>
            <a:ext cx="1457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Browser</a:t>
            </a:r>
          </a:p>
        </p:txBody>
      </p:sp>
      <p:sp>
        <p:nvSpPr>
          <p:cNvPr id="12" name="">
            <a:extLst xmlns:a="http://schemas.openxmlformats.org/drawingml/2006/main">
              <a:ext uri="{FF2B5EF4-FFF2-40B4-BE49-F238E27FC236}">
                <a16:creationId xmlns:a16="http://schemas.microsoft.com/office/drawing/2014/main" id="{833A23BC-1578-450D-828E-DD6A8693C50E}"/>
              </a:ext>
            </a:extLst>
          </p:cNvPr>
          <p:cNvSpPr>
            <a:spLocks xmlns:a="http://schemas.openxmlformats.org/drawingml/2006/main" noGrp="1"/>
          </p:cNvSpPr>
          <p:nvPr/>
        </p:nvSpPr>
        <p:spPr>
          <a:xfrm xmlns:a="http://schemas.openxmlformats.org/drawingml/2006/main">
            <a:off x="790575" y="4381500"/>
            <a:ext cx="21812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1. Text or voice input</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7. Read or hear reply</a:t>
            </a:r>
          </a:p>
        </p:txBody>
      </p:sp>
      <p:sp>
        <p:nvSpPr>
          <p:cNvPr id="13" name="">
            <a:extLst xmlns:a="http://schemas.openxmlformats.org/drawingml/2006/main">
              <a:ext uri="{FF2B5EF4-FFF2-40B4-BE49-F238E27FC236}">
                <a16:creationId xmlns:a16="http://schemas.microsoft.com/office/drawing/2014/main" id="{1CAA82F1-8383-4054-A933-EA5974E73117}"/>
              </a:ext>
            </a:extLst>
          </p:cNvPr>
          <p:cNvSpPr>
            <a:spLocks xmlns:a="http://schemas.openxmlformats.org/drawingml/2006/main" noGrp="1"/>
          </p:cNvSpPr>
          <p:nvPr/>
        </p:nvSpPr>
        <p:spPr>
          <a:xfrm xmlns:a="http://schemas.openxmlformats.org/drawingml/2006/main">
            <a:off x="3667125" y="3333750"/>
            <a:ext cx="276225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94" name=""/>
          <p:cNvPicPr>
            <a:picLocks xmlns:a="http://schemas.openxmlformats.org/drawingml/2006/main" noChangeAspect="1"/>
          </p:cNvPicPr>
          <p:nvPr/>
        </p:nvPicPr>
        <p:blipFill>
          <a:blip xmlns:r="http://schemas.openxmlformats.org/officeDocument/2006/relationships" xmlns:a="http://schemas.openxmlformats.org/drawingml/2006/main" r:embed="R3075b4975d6442d8"/>
          <a:stretch xmlns:a="http://schemas.openxmlformats.org/drawingml/2006/main"/>
        </p:blipFill>
        <p:spPr>
          <a:xfrm xmlns:a="http://schemas.openxmlformats.org/drawingml/2006/main">
            <a:off x="3857625" y="3524250"/>
            <a:ext cx="609600" cy="609600"/>
          </a:xfrm>
          <a:prstGeom xmlns:a="http://schemas.openxmlformats.org/drawingml/2006/main" prst="rect">
            <a:avLst/>
          </a:prstGeom>
        </p:spPr>
      </p:pic>
      <p:sp>
        <p:nvSpPr>
          <p:cNvPr id="15" name="">
            <a:extLst xmlns:a="http://schemas.openxmlformats.org/drawingml/2006/main">
              <a:ext uri="{FF2B5EF4-FFF2-40B4-BE49-F238E27FC236}">
                <a16:creationId xmlns:a16="http://schemas.microsoft.com/office/drawing/2014/main" id="{87AD8B0E-AEFF-4499-BA46-5E4507126F75}"/>
              </a:ext>
            </a:extLst>
          </p:cNvPr>
          <p:cNvSpPr>
            <a:spLocks xmlns:a="http://schemas.openxmlformats.org/drawingml/2006/main" noGrp="1"/>
          </p:cNvSpPr>
          <p:nvPr/>
        </p:nvSpPr>
        <p:spPr>
          <a:xfrm xmlns:a="http://schemas.openxmlformats.org/drawingml/2006/main">
            <a:off x="4610100" y="3543300"/>
            <a:ext cx="16002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Next.js</a:t>
            </a:r>
          </a:p>
        </p:txBody>
      </p:sp>
      <p:sp>
        <p:nvSpPr>
          <p:cNvPr id="16" name="">
            <a:extLst xmlns:a="http://schemas.openxmlformats.org/drawingml/2006/main">
              <a:ext uri="{FF2B5EF4-FFF2-40B4-BE49-F238E27FC236}">
                <a16:creationId xmlns:a16="http://schemas.microsoft.com/office/drawing/2014/main" id="{FA506D13-2B7F-46AB-B244-BDC08AC67CE6}"/>
              </a:ext>
            </a:extLst>
          </p:cNvPr>
          <p:cNvSpPr>
            <a:spLocks xmlns:a="http://schemas.openxmlformats.org/drawingml/2006/main" noGrp="1"/>
          </p:cNvSpPr>
          <p:nvPr/>
        </p:nvSpPr>
        <p:spPr>
          <a:xfrm xmlns:a="http://schemas.openxmlformats.org/drawingml/2006/main">
            <a:off x="3886200" y="4381500"/>
            <a:ext cx="23241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Forward requests</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Return text and audio</a:t>
            </a:r>
          </a:p>
        </p:txBody>
      </p:sp>
      <p:sp>
        <p:nvSpPr>
          <p:cNvPr id="17" name="">
            <a:extLst xmlns:a="http://schemas.openxmlformats.org/drawingml/2006/main">
              <a:ext uri="{FF2B5EF4-FFF2-40B4-BE49-F238E27FC236}">
                <a16:creationId xmlns:a16="http://schemas.microsoft.com/office/drawing/2014/main" id="{DBAC944C-70E4-4CD5-8B5A-504CE1A4E263}"/>
              </a:ext>
            </a:extLst>
          </p:cNvPr>
          <p:cNvSpPr>
            <a:spLocks xmlns:a="http://schemas.openxmlformats.org/drawingml/2006/main" noGrp="1"/>
          </p:cNvSpPr>
          <p:nvPr/>
        </p:nvSpPr>
        <p:spPr>
          <a:xfrm xmlns:a="http://schemas.openxmlformats.org/drawingml/2006/main">
            <a:off x="7191375" y="3333750"/>
            <a:ext cx="3714750" cy="2047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18" name="">
            <a:extLst xmlns:a="http://schemas.openxmlformats.org/drawingml/2006/main">
              <a:ext uri="{FF2B5EF4-FFF2-40B4-BE49-F238E27FC236}">
                <a16:creationId xmlns:a16="http://schemas.microsoft.com/office/drawing/2014/main" id="{85C2E523-6249-4394-8A22-AC8B8172D4A0}"/>
              </a:ext>
            </a:extLst>
          </p:cNvPr>
          <p:cNvSpPr>
            <a:spLocks xmlns:a="http://schemas.openxmlformats.org/drawingml/2006/main" noGrp="1"/>
          </p:cNvSpPr>
          <p:nvPr/>
        </p:nvSpPr>
        <p:spPr>
          <a:xfrm xmlns:a="http://schemas.openxmlformats.org/drawingml/2006/main">
            <a:off x="7381875" y="3524250"/>
            <a:ext cx="609600" cy="609600"/>
          </a:xfrm>
          <a:prstGeom xmlns:a="http://schemas.openxmlformats.org/drawingml/2006/main" prst="rect">
            <a:avLst/>
          </a:prstGeom>
          <a:solidFill xmlns:a="http://schemas.openxmlformats.org/drawingml/2006/main">
            <a:srgbClr val="00897B"/>
          </a:solidFill>
          <a:ln xmlns:a="http://schemas.openxmlformats.org/drawingml/2006/main" w="19050">
            <a:solidFill>
              <a:srgbClr val="00897B"/>
            </a:solidFill>
            <a:prstDash val="solid"/>
          </a:ln>
        </p:spPr>
      </p:sp>
      <p:pic>
        <p:nvPicPr>
          <p:cNvPr id="99" name=""/>
          <p:cNvPicPr>
            <a:picLocks xmlns:a="http://schemas.openxmlformats.org/drawingml/2006/main" noChangeAspect="1"/>
          </p:cNvPicPr>
          <p:nvPr/>
        </p:nvPicPr>
        <p:blipFill>
          <a:blip xmlns:r="http://schemas.openxmlformats.org/officeDocument/2006/relationships" xmlns:a="http://schemas.openxmlformats.org/drawingml/2006/main" r:embed="Ra1c7a97a0a7141ac"/>
          <a:stretch xmlns:a="http://schemas.openxmlformats.org/drawingml/2006/main"/>
        </p:blipFill>
        <p:spPr>
          <a:xfrm xmlns:a="http://schemas.openxmlformats.org/drawingml/2006/main">
            <a:off x="7381875" y="3524250"/>
            <a:ext cx="609600" cy="609600"/>
          </a:xfrm>
          <a:prstGeom xmlns:a="http://schemas.openxmlformats.org/drawingml/2006/main" prst="rect">
            <a:avLst/>
          </a:prstGeom>
        </p:spPr>
      </p:pic>
      <p:sp>
        <p:nvSpPr>
          <p:cNvPr id="20" name="">
            <a:extLst xmlns:a="http://schemas.openxmlformats.org/drawingml/2006/main">
              <a:ext uri="{FF2B5EF4-FFF2-40B4-BE49-F238E27FC236}">
                <a16:creationId xmlns:a16="http://schemas.microsoft.com/office/drawing/2014/main" id="{B864B877-D7A1-4427-B668-EE2F36A3DD72}"/>
              </a:ext>
            </a:extLst>
          </p:cNvPr>
          <p:cNvSpPr>
            <a:spLocks xmlns:a="http://schemas.openxmlformats.org/drawingml/2006/main" noGrp="1"/>
          </p:cNvSpPr>
          <p:nvPr/>
        </p:nvSpPr>
        <p:spPr>
          <a:xfrm xmlns:a="http://schemas.openxmlformats.org/drawingml/2006/main">
            <a:off x="8134350" y="3543300"/>
            <a:ext cx="25527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FastAPI</a:t>
            </a:r>
          </a:p>
        </p:txBody>
      </p:sp>
      <p:sp>
        <p:nvSpPr>
          <p:cNvPr id="21" name="">
            <a:extLst xmlns:a="http://schemas.openxmlformats.org/drawingml/2006/main">
              <a:ext uri="{FF2B5EF4-FFF2-40B4-BE49-F238E27FC236}">
                <a16:creationId xmlns:a16="http://schemas.microsoft.com/office/drawing/2014/main" id="{9AE45FD8-6B4D-49F8-93B9-D304E94CB009}"/>
              </a:ext>
            </a:extLst>
          </p:cNvPr>
          <p:cNvSpPr>
            <a:spLocks xmlns:a="http://schemas.openxmlformats.org/drawingml/2006/main" noGrp="1"/>
          </p:cNvSpPr>
          <p:nvPr/>
        </p:nvSpPr>
        <p:spPr>
          <a:xfrm xmlns:a="http://schemas.openxmlformats.org/drawingml/2006/main">
            <a:off x="7410450" y="4381500"/>
            <a:ext cx="32766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2. Authenticate + route</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6. Return text or audio</a:t>
            </a:r>
          </a:p>
        </p:txBody>
      </p:sp>
      <p:cxnSp>
        <p:nvCxnSpPr>
          <p:cNvPr id="102" name=""/>
          <p:cNvCxnSpPr>
            <a:stCxn xmlns:a="http://schemas.openxmlformats.org/drawingml/2006/main" id="9" idx="3"/>
            <a:endCxn xmlns:a="http://schemas.openxmlformats.org/drawingml/2006/main" id="13" idx="1"/>
          </p:cNvCxnSpPr>
          <p:nvPr/>
        </p:nvCxnSpPr>
        <p:spPr>
          <a:xfrm xmlns:a="http://schemas.openxmlformats.org/drawingml/2006/main">
            <a:off x="3190875" y="4357688"/>
            <a:ext cx="476250" cy="0"/>
          </a:xfrm>
          <a:prstGeom xmlns:a="http://schemas.openxmlformats.org/drawingml/2006/main" prst="straightConnector1">
            <a:avLst/>
          </a:prstGeom>
          <a:ln xmlns:a="http://schemas.openxmlformats.org/drawingml/2006/main" w="28575">
            <a:solidFill>
              <a:srgbClr val="C9502F"/>
            </a:solidFill>
            <a:prstDash val="solid"/>
            <a:headEnd type="triangle" w="med" len="med"/>
            <a:tailEnd type="triangle" w="med" len="med"/>
          </a:ln>
        </p:spPr>
      </p:cxnSp>
      <p:cxnSp>
        <p:nvCxnSpPr>
          <p:cNvPr id="103" name=""/>
          <p:cNvCxnSpPr>
            <a:stCxn xmlns:a="http://schemas.openxmlformats.org/drawingml/2006/main" id="13" idx="3"/>
            <a:endCxn xmlns:a="http://schemas.openxmlformats.org/drawingml/2006/main" id="17" idx="1"/>
          </p:cNvCxnSpPr>
          <p:nvPr/>
        </p:nvCxnSpPr>
        <p:spPr>
          <a:xfrm xmlns:a="http://schemas.openxmlformats.org/drawingml/2006/main">
            <a:off x="6429375" y="4357688"/>
            <a:ext cx="762000" cy="0"/>
          </a:xfrm>
          <a:prstGeom xmlns:a="http://schemas.openxmlformats.org/drawingml/2006/main" prst="straightConnector1">
            <a:avLst/>
          </a:prstGeom>
          <a:ln xmlns:a="http://schemas.openxmlformats.org/drawingml/2006/main" w="28575">
            <a:solidFill>
              <a:srgbClr val="C9502F"/>
            </a:solidFill>
            <a:prstDash val="solid"/>
            <a:headEnd type="triangle" w="med" len="med"/>
            <a:tailEnd type="triangle" w="med" len="med"/>
          </a:ln>
        </p:spPr>
      </p:cxnSp>
      <p:sp>
        <p:nvSpPr>
          <p:cNvPr id="24" name="">
            <a:extLst xmlns:a="http://schemas.openxmlformats.org/drawingml/2006/main">
              <a:ext uri="{FF2B5EF4-FFF2-40B4-BE49-F238E27FC236}">
                <a16:creationId xmlns:a16="http://schemas.microsoft.com/office/drawing/2014/main" id="{0D3A63CE-1ADC-4093-A37B-00A90587AEF0}"/>
              </a:ext>
            </a:extLst>
          </p:cNvPr>
          <p:cNvSpPr>
            <a:spLocks xmlns:a="http://schemas.openxmlformats.org/drawingml/2006/main" noGrp="1"/>
          </p:cNvSpPr>
          <p:nvPr/>
        </p:nvSpPr>
        <p:spPr>
          <a:xfrm xmlns:a="http://schemas.openxmlformats.org/drawingml/2006/main">
            <a:off x="7191375" y="5905500"/>
            <a:ext cx="3714750" cy="1285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25" name="">
            <a:extLst xmlns:a="http://schemas.openxmlformats.org/drawingml/2006/main">
              <a:ext uri="{FF2B5EF4-FFF2-40B4-BE49-F238E27FC236}">
                <a16:creationId xmlns:a16="http://schemas.microsoft.com/office/drawing/2014/main" id="{1818243F-81E6-4792-A683-3115A8C59044}"/>
              </a:ext>
            </a:extLst>
          </p:cNvPr>
          <p:cNvSpPr>
            <a:spLocks xmlns:a="http://schemas.openxmlformats.org/drawingml/2006/main" noGrp="1"/>
          </p:cNvSpPr>
          <p:nvPr/>
        </p:nvSpPr>
        <p:spPr>
          <a:xfrm xmlns:a="http://schemas.openxmlformats.org/drawingml/2006/main">
            <a:off x="7410450" y="6115050"/>
            <a:ext cx="327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4. Execute tools</a:t>
            </a:r>
          </a:p>
        </p:txBody>
      </p:sp>
      <p:sp>
        <p:nvSpPr>
          <p:cNvPr id="26" name="">
            <a:extLst xmlns:a="http://schemas.openxmlformats.org/drawingml/2006/main">
              <a:ext uri="{FF2B5EF4-FFF2-40B4-BE49-F238E27FC236}">
                <a16:creationId xmlns:a16="http://schemas.microsoft.com/office/drawing/2014/main" id="{012FC3E8-F0A2-4213-86BC-D84C0A2C7826}"/>
              </a:ext>
            </a:extLst>
          </p:cNvPr>
          <p:cNvSpPr>
            <a:spLocks xmlns:a="http://schemas.openxmlformats.org/drawingml/2006/main" noGrp="1"/>
          </p:cNvSpPr>
          <p:nvPr/>
        </p:nvSpPr>
        <p:spPr>
          <a:xfrm xmlns:a="http://schemas.openxmlformats.org/drawingml/2006/main">
            <a:off x="7410450" y="6581775"/>
            <a:ext cx="32766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RAG, orders and reservations</a:t>
            </a:r>
          </a:p>
        </p:txBody>
      </p:sp>
      <p:cxnSp>
        <p:nvCxnSpPr>
          <p:cNvPr id="107" name=""/>
          <p:cNvCxnSpPr>
            <a:stCxn xmlns:a="http://schemas.openxmlformats.org/drawingml/2006/main" id="17" idx="2"/>
            <a:endCxn xmlns:a="http://schemas.openxmlformats.org/drawingml/2006/main" id="24" idx="0"/>
          </p:cNvCxnSpPr>
          <p:nvPr/>
        </p:nvCxnSpPr>
        <p:spPr>
          <a:xfrm xmlns:a="http://schemas.openxmlformats.org/drawingml/2006/main">
            <a:off x="9048750" y="5381625"/>
            <a:ext cx="0" cy="523875"/>
          </a:xfrm>
          <a:prstGeom xmlns:a="http://schemas.openxmlformats.org/drawingml/2006/main" prst="straightConnector1">
            <a:avLst/>
          </a:prstGeom>
          <a:ln xmlns:a="http://schemas.openxmlformats.org/drawingml/2006/main" w="28575">
            <a:solidFill>
              <a:srgbClr val="C9502F"/>
            </a:solidFill>
            <a:prstDash val="solid"/>
            <a:headEnd type="triangle" w="med" len="med"/>
            <a:tailEnd type="triangle" w="med" len="med"/>
          </a:ln>
        </p:spPr>
      </p:cxnSp>
      <p:sp>
        <p:nvSpPr>
          <p:cNvPr id="28" name="">
            <a:extLst xmlns:a="http://schemas.openxmlformats.org/drawingml/2006/main">
              <a:ext uri="{FF2B5EF4-FFF2-40B4-BE49-F238E27FC236}">
                <a16:creationId xmlns:a16="http://schemas.microsoft.com/office/drawing/2014/main" id="{2FEFCE80-BC40-4AAD-B7D5-2C04A483F552}"/>
              </a:ext>
            </a:extLst>
          </p:cNvPr>
          <p:cNvSpPr>
            <a:spLocks xmlns:a="http://schemas.openxmlformats.org/drawingml/2006/main" noGrp="1"/>
          </p:cNvSpPr>
          <p:nvPr/>
        </p:nvSpPr>
        <p:spPr>
          <a:xfrm xmlns:a="http://schemas.openxmlformats.org/drawingml/2006/main">
            <a:off x="3667125" y="5905500"/>
            <a:ext cx="2762250" cy="128587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09" name=""/>
          <p:cNvPicPr>
            <a:picLocks xmlns:a="http://schemas.openxmlformats.org/drawingml/2006/main" noChangeAspect="1"/>
          </p:cNvPicPr>
          <p:nvPr/>
        </p:nvPicPr>
        <p:blipFill>
          <a:blip xmlns:r="http://schemas.openxmlformats.org/officeDocument/2006/relationships" xmlns:a="http://schemas.openxmlformats.org/drawingml/2006/main" r:embed="Re847a49a4bf3486b"/>
          <a:stretch xmlns:a="http://schemas.openxmlformats.org/drawingml/2006/main"/>
        </p:blipFill>
        <p:spPr>
          <a:xfrm xmlns:a="http://schemas.openxmlformats.org/drawingml/2006/main">
            <a:off x="3857625" y="6097824"/>
            <a:ext cx="1562100" cy="415452"/>
          </a:xfrm>
          <a:prstGeom xmlns:a="http://schemas.openxmlformats.org/drawingml/2006/main" prst="rect">
            <a:avLst/>
          </a:prstGeom>
        </p:spPr>
      </p:pic>
      <p:pic>
        <p:nvPicPr>
          <p:cNvPr id="110" name=""/>
          <p:cNvPicPr>
            <a:picLocks xmlns:a="http://schemas.openxmlformats.org/drawingml/2006/main" noChangeAspect="1"/>
          </p:cNvPicPr>
          <p:nvPr/>
        </p:nvPicPr>
        <p:blipFill>
          <a:blip xmlns:r="http://schemas.openxmlformats.org/officeDocument/2006/relationships" xmlns:a="http://schemas.openxmlformats.org/drawingml/2006/main" r:embed="R7691db4c0de84170"/>
          <a:stretch xmlns:a="http://schemas.openxmlformats.org/drawingml/2006/main"/>
        </p:blipFill>
        <p:spPr>
          <a:xfrm xmlns:a="http://schemas.openxmlformats.org/drawingml/2006/main">
            <a:off x="5629275" y="6082329"/>
            <a:ext cx="590550" cy="465492"/>
          </a:xfrm>
          <a:prstGeom xmlns:a="http://schemas.openxmlformats.org/drawingml/2006/main" prst="rect">
            <a:avLst/>
          </a:prstGeom>
        </p:spPr>
      </p:pic>
      <p:sp>
        <p:nvSpPr>
          <p:cNvPr id="31" name="">
            <a:extLst xmlns:a="http://schemas.openxmlformats.org/drawingml/2006/main">
              <a:ext uri="{FF2B5EF4-FFF2-40B4-BE49-F238E27FC236}">
                <a16:creationId xmlns:a16="http://schemas.microsoft.com/office/drawing/2014/main" id="{0927C68E-7F69-493B-9C1D-102B159DD952}"/>
              </a:ext>
            </a:extLst>
          </p:cNvPr>
          <p:cNvSpPr>
            <a:spLocks xmlns:a="http://schemas.openxmlformats.org/drawingml/2006/main" noGrp="1"/>
          </p:cNvSpPr>
          <p:nvPr/>
        </p:nvSpPr>
        <p:spPr>
          <a:xfrm xmlns:a="http://schemas.openxmlformats.org/drawingml/2006/main">
            <a:off x="3886200" y="6686550"/>
            <a:ext cx="2324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34231D"/>
                </a:solidFill>
                <a:latin typeface="Arial"/>
                <a:ea typeface="Arial"/>
                <a:cs typeface="Arial"/>
              </a:defRPr>
            </a:pPr>
            <a:r>
              <a:rPr sz="1800" b="1">
                <a:solidFill>
                  <a:srgbClr val="34231D"/>
                </a:solidFill>
                <a:latin typeface="Arial"/>
                <a:ea typeface="Arial"/>
                <a:cs typeface="Arial"/>
              </a:rPr>
              <a:t>Qdrant in Docker</a:t>
            </a:r>
          </a:p>
        </p:txBody>
      </p:sp>
      <p:cxnSp>
        <p:nvCxnSpPr>
          <p:cNvPr id="112" name=""/>
          <p:cNvCxnSpPr>
            <a:stCxn xmlns:a="http://schemas.openxmlformats.org/drawingml/2006/main" id="24" idx="1"/>
            <a:endCxn xmlns:a="http://schemas.openxmlformats.org/drawingml/2006/main" id="28" idx="3"/>
          </p:cNvCxnSpPr>
          <p:nvPr/>
        </p:nvCxnSpPr>
        <p:spPr>
          <a:xfrm xmlns:a="http://schemas.openxmlformats.org/drawingml/2006/main" flipH="1">
            <a:off x="6429375" y="6548438"/>
            <a:ext cx="762000" cy="0"/>
          </a:xfrm>
          <a:prstGeom xmlns:a="http://schemas.openxmlformats.org/drawingml/2006/main" prst="straightConnector1">
            <a:avLst/>
          </a:prstGeom>
          <a:ln xmlns:a="http://schemas.openxmlformats.org/drawingml/2006/main" w="28575">
            <a:solidFill>
              <a:srgbClr val="00897B"/>
            </a:solidFill>
            <a:prstDash val="solid"/>
            <a:headEnd type="triangle" w="med" len="med"/>
            <a:tailEnd type="triangle" w="med" len="med"/>
          </a:ln>
        </p:spPr>
      </p:cxnSp>
      <p:sp>
        <p:nvSpPr>
          <p:cNvPr id="33" name="">
            <a:extLst xmlns:a="http://schemas.openxmlformats.org/drawingml/2006/main">
              <a:ext uri="{FF2B5EF4-FFF2-40B4-BE49-F238E27FC236}">
                <a16:creationId xmlns:a16="http://schemas.microsoft.com/office/drawing/2014/main" id="{73ACCC27-2D6D-4075-9AEA-676825E81E73}"/>
              </a:ext>
            </a:extLst>
          </p:cNvPr>
          <p:cNvSpPr>
            <a:spLocks xmlns:a="http://schemas.openxmlformats.org/drawingml/2006/main" noGrp="1"/>
          </p:cNvSpPr>
          <p:nvPr/>
        </p:nvSpPr>
        <p:spPr>
          <a:xfrm xmlns:a="http://schemas.openxmlformats.org/drawingml/2006/main">
            <a:off x="7191375" y="7620000"/>
            <a:ext cx="3714750" cy="1238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sp>
        <p:nvSpPr>
          <p:cNvPr id="34" name="">
            <a:extLst xmlns:a="http://schemas.openxmlformats.org/drawingml/2006/main">
              <a:ext uri="{FF2B5EF4-FFF2-40B4-BE49-F238E27FC236}">
                <a16:creationId xmlns:a16="http://schemas.microsoft.com/office/drawing/2014/main" id="{73A5222C-DE55-4013-9A1F-933B4528E2D1}"/>
              </a:ext>
            </a:extLst>
          </p:cNvPr>
          <p:cNvSpPr>
            <a:spLocks xmlns:a="http://schemas.openxmlformats.org/drawingml/2006/main" noGrp="1"/>
          </p:cNvSpPr>
          <p:nvPr/>
        </p:nvSpPr>
        <p:spPr>
          <a:xfrm xmlns:a="http://schemas.openxmlformats.org/drawingml/2006/main">
            <a:off x="7410450" y="7829550"/>
            <a:ext cx="32766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Repositories</a:t>
            </a:r>
          </a:p>
        </p:txBody>
      </p:sp>
      <p:sp>
        <p:nvSpPr>
          <p:cNvPr id="35" name="">
            <a:extLst xmlns:a="http://schemas.openxmlformats.org/drawingml/2006/main">
              <a:ext uri="{FF2B5EF4-FFF2-40B4-BE49-F238E27FC236}">
                <a16:creationId xmlns:a16="http://schemas.microsoft.com/office/drawing/2014/main" id="{FFFDF18D-DD03-46C3-99B5-EA0FCB5F4DFF}"/>
              </a:ext>
            </a:extLst>
          </p:cNvPr>
          <p:cNvSpPr>
            <a:spLocks xmlns:a="http://schemas.openxmlformats.org/drawingml/2006/main" noGrp="1"/>
          </p:cNvSpPr>
          <p:nvPr/>
        </p:nvSpPr>
        <p:spPr>
          <a:xfrm xmlns:a="http://schemas.openxmlformats.org/drawingml/2006/main">
            <a:off x="7410450" y="8296275"/>
            <a:ext cx="32766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5. Read / save records</a:t>
            </a:r>
          </a:p>
        </p:txBody>
      </p:sp>
      <p:cxnSp>
        <p:nvCxnSpPr>
          <p:cNvPr id="116" name=""/>
          <p:cNvCxnSpPr>
            <a:stCxn xmlns:a="http://schemas.openxmlformats.org/drawingml/2006/main" id="24" idx="2"/>
            <a:endCxn xmlns:a="http://schemas.openxmlformats.org/drawingml/2006/main" id="33" idx="0"/>
          </p:cNvCxnSpPr>
          <p:nvPr/>
        </p:nvCxnSpPr>
        <p:spPr>
          <a:xfrm xmlns:a="http://schemas.openxmlformats.org/drawingml/2006/main">
            <a:off x="9048750" y="7191375"/>
            <a:ext cx="0" cy="428625"/>
          </a:xfrm>
          <a:prstGeom xmlns:a="http://schemas.openxmlformats.org/drawingml/2006/main" prst="straightConnector1">
            <a:avLst/>
          </a:prstGeom>
          <a:ln xmlns:a="http://schemas.openxmlformats.org/drawingml/2006/main" w="28575">
            <a:solidFill>
              <a:srgbClr val="C9502F"/>
            </a:solidFill>
            <a:prstDash val="solid"/>
            <a:headEnd type="triangle" w="med" len="med"/>
            <a:tailEnd type="triangle" w="med" len="med"/>
          </a:ln>
        </p:spPr>
      </p:cxnSp>
      <p:sp>
        <p:nvSpPr>
          <p:cNvPr id="37" name="">
            <a:extLst xmlns:a="http://schemas.openxmlformats.org/drawingml/2006/main">
              <a:ext uri="{FF2B5EF4-FFF2-40B4-BE49-F238E27FC236}">
                <a16:creationId xmlns:a16="http://schemas.microsoft.com/office/drawing/2014/main" id="{341F3FCA-9261-4BA9-B991-FE0C0F3D22B9}"/>
              </a:ext>
            </a:extLst>
          </p:cNvPr>
          <p:cNvSpPr>
            <a:spLocks xmlns:a="http://schemas.openxmlformats.org/drawingml/2006/main" noGrp="1"/>
          </p:cNvSpPr>
          <p:nvPr/>
        </p:nvSpPr>
        <p:spPr>
          <a:xfrm xmlns:a="http://schemas.openxmlformats.org/drawingml/2006/main">
            <a:off x="3667125" y="7620000"/>
            <a:ext cx="2762250" cy="12382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2ce5009ca6fc4bd9"/>
          <a:stretch xmlns:a="http://schemas.openxmlformats.org/drawingml/2006/main"/>
        </p:blipFill>
        <p:spPr>
          <a:xfrm xmlns:a="http://schemas.openxmlformats.org/drawingml/2006/main">
            <a:off x="4147902" y="7743825"/>
            <a:ext cx="1286347" cy="590550"/>
          </a:xfrm>
          <a:prstGeom xmlns:a="http://schemas.openxmlformats.org/drawingml/2006/main" prst="rect">
            <a:avLst/>
          </a:prstGeom>
        </p:spPr>
      </p:pic>
      <p:sp>
        <p:nvSpPr>
          <p:cNvPr id="39" name="">
            <a:extLst xmlns:a="http://schemas.openxmlformats.org/drawingml/2006/main">
              <a:ext uri="{FF2B5EF4-FFF2-40B4-BE49-F238E27FC236}">
                <a16:creationId xmlns:a16="http://schemas.microsoft.com/office/drawing/2014/main" id="{65FE77A4-9672-4D59-83FD-8031BE5B5BB2}"/>
              </a:ext>
            </a:extLst>
          </p:cNvPr>
          <p:cNvSpPr>
            <a:spLocks xmlns:a="http://schemas.openxmlformats.org/drawingml/2006/main" noGrp="1"/>
          </p:cNvSpPr>
          <p:nvPr/>
        </p:nvSpPr>
        <p:spPr>
          <a:xfrm xmlns:a="http://schemas.openxmlformats.org/drawingml/2006/main">
            <a:off x="3886200" y="8401050"/>
            <a:ext cx="23241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88766B"/>
                </a:solidFill>
                <a:latin typeface="Arial"/>
                <a:ea typeface="Arial"/>
                <a:cs typeface="Arial"/>
              </a:defRPr>
            </a:pPr>
            <a:r>
              <a:rPr sz="1650" b="0">
                <a:solidFill>
                  <a:srgbClr val="88766B"/>
                </a:solidFill>
                <a:latin typeface="Arial"/>
                <a:ea typeface="Arial"/>
                <a:cs typeface="Arial"/>
              </a:rPr>
              <a:t>Operational records</a:t>
            </a:r>
          </a:p>
        </p:txBody>
      </p:sp>
      <p:cxnSp>
        <p:nvCxnSpPr>
          <p:cNvPr id="120" name=""/>
          <p:cNvCxnSpPr>
            <a:stCxn xmlns:a="http://schemas.openxmlformats.org/drawingml/2006/main" id="33" idx="1"/>
            <a:endCxn xmlns:a="http://schemas.openxmlformats.org/drawingml/2006/main" id="37" idx="3"/>
          </p:cNvCxnSpPr>
          <p:nvPr/>
        </p:nvCxnSpPr>
        <p:spPr>
          <a:xfrm xmlns:a="http://schemas.openxmlformats.org/drawingml/2006/main" flipH="1">
            <a:off x="6429375" y="8239125"/>
            <a:ext cx="762000" cy="0"/>
          </a:xfrm>
          <a:prstGeom xmlns:a="http://schemas.openxmlformats.org/drawingml/2006/main" prst="straightConnector1">
            <a:avLst/>
          </a:prstGeom>
          <a:ln xmlns:a="http://schemas.openxmlformats.org/drawingml/2006/main" w="28575">
            <a:solidFill>
              <a:srgbClr val="C9502F"/>
            </a:solidFill>
            <a:prstDash val="solid"/>
            <a:headEnd type="triangle" w="med" len="med"/>
            <a:tailEnd type="triangle" w="med" len="med"/>
          </a:ln>
        </p:spPr>
      </p:cxnSp>
      <p:sp>
        <p:nvSpPr>
          <p:cNvPr id="41" name="">
            <a:extLst xmlns:a="http://schemas.openxmlformats.org/drawingml/2006/main">
              <a:ext uri="{FF2B5EF4-FFF2-40B4-BE49-F238E27FC236}">
                <a16:creationId xmlns:a16="http://schemas.microsoft.com/office/drawing/2014/main" id="{A5170C1D-8E9B-4CF0-9E8B-C743AB37F35C}"/>
              </a:ext>
            </a:extLst>
          </p:cNvPr>
          <p:cNvSpPr>
            <a:spLocks xmlns:a="http://schemas.openxmlformats.org/drawingml/2006/main" noGrp="1"/>
          </p:cNvSpPr>
          <p:nvPr/>
        </p:nvSpPr>
        <p:spPr>
          <a:xfrm xmlns:a="http://schemas.openxmlformats.org/drawingml/2006/main">
            <a:off x="571500" y="5905500"/>
            <a:ext cx="2619375" cy="1809750"/>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22" name=""/>
          <p:cNvPicPr>
            <a:picLocks xmlns:a="http://schemas.openxmlformats.org/drawingml/2006/main" noChangeAspect="1"/>
          </p:cNvPicPr>
          <p:nvPr/>
        </p:nvPicPr>
        <p:blipFill>
          <a:blip xmlns:r="http://schemas.openxmlformats.org/officeDocument/2006/relationships" xmlns:a="http://schemas.openxmlformats.org/drawingml/2006/main" r:embed="Rcac856c6c0774423"/>
          <a:stretch xmlns:a="http://schemas.openxmlformats.org/drawingml/2006/main"/>
        </p:blipFill>
        <p:spPr>
          <a:xfrm xmlns:a="http://schemas.openxmlformats.org/drawingml/2006/main">
            <a:off x="762000" y="6096000"/>
            <a:ext cx="609600" cy="609600"/>
          </a:xfrm>
          <a:prstGeom xmlns:a="http://schemas.openxmlformats.org/drawingml/2006/main" prst="rect">
            <a:avLst/>
          </a:prstGeom>
        </p:spPr>
      </p:pic>
      <p:sp>
        <p:nvSpPr>
          <p:cNvPr id="43" name="">
            <a:extLst xmlns:a="http://schemas.openxmlformats.org/drawingml/2006/main">
              <a:ext uri="{FF2B5EF4-FFF2-40B4-BE49-F238E27FC236}">
                <a16:creationId xmlns:a16="http://schemas.microsoft.com/office/drawing/2014/main" id="{21D21A0F-9226-4E96-9AC8-57664ED86C70}"/>
              </a:ext>
            </a:extLst>
          </p:cNvPr>
          <p:cNvSpPr>
            <a:spLocks xmlns:a="http://schemas.openxmlformats.org/drawingml/2006/main" noGrp="1"/>
          </p:cNvSpPr>
          <p:nvPr/>
        </p:nvSpPr>
        <p:spPr>
          <a:xfrm xmlns:a="http://schemas.openxmlformats.org/drawingml/2006/main">
            <a:off x="1514475" y="6115050"/>
            <a:ext cx="14573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34231D"/>
                </a:solidFill>
                <a:latin typeface="Arial"/>
                <a:ea typeface="Arial"/>
                <a:cs typeface="Arial"/>
              </a:defRPr>
            </a:pPr>
            <a:r>
              <a:rPr sz="2250" b="1">
                <a:solidFill>
                  <a:srgbClr val="34231D"/>
                </a:solidFill>
                <a:latin typeface="Arial"/>
                <a:ea typeface="Arial"/>
                <a:cs typeface="Arial"/>
              </a:rPr>
              <a:t>Chime SDK</a:t>
            </a:r>
          </a:p>
        </p:txBody>
      </p:sp>
      <p:sp>
        <p:nvSpPr>
          <p:cNvPr id="44" name="">
            <a:extLst xmlns:a="http://schemas.openxmlformats.org/drawingml/2006/main">
              <a:ext uri="{FF2B5EF4-FFF2-40B4-BE49-F238E27FC236}">
                <a16:creationId xmlns:a16="http://schemas.microsoft.com/office/drawing/2014/main" id="{33086C98-E8FF-473F-9A94-B0DA0D8DE3BA}"/>
              </a:ext>
            </a:extLst>
          </p:cNvPr>
          <p:cNvSpPr>
            <a:spLocks xmlns:a="http://schemas.openxmlformats.org/drawingml/2006/main" noGrp="1"/>
          </p:cNvSpPr>
          <p:nvPr/>
        </p:nvSpPr>
        <p:spPr>
          <a:xfrm xmlns:a="http://schemas.openxmlformats.org/drawingml/2006/main">
            <a:off x="790575" y="6953250"/>
            <a:ext cx="21812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Meeting media</a:t>
            </a:r>
          </a:p>
          <a:p xmlns:a="http://schemas.openxmlformats.org/drawingml/2006/main">
            <a:pPr>
              <a:defRPr sz="1875" b="0">
                <a:solidFill>
                  <a:srgbClr val="88766B"/>
                </a:solidFill>
                <a:latin typeface="Arial"/>
                <a:ea typeface="Arial"/>
                <a:cs typeface="Arial"/>
              </a:defRPr>
            </a:pPr>
            <a:r>
              <a:rPr sz="1875" b="0">
                <a:solidFill>
                  <a:srgbClr val="88766B"/>
                </a:solidFill>
                <a:latin typeface="Arial"/>
                <a:ea typeface="Arial"/>
                <a:cs typeface="Arial"/>
              </a:rPr>
              <a:t>API session setup</a:t>
            </a:r>
          </a:p>
        </p:txBody>
      </p:sp>
      <p:cxnSp>
        <p:nvCxnSpPr>
          <p:cNvPr id="125" name=""/>
          <p:cNvCxnSpPr>
            <a:stCxn xmlns:a="http://schemas.openxmlformats.org/drawingml/2006/main" id="9" idx="2"/>
            <a:endCxn xmlns:a="http://schemas.openxmlformats.org/drawingml/2006/main" id="41" idx="0"/>
          </p:cNvCxnSpPr>
          <p:nvPr/>
        </p:nvCxnSpPr>
        <p:spPr>
          <a:xfrm xmlns:a="http://schemas.openxmlformats.org/drawingml/2006/main">
            <a:off x="1881188" y="5381625"/>
            <a:ext cx="0" cy="523875"/>
          </a:xfrm>
          <a:prstGeom xmlns:a="http://schemas.openxmlformats.org/drawingml/2006/main" prst="straightConnector1">
            <a:avLst/>
          </a:prstGeom>
          <a:ln xmlns:a="http://schemas.openxmlformats.org/drawingml/2006/main" w="28575">
            <a:solidFill>
              <a:srgbClr val="C9502F"/>
            </a:solidFill>
            <a:prstDash val="solid"/>
            <a:headEnd type="triangle" w="med" len="med"/>
            <a:tailEnd type="triangle" w="med" len="med"/>
          </a:ln>
        </p:spPr>
      </p:cxnSp>
      <p:sp>
        <p:nvSpPr>
          <p:cNvPr id="46" name="">
            <a:extLst xmlns:a="http://schemas.openxmlformats.org/drawingml/2006/main">
              <a:ext uri="{FF2B5EF4-FFF2-40B4-BE49-F238E27FC236}">
                <a16:creationId xmlns:a16="http://schemas.microsoft.com/office/drawing/2014/main" id="{73AEB25F-7B7F-46B0-A049-45031F1E23F1}"/>
              </a:ext>
            </a:extLst>
          </p:cNvPr>
          <p:cNvSpPr>
            <a:spLocks xmlns:a="http://schemas.openxmlformats.org/drawingml/2006/main" noGrp="1"/>
          </p:cNvSpPr>
          <p:nvPr/>
        </p:nvSpPr>
        <p:spPr>
          <a:xfrm xmlns:a="http://schemas.openxmlformats.org/drawingml/2006/main">
            <a:off x="12573000" y="328612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27" name=""/>
          <p:cNvPicPr>
            <a:picLocks xmlns:a="http://schemas.openxmlformats.org/drawingml/2006/main" noChangeAspect="1"/>
          </p:cNvPicPr>
          <p:nvPr/>
        </p:nvPicPr>
        <p:blipFill>
          <a:blip xmlns:r="http://schemas.openxmlformats.org/officeDocument/2006/relationships" xmlns:a="http://schemas.openxmlformats.org/drawingml/2006/main" r:embed="R35c2765afa4a45eb"/>
          <a:stretch xmlns:a="http://schemas.openxmlformats.org/drawingml/2006/main"/>
        </p:blipFill>
        <p:spPr>
          <a:xfrm xmlns:a="http://schemas.openxmlformats.org/drawingml/2006/main">
            <a:off x="12763500" y="3476625"/>
            <a:ext cx="552450" cy="552450"/>
          </a:xfrm>
          <a:prstGeom xmlns:a="http://schemas.openxmlformats.org/drawingml/2006/main" prst="rect">
            <a:avLst/>
          </a:prstGeom>
        </p:spPr>
      </p:pic>
      <p:sp>
        <p:nvSpPr>
          <p:cNvPr id="48" name="">
            <a:extLst xmlns:a="http://schemas.openxmlformats.org/drawingml/2006/main">
              <a:ext uri="{FF2B5EF4-FFF2-40B4-BE49-F238E27FC236}">
                <a16:creationId xmlns:a16="http://schemas.microsoft.com/office/drawing/2014/main" id="{5E1E71D2-D857-4A05-A175-F3FB0CF8F3E6}"/>
              </a:ext>
            </a:extLst>
          </p:cNvPr>
          <p:cNvSpPr>
            <a:spLocks xmlns:a="http://schemas.openxmlformats.org/drawingml/2006/main" noGrp="1"/>
          </p:cNvSpPr>
          <p:nvPr/>
        </p:nvSpPr>
        <p:spPr>
          <a:xfrm xmlns:a="http://schemas.openxmlformats.org/drawingml/2006/main">
            <a:off x="13515975" y="349567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Bedrock</a:t>
            </a:r>
          </a:p>
        </p:txBody>
      </p:sp>
      <p:sp>
        <p:nvSpPr>
          <p:cNvPr id="49" name="">
            <a:extLst xmlns:a="http://schemas.openxmlformats.org/drawingml/2006/main">
              <a:ext uri="{FF2B5EF4-FFF2-40B4-BE49-F238E27FC236}">
                <a16:creationId xmlns:a16="http://schemas.microsoft.com/office/drawing/2014/main" id="{5523E884-1911-4A32-A858-6E37B7CDEA31}"/>
              </a:ext>
            </a:extLst>
          </p:cNvPr>
          <p:cNvSpPr>
            <a:spLocks xmlns:a="http://schemas.openxmlformats.org/drawingml/2006/main" noGrp="1"/>
          </p:cNvSpPr>
          <p:nvPr/>
        </p:nvSpPr>
        <p:spPr>
          <a:xfrm xmlns:a="http://schemas.openxmlformats.org/drawingml/2006/main">
            <a:off x="12573000" y="4419600"/>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0" name=""/>
          <p:cNvPicPr>
            <a:picLocks xmlns:a="http://schemas.openxmlformats.org/drawingml/2006/main" noChangeAspect="1"/>
          </p:cNvPicPr>
          <p:nvPr/>
        </p:nvPicPr>
        <p:blipFill>
          <a:blip xmlns:r="http://schemas.openxmlformats.org/officeDocument/2006/relationships" xmlns:a="http://schemas.openxmlformats.org/drawingml/2006/main" r:embed="R2f7621f3ce25465a"/>
          <a:stretch xmlns:a="http://schemas.openxmlformats.org/drawingml/2006/main"/>
        </p:blipFill>
        <p:spPr>
          <a:xfrm xmlns:a="http://schemas.openxmlformats.org/drawingml/2006/main">
            <a:off x="12763500" y="4610100"/>
            <a:ext cx="552450" cy="552450"/>
          </a:xfrm>
          <a:prstGeom xmlns:a="http://schemas.openxmlformats.org/drawingml/2006/main" prst="rect">
            <a:avLst/>
          </a:prstGeom>
        </p:spPr>
      </p:pic>
      <p:sp>
        <p:nvSpPr>
          <p:cNvPr id="51" name="">
            <a:extLst xmlns:a="http://schemas.openxmlformats.org/drawingml/2006/main">
              <a:ext uri="{FF2B5EF4-FFF2-40B4-BE49-F238E27FC236}">
                <a16:creationId xmlns:a16="http://schemas.microsoft.com/office/drawing/2014/main" id="{EAEA21FA-D165-4A6F-87C9-ADBD97DA36B9}"/>
              </a:ext>
            </a:extLst>
          </p:cNvPr>
          <p:cNvSpPr>
            <a:spLocks xmlns:a="http://schemas.openxmlformats.org/drawingml/2006/main" noGrp="1"/>
          </p:cNvSpPr>
          <p:nvPr/>
        </p:nvSpPr>
        <p:spPr>
          <a:xfrm xmlns:a="http://schemas.openxmlformats.org/drawingml/2006/main">
            <a:off x="13515975" y="4629150"/>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S3</a:t>
            </a:r>
          </a:p>
        </p:txBody>
      </p:sp>
      <p:sp>
        <p:nvSpPr>
          <p:cNvPr id="52" name="">
            <a:extLst xmlns:a="http://schemas.openxmlformats.org/drawingml/2006/main">
              <a:ext uri="{FF2B5EF4-FFF2-40B4-BE49-F238E27FC236}">
                <a16:creationId xmlns:a16="http://schemas.microsoft.com/office/drawing/2014/main" id="{B3AFF491-F90A-4FBE-B21C-03FB8809FA4F}"/>
              </a:ext>
            </a:extLst>
          </p:cNvPr>
          <p:cNvSpPr>
            <a:spLocks xmlns:a="http://schemas.openxmlformats.org/drawingml/2006/main" noGrp="1"/>
          </p:cNvSpPr>
          <p:nvPr/>
        </p:nvSpPr>
        <p:spPr>
          <a:xfrm xmlns:a="http://schemas.openxmlformats.org/drawingml/2006/main">
            <a:off x="12573000" y="555307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3" name=""/>
          <p:cNvPicPr>
            <a:picLocks xmlns:a="http://schemas.openxmlformats.org/drawingml/2006/main" noChangeAspect="1"/>
          </p:cNvPicPr>
          <p:nvPr/>
        </p:nvPicPr>
        <p:blipFill>
          <a:blip xmlns:r="http://schemas.openxmlformats.org/officeDocument/2006/relationships" xmlns:a="http://schemas.openxmlformats.org/drawingml/2006/main" r:embed="R3726508abf374da4"/>
          <a:stretch xmlns:a="http://schemas.openxmlformats.org/drawingml/2006/main"/>
        </p:blipFill>
        <p:spPr>
          <a:xfrm xmlns:a="http://schemas.openxmlformats.org/drawingml/2006/main">
            <a:off x="12763500" y="5743575"/>
            <a:ext cx="552450" cy="552450"/>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295510B5-D2DB-4905-AA7D-38F04AB05A1F}"/>
              </a:ext>
            </a:extLst>
          </p:cNvPr>
          <p:cNvSpPr>
            <a:spLocks xmlns:a="http://schemas.openxmlformats.org/drawingml/2006/main" noGrp="1"/>
          </p:cNvSpPr>
          <p:nvPr/>
        </p:nvSpPr>
        <p:spPr>
          <a:xfrm xmlns:a="http://schemas.openxmlformats.org/drawingml/2006/main">
            <a:off x="13515975" y="576262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Textract</a:t>
            </a:r>
          </a:p>
        </p:txBody>
      </p:sp>
      <p:sp>
        <p:nvSpPr>
          <p:cNvPr id="55" name="">
            <a:extLst xmlns:a="http://schemas.openxmlformats.org/drawingml/2006/main">
              <a:ext uri="{FF2B5EF4-FFF2-40B4-BE49-F238E27FC236}">
                <a16:creationId xmlns:a16="http://schemas.microsoft.com/office/drawing/2014/main" id="{71024795-80D7-4A90-8F7C-2E4E7A448DBC}"/>
              </a:ext>
            </a:extLst>
          </p:cNvPr>
          <p:cNvSpPr>
            <a:spLocks xmlns:a="http://schemas.openxmlformats.org/drawingml/2006/main" noGrp="1"/>
          </p:cNvSpPr>
          <p:nvPr/>
        </p:nvSpPr>
        <p:spPr>
          <a:xfrm xmlns:a="http://schemas.openxmlformats.org/drawingml/2006/main">
            <a:off x="12573000" y="6686550"/>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6" name=""/>
          <p:cNvPicPr>
            <a:picLocks xmlns:a="http://schemas.openxmlformats.org/drawingml/2006/main" noChangeAspect="1"/>
          </p:cNvPicPr>
          <p:nvPr/>
        </p:nvPicPr>
        <p:blipFill>
          <a:blip xmlns:r="http://schemas.openxmlformats.org/officeDocument/2006/relationships" xmlns:a="http://schemas.openxmlformats.org/drawingml/2006/main" r:embed="R4da02cb1b320404a"/>
          <a:stretch xmlns:a="http://schemas.openxmlformats.org/drawingml/2006/main"/>
        </p:blipFill>
        <p:spPr>
          <a:xfrm xmlns:a="http://schemas.openxmlformats.org/drawingml/2006/main">
            <a:off x="12763500" y="6877050"/>
            <a:ext cx="552450" cy="552450"/>
          </a:xfrm>
          <a:prstGeom xmlns:a="http://schemas.openxmlformats.org/drawingml/2006/main" prst="rect">
            <a:avLst/>
          </a:prstGeom>
        </p:spPr>
      </p:pic>
      <p:sp>
        <p:nvSpPr>
          <p:cNvPr id="57" name="">
            <a:extLst xmlns:a="http://schemas.openxmlformats.org/drawingml/2006/main">
              <a:ext uri="{FF2B5EF4-FFF2-40B4-BE49-F238E27FC236}">
                <a16:creationId xmlns:a16="http://schemas.microsoft.com/office/drawing/2014/main" id="{CFCC41FD-0257-4FD2-BCD6-DA91C518CCE7}"/>
              </a:ext>
            </a:extLst>
          </p:cNvPr>
          <p:cNvSpPr>
            <a:spLocks xmlns:a="http://schemas.openxmlformats.org/drawingml/2006/main" noGrp="1"/>
          </p:cNvSpPr>
          <p:nvPr/>
        </p:nvSpPr>
        <p:spPr>
          <a:xfrm xmlns:a="http://schemas.openxmlformats.org/drawingml/2006/main">
            <a:off x="13515975" y="6896100"/>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Transcribe</a:t>
            </a:r>
          </a:p>
        </p:txBody>
      </p:sp>
      <p:sp>
        <p:nvSpPr>
          <p:cNvPr id="58" name="">
            <a:extLst xmlns:a="http://schemas.openxmlformats.org/drawingml/2006/main">
              <a:ext uri="{FF2B5EF4-FFF2-40B4-BE49-F238E27FC236}">
                <a16:creationId xmlns:a16="http://schemas.microsoft.com/office/drawing/2014/main" id="{59B55BC4-8641-4EE6-8AB0-B6C1BFF8F1D1}"/>
              </a:ext>
            </a:extLst>
          </p:cNvPr>
          <p:cNvSpPr>
            <a:spLocks xmlns:a="http://schemas.openxmlformats.org/drawingml/2006/main" noGrp="1"/>
          </p:cNvSpPr>
          <p:nvPr/>
        </p:nvSpPr>
        <p:spPr>
          <a:xfrm xmlns:a="http://schemas.openxmlformats.org/drawingml/2006/main">
            <a:off x="12573000" y="7820025"/>
            <a:ext cx="5143500" cy="1000125"/>
          </a:xfrm>
          <a:prstGeom xmlns:a="http://schemas.openxmlformats.org/drawingml/2006/main" prst="rect">
            <a:avLst/>
          </a:prstGeom>
          <a:solidFill xmlns:a="http://schemas.openxmlformats.org/drawingml/2006/main">
            <a:srgbClr val="FFFDF8"/>
          </a:solidFill>
          <a:ln xmlns:a="http://schemas.openxmlformats.org/drawingml/2006/main" w="19050">
            <a:solidFill>
              <a:srgbClr val="EAD7C0"/>
            </a:solidFill>
            <a:prstDash val="solid"/>
          </a:ln>
        </p:spPr>
      </p:sp>
      <p:pic>
        <p:nvPicPr>
          <p:cNvPr id="139" name=""/>
          <p:cNvPicPr>
            <a:picLocks xmlns:a="http://schemas.openxmlformats.org/drawingml/2006/main" noChangeAspect="1"/>
          </p:cNvPicPr>
          <p:nvPr/>
        </p:nvPicPr>
        <p:blipFill>
          <a:blip xmlns:r="http://schemas.openxmlformats.org/officeDocument/2006/relationships" xmlns:a="http://schemas.openxmlformats.org/drawingml/2006/main" r:embed="Rb98da08d11d64caa"/>
          <a:stretch xmlns:a="http://schemas.openxmlformats.org/drawingml/2006/main"/>
        </p:blipFill>
        <p:spPr>
          <a:xfrm xmlns:a="http://schemas.openxmlformats.org/drawingml/2006/main">
            <a:off x="12763500" y="8010525"/>
            <a:ext cx="552450" cy="552450"/>
          </a:xfrm>
          <a:prstGeom xmlns:a="http://schemas.openxmlformats.org/drawingml/2006/main" prst="rect">
            <a:avLst/>
          </a:prstGeom>
        </p:spPr>
      </p:pic>
      <p:sp>
        <p:nvSpPr>
          <p:cNvPr id="60" name="">
            <a:extLst xmlns:a="http://schemas.openxmlformats.org/drawingml/2006/main">
              <a:ext uri="{FF2B5EF4-FFF2-40B4-BE49-F238E27FC236}">
                <a16:creationId xmlns:a16="http://schemas.microsoft.com/office/drawing/2014/main" id="{8B71C8C0-CFD8-48CD-8C6B-DAC29DD49911}"/>
              </a:ext>
            </a:extLst>
          </p:cNvPr>
          <p:cNvSpPr>
            <a:spLocks xmlns:a="http://schemas.openxmlformats.org/drawingml/2006/main" noGrp="1"/>
          </p:cNvSpPr>
          <p:nvPr/>
        </p:nvSpPr>
        <p:spPr>
          <a:xfrm xmlns:a="http://schemas.openxmlformats.org/drawingml/2006/main">
            <a:off x="13515975" y="8029575"/>
            <a:ext cx="3981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34231D"/>
                </a:solidFill>
                <a:latin typeface="Arial"/>
                <a:ea typeface="Arial"/>
                <a:cs typeface="Arial"/>
              </a:defRPr>
            </a:pPr>
            <a:r>
              <a:rPr sz="1875" b="1">
                <a:solidFill>
                  <a:srgbClr val="34231D"/>
                </a:solidFill>
                <a:latin typeface="Arial"/>
                <a:ea typeface="Arial"/>
                <a:cs typeface="Arial"/>
              </a:rPr>
              <a:t>Amazon Polly</a:t>
            </a:r>
          </a:p>
        </p:txBody>
      </p:sp>
      <p:sp>
        <p:nvSpPr>
          <p:cNvPr id="61" name="">
            <a:extLst xmlns:a="http://schemas.openxmlformats.org/drawingml/2006/main">
              <a:ext uri="{FF2B5EF4-FFF2-40B4-BE49-F238E27FC236}">
                <a16:creationId xmlns:a16="http://schemas.microsoft.com/office/drawing/2014/main" id="{B5E23EC6-D2E4-4545-94F5-B3421EB38EB2}"/>
              </a:ext>
            </a:extLst>
          </p:cNvPr>
          <p:cNvSpPr>
            <a:spLocks xmlns:a="http://schemas.openxmlformats.org/drawingml/2006/main" noGrp="1"/>
          </p:cNvSpPr>
          <p:nvPr/>
        </p:nvSpPr>
        <p:spPr>
          <a:xfrm xmlns:a="http://schemas.openxmlformats.org/drawingml/2006/main">
            <a:off x="13515975" y="387667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3. Select tools / generate answer</a:t>
            </a:r>
          </a:p>
        </p:txBody>
      </p:sp>
      <p:sp>
        <p:nvSpPr>
          <p:cNvPr id="62" name="">
            <a:extLst xmlns:a="http://schemas.openxmlformats.org/drawingml/2006/main">
              <a:ext uri="{FF2B5EF4-FFF2-40B4-BE49-F238E27FC236}">
                <a16:creationId xmlns:a16="http://schemas.microsoft.com/office/drawing/2014/main" id="{0B7F6720-743C-48F4-BC62-2102804BD3B2}"/>
              </a:ext>
            </a:extLst>
          </p:cNvPr>
          <p:cNvSpPr>
            <a:spLocks xmlns:a="http://schemas.openxmlformats.org/drawingml/2006/main" noGrp="1"/>
          </p:cNvSpPr>
          <p:nvPr/>
        </p:nvSpPr>
        <p:spPr>
          <a:xfrm xmlns:a="http://schemas.openxmlformats.org/drawingml/2006/main">
            <a:off x="13515975" y="5010150"/>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Store PDFs, images and recordings</a:t>
            </a:r>
          </a:p>
        </p:txBody>
      </p:sp>
      <p:sp>
        <p:nvSpPr>
          <p:cNvPr id="63" name="">
            <a:extLst xmlns:a="http://schemas.openxmlformats.org/drawingml/2006/main">
              <a:ext uri="{FF2B5EF4-FFF2-40B4-BE49-F238E27FC236}">
                <a16:creationId xmlns:a16="http://schemas.microsoft.com/office/drawing/2014/main" id="{F7FABA12-B5C3-4768-93E5-DC73A91ED32C}"/>
              </a:ext>
            </a:extLst>
          </p:cNvPr>
          <p:cNvSpPr>
            <a:spLocks xmlns:a="http://schemas.openxmlformats.org/drawingml/2006/main" noGrp="1"/>
          </p:cNvSpPr>
          <p:nvPr/>
        </p:nvSpPr>
        <p:spPr>
          <a:xfrm xmlns:a="http://schemas.openxmlformats.org/drawingml/2006/main">
            <a:off x="13515975" y="614362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Extract text for the knowledge pipeline</a:t>
            </a:r>
          </a:p>
        </p:txBody>
      </p:sp>
      <p:sp>
        <p:nvSpPr>
          <p:cNvPr id="64" name="">
            <a:extLst xmlns:a="http://schemas.openxmlformats.org/drawingml/2006/main">
              <a:ext uri="{FF2B5EF4-FFF2-40B4-BE49-F238E27FC236}">
                <a16:creationId xmlns:a16="http://schemas.microsoft.com/office/drawing/2014/main" id="{60D75B8F-3414-4EB4-B326-1E25AC501DFF}"/>
              </a:ext>
            </a:extLst>
          </p:cNvPr>
          <p:cNvSpPr>
            <a:spLocks xmlns:a="http://schemas.openxmlformats.org/drawingml/2006/main" noGrp="1"/>
          </p:cNvSpPr>
          <p:nvPr/>
        </p:nvSpPr>
        <p:spPr>
          <a:xfrm xmlns:a="http://schemas.openxmlformats.org/drawingml/2006/main">
            <a:off x="13515975" y="7277100"/>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Convert uploaded speech into text</a:t>
            </a:r>
          </a:p>
        </p:txBody>
      </p:sp>
      <p:sp>
        <p:nvSpPr>
          <p:cNvPr id="65" name="">
            <a:extLst xmlns:a="http://schemas.openxmlformats.org/drawingml/2006/main">
              <a:ext uri="{FF2B5EF4-FFF2-40B4-BE49-F238E27FC236}">
                <a16:creationId xmlns:a16="http://schemas.microsoft.com/office/drawing/2014/main" id="{E9201276-CE3C-42F2-AAFE-243719A36E63}"/>
              </a:ext>
            </a:extLst>
          </p:cNvPr>
          <p:cNvSpPr>
            <a:spLocks xmlns:a="http://schemas.openxmlformats.org/drawingml/2006/main" noGrp="1"/>
          </p:cNvSpPr>
          <p:nvPr/>
        </p:nvSpPr>
        <p:spPr>
          <a:xfrm xmlns:a="http://schemas.openxmlformats.org/drawingml/2006/main">
            <a:off x="13515975" y="8410575"/>
            <a:ext cx="39909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88766B"/>
                </a:solidFill>
                <a:latin typeface="Arial"/>
                <a:ea typeface="Arial"/>
                <a:cs typeface="Arial"/>
              </a:defRPr>
            </a:pPr>
            <a:r>
              <a:rPr sz="1500" b="0">
                <a:solidFill>
                  <a:srgbClr val="88766B"/>
                </a:solidFill>
                <a:latin typeface="Arial"/>
                <a:ea typeface="Arial"/>
                <a:cs typeface="Arial"/>
              </a:rPr>
              <a:t>Convert the answer into speech</a:t>
            </a:r>
          </a:p>
        </p:txBody>
      </p:sp>
      <p:sp>
        <p:nvSpPr>
          <p:cNvPr id="66" name="">
            <a:extLst xmlns:a="http://schemas.openxmlformats.org/drawingml/2006/main">
              <a:ext uri="{FF2B5EF4-FFF2-40B4-BE49-F238E27FC236}">
                <a16:creationId xmlns:a16="http://schemas.microsoft.com/office/drawing/2014/main" id="{3ABE721C-1589-4688-8412-3B0D6AF280D6}"/>
              </a:ext>
            </a:extLst>
          </p:cNvPr>
          <p:cNvSpPr>
            <a:spLocks xmlns:a="http://schemas.openxmlformats.org/drawingml/2006/main" noGrp="1"/>
          </p:cNvSpPr>
          <p:nvPr/>
        </p:nvSpPr>
        <p:spPr>
          <a:xfrm xmlns:a="http://schemas.openxmlformats.org/drawingml/2006/main">
            <a:off x="11715750" y="3781425"/>
            <a:ext cx="19050" cy="4533900"/>
          </a:xfrm>
          <a:prstGeom xmlns:a="http://schemas.openxmlformats.org/drawingml/2006/main" prst="rect">
            <a:avLst/>
          </a:prstGeom>
          <a:solidFill xmlns:a="http://schemas.openxmlformats.org/drawingml/2006/main">
            <a:srgbClr val="C9502F"/>
          </a:solidFill>
          <a:ln xmlns:a="http://schemas.openxmlformats.org/drawingml/2006/main" w="19050">
            <a:solidFill>
              <a:srgbClr val="C9502F"/>
            </a:solidFill>
            <a:prstDash val="solid"/>
          </a:ln>
        </p:spPr>
      </p:sp>
      <p:cxnSp>
        <p:nvCxnSpPr>
          <p:cNvPr id="147" name=""/>
          <p:cNvCxnSpPr>
            <a:stCxn xmlns:a="http://schemas.openxmlformats.org/drawingml/2006/main" id="17" idx="3"/>
            <a:endCxn xmlns:a="http://schemas.openxmlformats.org/drawingml/2006/main" id="66" idx="1"/>
          </p:cNvCxnSpPr>
          <p:nvPr/>
        </p:nvCxnSpPr>
        <p:spPr>
          <a:xfrm xmlns:a="http://schemas.openxmlformats.org/drawingml/2006/main">
            <a:off x="10906125" y="4357688"/>
            <a:ext cx="809625" cy="1690688"/>
          </a:xfrm>
          <a:prstGeom xmlns:a="http://schemas.openxmlformats.org/drawingml/2006/main" prst="bentConnector3">
            <a:avLst>
              <a:gd name="adj1" fmla="val 50000"/>
            </a:avLst>
          </a:prstGeom>
          <a:ln xmlns:a="http://schemas.openxmlformats.org/drawingml/2006/main" w="28575">
            <a:solidFill>
              <a:srgbClr val="C9502F"/>
            </a:solidFill>
            <a:prstDash val="solid"/>
            <a:headEnd type="triangle" w="med" len="med"/>
            <a:tailEnd type="triangle" w="med" len="med"/>
          </a:ln>
        </p:spPr>
      </p:cxnSp>
      <p:cxnSp>
        <p:nvCxnSpPr>
          <p:cNvPr id="148" name=""/>
          <p:cNvCxnSpPr>
            <a:stCxn xmlns:a="http://schemas.openxmlformats.org/drawingml/2006/main" id="66" idx="3"/>
            <a:endCxn xmlns:a="http://schemas.openxmlformats.org/drawingml/2006/main" id="46" idx="1"/>
          </p:cNvCxnSpPr>
          <p:nvPr/>
        </p:nvCxnSpPr>
        <p:spPr>
          <a:xfrm xmlns:a="http://schemas.openxmlformats.org/drawingml/2006/main" flipV="1">
            <a:off x="11734800" y="3786188"/>
            <a:ext cx="838200" cy="2262188"/>
          </a:xfrm>
          <a:prstGeom xmlns:a="http://schemas.openxmlformats.org/drawingml/2006/main" prst="bentConnector3">
            <a:avLst>
              <a:gd name="adj1" fmla="val 50000"/>
            </a:avLst>
          </a:prstGeom>
          <a:ln xmlns:a="http://schemas.openxmlformats.org/drawingml/2006/main" w="28575">
            <a:solidFill>
              <a:srgbClr val="C9502F"/>
            </a:solidFill>
            <a:prstDash val="solid"/>
            <a:headEnd type="triangle" w="med" len="med"/>
            <a:tailEnd type="triangle" w="med" len="med"/>
          </a:ln>
        </p:spPr>
      </p:cxnSp>
      <p:cxnSp>
        <p:nvCxnSpPr>
          <p:cNvPr id="149" name=""/>
          <p:cNvCxnSpPr>
            <a:stCxn xmlns:a="http://schemas.openxmlformats.org/drawingml/2006/main" id="66" idx="3"/>
            <a:endCxn xmlns:a="http://schemas.openxmlformats.org/drawingml/2006/main" id="49" idx="1"/>
          </p:cNvCxnSpPr>
          <p:nvPr/>
        </p:nvCxnSpPr>
        <p:spPr>
          <a:xfrm xmlns:a="http://schemas.openxmlformats.org/drawingml/2006/main" flipV="1">
            <a:off x="11734800" y="4919663"/>
            <a:ext cx="838200" cy="1128713"/>
          </a:xfrm>
          <a:prstGeom xmlns:a="http://schemas.openxmlformats.org/drawingml/2006/main" prst="bentConnector3">
            <a:avLst>
              <a:gd name="adj1" fmla="val 50000"/>
            </a:avLst>
          </a:prstGeom>
          <a:ln xmlns:a="http://schemas.openxmlformats.org/drawingml/2006/main" w="28575">
            <a:solidFill>
              <a:srgbClr val="C9502F"/>
            </a:solidFill>
            <a:prstDash val="solid"/>
            <a:headEnd type="triangle" w="med" len="med"/>
            <a:tailEnd type="triangle" w="med" len="med"/>
          </a:ln>
        </p:spPr>
      </p:cxnSp>
      <p:cxnSp>
        <p:nvCxnSpPr>
          <p:cNvPr id="150" name=""/>
          <p:cNvCxnSpPr>
            <a:stCxn xmlns:a="http://schemas.openxmlformats.org/drawingml/2006/main" id="66" idx="3"/>
            <a:endCxn xmlns:a="http://schemas.openxmlformats.org/drawingml/2006/main" id="52" idx="1"/>
          </p:cNvCxnSpPr>
          <p:nvPr/>
        </p:nvCxnSpPr>
        <p:spPr>
          <a:xfrm xmlns:a="http://schemas.openxmlformats.org/drawingml/2006/main">
            <a:off x="11734800" y="6048375"/>
            <a:ext cx="838200" cy="4763"/>
          </a:xfrm>
          <a:prstGeom xmlns:a="http://schemas.openxmlformats.org/drawingml/2006/main" prst="bentConnector3">
            <a:avLst>
              <a:gd name="adj1" fmla="val 50000"/>
            </a:avLst>
          </a:prstGeom>
          <a:ln xmlns:a="http://schemas.openxmlformats.org/drawingml/2006/main" w="28575">
            <a:solidFill>
              <a:srgbClr val="C9502F"/>
            </a:solidFill>
            <a:prstDash val="solid"/>
            <a:headEnd type="triangle" w="med" len="med"/>
            <a:tailEnd type="triangle" w="med" len="med"/>
          </a:ln>
        </p:spPr>
      </p:cxnSp>
      <p:cxnSp>
        <p:nvCxnSpPr>
          <p:cNvPr id="151" name=""/>
          <p:cNvCxnSpPr>
            <a:stCxn xmlns:a="http://schemas.openxmlformats.org/drawingml/2006/main" id="66" idx="3"/>
            <a:endCxn xmlns:a="http://schemas.openxmlformats.org/drawingml/2006/main" id="55" idx="1"/>
          </p:cNvCxnSpPr>
          <p:nvPr/>
        </p:nvCxnSpPr>
        <p:spPr>
          <a:xfrm xmlns:a="http://schemas.openxmlformats.org/drawingml/2006/main">
            <a:off x="11734800" y="6048375"/>
            <a:ext cx="838200" cy="1138238"/>
          </a:xfrm>
          <a:prstGeom xmlns:a="http://schemas.openxmlformats.org/drawingml/2006/main" prst="bentConnector3">
            <a:avLst>
              <a:gd name="adj1" fmla="val 50000"/>
            </a:avLst>
          </a:prstGeom>
          <a:ln xmlns:a="http://schemas.openxmlformats.org/drawingml/2006/main" w="28575">
            <a:solidFill>
              <a:srgbClr val="C9502F"/>
            </a:solidFill>
            <a:prstDash val="solid"/>
            <a:headEnd type="triangle" w="med" len="med"/>
            <a:tailEnd type="triangle" w="med" len="med"/>
          </a:ln>
        </p:spPr>
      </p:cxnSp>
      <p:cxnSp>
        <p:nvCxnSpPr>
          <p:cNvPr id="152" name=""/>
          <p:cNvCxnSpPr>
            <a:stCxn xmlns:a="http://schemas.openxmlformats.org/drawingml/2006/main" id="66" idx="3"/>
            <a:endCxn xmlns:a="http://schemas.openxmlformats.org/drawingml/2006/main" id="58" idx="1"/>
          </p:cNvCxnSpPr>
          <p:nvPr/>
        </p:nvCxnSpPr>
        <p:spPr>
          <a:xfrm xmlns:a="http://schemas.openxmlformats.org/drawingml/2006/main">
            <a:off x="11734800" y="6048375"/>
            <a:ext cx="838200" cy="2271713"/>
          </a:xfrm>
          <a:prstGeom xmlns:a="http://schemas.openxmlformats.org/drawingml/2006/main" prst="bentConnector3">
            <a:avLst>
              <a:gd name="adj1" fmla="val 50000"/>
            </a:avLst>
          </a:prstGeom>
          <a:ln xmlns:a="http://schemas.openxmlformats.org/drawingml/2006/main" w="28575">
            <a:solidFill>
              <a:srgbClr val="C9502F"/>
            </a:solidFill>
            <a:prstDash val="solid"/>
            <a:headEnd type="triangle" w="med" len="med"/>
            <a:tailEnd type="triangle" w="med" len="med"/>
          </a:ln>
        </p:spPr>
      </p:cxnSp>
      <p:pic>
        <p:nvPicPr>
          <p:cNvPr id="153" name=""/>
          <p:cNvPicPr>
            <a:picLocks xmlns:a="http://schemas.openxmlformats.org/drawingml/2006/main" noChangeAspect="1"/>
          </p:cNvPicPr>
          <p:nvPr/>
        </p:nvPicPr>
        <p:blipFill>
          <a:blip xmlns:r="http://schemas.openxmlformats.org/officeDocument/2006/relationships" xmlns:a="http://schemas.openxmlformats.org/drawingml/2006/main" r:embed="Rdd21925dd39140c7"/>
          <a:stretch xmlns:a="http://schemas.openxmlformats.org/drawingml/2006/main"/>
        </p:blipFill>
        <p:spPr>
          <a:xfrm xmlns:a="http://schemas.openxmlformats.org/drawingml/2006/main">
            <a:off x="571500" y="9286875"/>
            <a:ext cx="457200" cy="457200"/>
          </a:xfrm>
          <a:prstGeom xmlns:a="http://schemas.openxmlformats.org/drawingml/2006/main" prst="rect">
            <a:avLst/>
          </a:prstGeom>
        </p:spPr>
      </p:pic>
      <p:sp>
        <p:nvSpPr>
          <p:cNvPr id="74" name="">
            <a:extLst xmlns:a="http://schemas.openxmlformats.org/drawingml/2006/main">
              <a:ext uri="{FF2B5EF4-FFF2-40B4-BE49-F238E27FC236}">
                <a16:creationId xmlns:a16="http://schemas.microsoft.com/office/drawing/2014/main" id="{722A0132-0D58-41CE-9C79-5BB01C545F7D}"/>
              </a:ext>
            </a:extLst>
          </p:cNvPr>
          <p:cNvSpPr>
            <a:spLocks xmlns:a="http://schemas.openxmlformats.org/drawingml/2006/main" noGrp="1"/>
          </p:cNvSpPr>
          <p:nvPr/>
        </p:nvSpPr>
        <p:spPr>
          <a:xfrm xmlns:a="http://schemas.openxmlformats.org/drawingml/2006/main">
            <a:off x="1143000" y="93630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Guardrails: optional</a:t>
            </a:r>
          </a:p>
        </p:txBody>
      </p:sp>
      <p:pic>
        <p:nvPicPr>
          <p:cNvPr id="155" name=""/>
          <p:cNvPicPr>
            <a:picLocks xmlns:a="http://schemas.openxmlformats.org/drawingml/2006/main" noChangeAspect="1"/>
          </p:cNvPicPr>
          <p:nvPr/>
        </p:nvPicPr>
        <p:blipFill>
          <a:blip xmlns:r="http://schemas.openxmlformats.org/officeDocument/2006/relationships" xmlns:a="http://schemas.openxmlformats.org/drawingml/2006/main" r:embed="R59118f45bd224342"/>
          <a:stretch xmlns:a="http://schemas.openxmlformats.org/drawingml/2006/main"/>
        </p:blipFill>
        <p:spPr>
          <a:xfrm xmlns:a="http://schemas.openxmlformats.org/drawingml/2006/main">
            <a:off x="4714875" y="9286875"/>
            <a:ext cx="457200" cy="457200"/>
          </a:xfrm>
          <a:prstGeom xmlns:a="http://schemas.openxmlformats.org/drawingml/2006/main" prst="rect">
            <a:avLst/>
          </a:prstGeom>
        </p:spPr>
      </p:pic>
      <p:sp>
        <p:nvSpPr>
          <p:cNvPr id="76" name="">
            <a:extLst xmlns:a="http://schemas.openxmlformats.org/drawingml/2006/main">
              <a:ext uri="{FF2B5EF4-FFF2-40B4-BE49-F238E27FC236}">
                <a16:creationId xmlns:a16="http://schemas.microsoft.com/office/drawing/2014/main" id="{ABA8551E-8BAC-475A-A599-3F731A7A9AC9}"/>
              </a:ext>
            </a:extLst>
          </p:cNvPr>
          <p:cNvSpPr>
            <a:spLocks xmlns:a="http://schemas.openxmlformats.org/drawingml/2006/main" noGrp="1"/>
          </p:cNvSpPr>
          <p:nvPr/>
        </p:nvSpPr>
        <p:spPr>
          <a:xfrm xmlns:a="http://schemas.openxmlformats.org/drawingml/2006/main">
            <a:off x="5286375" y="9363075"/>
            <a:ext cx="3429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05299"/>
                </a:solidFill>
                <a:latin typeface="Arial"/>
                <a:ea typeface="Arial"/>
                <a:cs typeface="Arial"/>
              </a:defRPr>
            </a:pPr>
            <a:r>
              <a:rPr sz="1800" b="0">
                <a:solidFill>
                  <a:srgbClr val="805299"/>
                </a:solidFill>
                <a:latin typeface="Arial"/>
                <a:ea typeface="Arial"/>
                <a:cs typeface="Arial"/>
              </a:rPr>
              <a:t>SageMaker: planned</a:t>
            </a:r>
          </a:p>
        </p:txBody>
      </p:sp>
      <p:pic>
        <p:nvPicPr>
          <p:cNvPr id="157" name=""/>
          <p:cNvPicPr>
            <a:picLocks xmlns:a="http://schemas.openxmlformats.org/drawingml/2006/main" noChangeAspect="1"/>
          </p:cNvPicPr>
          <p:nvPr/>
        </p:nvPicPr>
        <p:blipFill>
          <a:blip xmlns:r="http://schemas.openxmlformats.org/officeDocument/2006/relationships" xmlns:a="http://schemas.openxmlformats.org/drawingml/2006/main" r:embed="R94c83b4379d34c78"/>
          <a:stretch xmlns:a="http://schemas.openxmlformats.org/drawingml/2006/main"/>
        </p:blipFill>
        <p:spPr>
          <a:xfrm xmlns:a="http://schemas.openxmlformats.org/drawingml/2006/main">
            <a:off x="9096375" y="9286875"/>
            <a:ext cx="457200" cy="457200"/>
          </a:xfrm>
          <a:prstGeom xmlns:a="http://schemas.openxmlformats.org/drawingml/2006/main" prst="rect">
            <a:avLst/>
          </a:prstGeom>
        </p:spPr>
      </p:pic>
      <p:sp>
        <p:nvSpPr>
          <p:cNvPr id="78" name="">
            <a:extLst xmlns:a="http://schemas.openxmlformats.org/drawingml/2006/main">
              <a:ext uri="{FF2B5EF4-FFF2-40B4-BE49-F238E27FC236}">
                <a16:creationId xmlns:a16="http://schemas.microsoft.com/office/drawing/2014/main" id="{B3EA6000-2AE4-4161-A3E5-F79E9CDF7A67}"/>
              </a:ext>
            </a:extLst>
          </p:cNvPr>
          <p:cNvSpPr>
            <a:spLocks xmlns:a="http://schemas.openxmlformats.org/drawingml/2006/main" noGrp="1"/>
          </p:cNvSpPr>
          <p:nvPr/>
        </p:nvSpPr>
        <p:spPr>
          <a:xfrm xmlns:a="http://schemas.openxmlformats.org/drawingml/2006/main">
            <a:off x="9667875" y="9363075"/>
            <a:ext cx="4191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CloudWatch: helper only</a:t>
            </a:r>
          </a:p>
        </p:txBody>
      </p:sp>
      <p:pic>
        <p:nvPicPr>
          <p:cNvPr id="159" name=""/>
          <p:cNvPicPr>
            <a:picLocks xmlns:a="http://schemas.openxmlformats.org/drawingml/2006/main" noChangeAspect="1"/>
          </p:cNvPicPr>
          <p:nvPr/>
        </p:nvPicPr>
        <p:blipFill>
          <a:blip xmlns:r="http://schemas.openxmlformats.org/officeDocument/2006/relationships" xmlns:a="http://schemas.openxmlformats.org/drawingml/2006/main" r:embed="R38eb029475fe4529"/>
          <a:stretch xmlns:a="http://schemas.openxmlformats.org/drawingml/2006/main"/>
        </p:blipFill>
        <p:spPr>
          <a:xfrm xmlns:a="http://schemas.openxmlformats.org/drawingml/2006/main">
            <a:off x="14097000" y="9286875"/>
            <a:ext cx="457200" cy="457200"/>
          </a:xfrm>
          <a:prstGeom xmlns:a="http://schemas.openxmlformats.org/drawingml/2006/main" prst="rect">
            <a:avLst/>
          </a:prstGeom>
        </p:spPr>
      </p:pic>
      <p:sp>
        <p:nvSpPr>
          <p:cNvPr id="80" name="">
            <a:extLst xmlns:a="http://schemas.openxmlformats.org/drawingml/2006/main">
              <a:ext uri="{FF2B5EF4-FFF2-40B4-BE49-F238E27FC236}">
                <a16:creationId xmlns:a16="http://schemas.microsoft.com/office/drawing/2014/main" id="{32A8CAA7-4776-4022-BD4A-D791E533AEAD}"/>
              </a:ext>
            </a:extLst>
          </p:cNvPr>
          <p:cNvSpPr>
            <a:spLocks xmlns:a="http://schemas.openxmlformats.org/drawingml/2006/main" noGrp="1"/>
          </p:cNvSpPr>
          <p:nvPr/>
        </p:nvSpPr>
        <p:spPr>
          <a:xfrm xmlns:a="http://schemas.openxmlformats.org/drawingml/2006/main">
            <a:off x="14668500" y="9363075"/>
            <a:ext cx="32385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88766B"/>
                </a:solidFill>
                <a:latin typeface="Arial"/>
                <a:ea typeface="Arial"/>
                <a:cs typeface="Arial"/>
              </a:defRPr>
            </a:pPr>
            <a:r>
              <a:rPr sz="1800" b="0">
                <a:solidFill>
                  <a:srgbClr val="88766B"/>
                </a:solidFill>
                <a:latin typeface="Arial"/>
                <a:ea typeface="Arial"/>
                <a:cs typeface="Arial"/>
              </a:rPr>
              <a:t>Secrets: helper only</a:t>
            </a:r>
          </a:p>
        </p:txBody>
      </p:sp>
    </p:spTree>
    <p:extLst>
      <p:ext uri="{BB962C8B-B14F-4D97-AF65-F5344CB8AC3E}">
        <p14:creationId xmlns:p14="http://schemas.microsoft.com/office/powerpoint/2010/main" val="4570976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2026-09-12T13:54:20.1780000Z</dcterms:created>
  <dcterms:modified xsi:type="dcterms:W3CDTF">2026-09-12T13:54:20.1780000Z</dcterms:modified>
</coreProperties>
</file>