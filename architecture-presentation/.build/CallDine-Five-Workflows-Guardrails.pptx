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a19cd683424f8f" /><Relationship Type="http://schemas.openxmlformats.org/officeDocument/2006/relationships/extended-properties" Target="/docProps/app.xml" Id="R6e040f83eb5a42d0" /><Relationship Type="http://schemas.openxmlformats.org/officeDocument/2006/relationships/officeDocument" Target="/ppt/presentation.xml" Id="R484fef629e2d45b7" /></Relationships>
</file>

<file path=ppt/presentation.xml><?xml version="1.0" encoding="utf-8"?>
<p:presentation xmlns:p="http://schemas.openxmlformats.org/presentationml/2006/main">
  <p:sldMasterIdLst>
    <p:sldMasterId xmlns:r="http://schemas.openxmlformats.org/officeDocument/2006/relationships" id="2147483648" r:id="R551aecb294c144db"/>
  </p:sldMasterIdLst>
  <p:notesMasterIdLst>
    <p:notesMasterId xmlns:r="http://schemas.openxmlformats.org/officeDocument/2006/relationships" r:id="Ra9a4eb1fc56c4e48"/>
  </p:notesMasterIdLst>
  <p:sldIdLst>
    <p:sldId xmlns:r="http://schemas.openxmlformats.org/officeDocument/2006/relationships" id="256" r:id="R0641fbf97b0444a6"/>
    <p:sldId xmlns:r="http://schemas.openxmlformats.org/officeDocument/2006/relationships" id="257" r:id="R12132dae0b3c44bc"/>
    <p:sldId xmlns:r="http://schemas.openxmlformats.org/officeDocument/2006/relationships" id="258" r:id="R864129007c8c4f35"/>
    <p:sldId xmlns:r="http://schemas.openxmlformats.org/officeDocument/2006/relationships" id="259" r:id="Rb8413ebb563e48bf"/>
    <p:sldId xmlns:r="http://schemas.openxmlformats.org/officeDocument/2006/relationships" id="260" r:id="R38fb2af396dd4f73"/>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1c7eb33b9b4711" /><Relationship Type="http://schemas.openxmlformats.org/officeDocument/2006/relationships/slideMaster" Target="/ppt/slideMasters/slideMaster1.xml" Id="R551aecb294c144db" /><Relationship Type="http://schemas.openxmlformats.org/officeDocument/2006/relationships/notesMaster" Target="/ppt/notesMasters/notesMaster1.xml" Id="Ra9a4eb1fc56c4e48" /><Relationship Type="http://schemas.openxmlformats.org/officeDocument/2006/relationships/presProps" Target="/ppt/presProps.xml" Id="Re276d30940734a9a" /><Relationship Type="http://schemas.openxmlformats.org/officeDocument/2006/relationships/tableStyles" Target="/ppt/tableStyles.xml" Id="R494dd37ec98e4e8a" /><Relationship Type="http://schemas.openxmlformats.org/officeDocument/2006/relationships/slide" Target="/ppt/slides/slide1.xml" Id="R0641fbf97b0444a6" /><Relationship Type="http://schemas.openxmlformats.org/officeDocument/2006/relationships/slide" Target="/ppt/slides/slide2.xml" Id="R12132dae0b3c44bc" /><Relationship Type="http://schemas.openxmlformats.org/officeDocument/2006/relationships/slide" Target="/ppt/slides/slide3.xml" Id="R864129007c8c4f35" /><Relationship Type="http://schemas.openxmlformats.org/officeDocument/2006/relationships/slide" Target="/ppt/slides/slide4.xml" Id="Rb8413ebb563e48bf" /><Relationship Type="http://schemas.openxmlformats.org/officeDocument/2006/relationships/slide" Target="/ppt/slides/slide5.xml" Id="R38fb2af396dd4f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f2df4609ae41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ac6958223f43da" /><Relationship Type="http://schemas.openxmlformats.org/officeDocument/2006/relationships/notesMaster" Target="/ppt/notesMasters/notesMaster1.xml" Id="R127dcd2f0c7c4d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856f779a4446c9" /><Relationship Type="http://schemas.openxmlformats.org/officeDocument/2006/relationships/notesMaster" Target="/ppt/notesMasters/notesMaster1.xml" Id="R988f6660978f4a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a1e383b9bd4a44" /><Relationship Type="http://schemas.openxmlformats.org/officeDocument/2006/relationships/notesMaster" Target="/ppt/notesMasters/notesMaster1.xml" Id="Rb7bb1956e0aa4f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8642a3d51542fd" /><Relationship Type="http://schemas.openxmlformats.org/officeDocument/2006/relationships/notesMaster" Target="/ppt/notesMasters/notesMaster1.xml" Id="Rd367f9472d064c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d74dd7a69b4028" /><Relationship Type="http://schemas.openxmlformats.org/officeDocument/2006/relationships/notesMaster" Target="/ppt/notesMasters/notesMaster1.xml" Id="R8b30085e1cce4f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pipeline prepares restaurant knowledge. FastAPI coordinates S3, Textract, text chunking, Titan embeddings and Qdrant. The search-knowledge tool later uses these stored chunks for retrieval-augmented generation. Background processing runs inside the FastAPI application.</a:t>
            </a:r>
          </a:p>
          <a:p xmlns:a="http://schemas.openxmlformats.org/drawingml/2006/main">
            <a:r>
              <a:t/>
            </a:r>
          </a:p>
          <a:p xmlns:a="http://schemas.openxmlformats.org/drawingml/2006/main">
            <a:r>
              <a:t>Source files: backend/app/services/knowledge_service.py; backend/app/services/embedding_service.py</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Guardrails policy documentation: https://docs.aws.amazon.com/bedrock/latest/userguide/guardrails-components.html and https://docs.aws.amazon.com/bedrock/latest/userguide/guardrails-prompt-attack.html . Policies are configuration-dependent and not verified as enabled in this AWS account.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creates the Chime meeting and attendee, and the browser joins that session. Separately, the browser captures completed microphone turns for the assistant. There is no direct Chime-to-Transcribe bridge. Audio uploads through Next.js to FastAPI, which uses Transcribe Streaming. The transcript returns to the browser and is submitted to Chat Service. Bedrock chooses tools, FastAPI executes them, and Bedrock generates the answer. The browser submits the cleaned answer to the speech endpoint. FastAPI invokes Polly, and the browser plays the MP3 response. Guardrails are optional on the Bedrock chat calls.</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Guardrails policy documentation: https://docs.aws.amazon.com/bedrock/latest/userguide/guardrails-components.html and https://docs.aws.amazon.com/bedrock/latest/userguide/guardrails-prompt-attack.html . Policies are configuration-dependent and not verified as enabled in this AWS account.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knowledge tool uses RAG, which means retrieval-augmented generation. FastAPI embeds the query using Titan, searches Qdrant, and returns the four most relevant chunks to Bedrock as a tool result. The other tools use restaurant business services and the operational database. Drafts are separate from confirmation. The prompts ask for customer approval, while the service checks model-supplied confirmation flags and business conditions. The main chat path uses Bedrock tools and Python dispatch, not the separate prototype MCP adapter.</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Guardrails policy documentation: https://docs.aws.amazon.com/bedrock/latest/userguide/guardrails-components.html and https://docs.aws.amazon.com/bedrock/latest/userguide/guardrails-prompt-attack.html . Policies are configuration-dependent and not verified as enabled in this AWS account.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planned feature. The current recommendations page shows static demo values. Training, inference and dashboard integration are not connected. Daily category demand does not establish the busiest hourly window or staffing needs without additional data and business rules. Forecasting is independent of the Bedrock conversation model.</a:t>
            </a:r>
          </a:p>
          <a:p xmlns:a="http://schemas.openxmlformats.org/drawingml/2006/main">
            <a:r>
              <a:t/>
            </a:r>
          </a:p>
          <a:p xmlns:a="http://schemas.openxmlformats.org/drawingml/2006/main">
            <a:r>
              <a:t>Source files: backend/app/aws/sagemaker_client.py; Frontend/app/(admin)/admin/recommendations/page.tsx</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Guardrails policy documentation: https://docs.aws.amazon.com/bedrock/latest/userguide/guardrails-components.html and https://docs.aws.amazon.com/bedrock/latest/userguide/guardrails-prompt-attack.html . Policies are configuration-dependent and not verified as enabled in this AWS account.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receives chat text or a voice transcript. When a Guardrails ID and version are configured, it attaches the policy to Bedrock chat calls. Allowed calls continue through the model and tools. If the policy intervenes, the application handles the blocked response. The response returns to the user as text; the voice interface requests Polly audio. Policy coverage depends on the AWS configuration, which has not been verified.</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Guardrails policy documentation: https://docs.aws.amazon.com/bedrock/latest/userguide/guardrails-components.html and https://docs.aws.amazon.com/bedrock/latest/userguide/guardrails-prompt-attack.html . Policies are configuration-dependent and not verified as enabled in this AWS account.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b379c01a5248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c59c18648e4d96" /><Relationship Type="http://schemas.openxmlformats.org/officeDocument/2006/relationships/slideLayout" Target="/ppt/slideLayouts/slideLayout1.xml" Id="R4ef1cf4340ea44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f1cf4340ea44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b7945b5a9724566" /><Relationship Type="http://schemas.openxmlformats.org/officeDocument/2006/relationships/image" Target="/ppt/media/image.png" Id="Rf2a8d988013941f2" /><Relationship Type="http://schemas.openxmlformats.org/officeDocument/2006/relationships/image" Target="/ppt/media/image2.png" Id="R807f4d23bad542d1" /><Relationship Type="http://schemas.openxmlformats.org/officeDocument/2006/relationships/image" Target="/ppt/media/image3.png" Id="R818cd738e4bb4c00" /><Relationship Type="http://schemas.openxmlformats.org/officeDocument/2006/relationships/image" Target="/ppt/media/image4.png" Id="Ra40e9718e6be4140" /><Relationship Type="http://schemas.openxmlformats.org/officeDocument/2006/relationships/image" Target="/ppt/media/image5.png" Id="R3205d31f1f2444a1" /><Relationship Type="http://schemas.openxmlformats.org/officeDocument/2006/relationships/image" Target="/ppt/media/image6.png" Id="Rf8bc0fecfa1049cc" /><Relationship Type="http://schemas.openxmlformats.org/officeDocument/2006/relationships/image" Target="/ppt/media/image7.png" Id="Rcada1252090a44ea" /><Relationship Type="http://schemas.openxmlformats.org/officeDocument/2006/relationships/image" Target="/ppt/media/image8.png" Id="R2ae2d2b8ccf04898" /><Relationship Type="http://schemas.openxmlformats.org/officeDocument/2006/relationships/notesSlide" Target="/ppt/notesSlides/notesSlide1.xml" Id="R0b53f5a091c64f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33c0b160bb485e" /><Relationship Type="http://schemas.openxmlformats.org/officeDocument/2006/relationships/image" Target="/ppt/media/image9.png" Id="R85a0e50c0619431e" /><Relationship Type="http://schemas.openxmlformats.org/officeDocument/2006/relationships/image" Target="/ppt/media/image10.png" Id="Rd93791b5fac44e8e" /><Relationship Type="http://schemas.openxmlformats.org/officeDocument/2006/relationships/image" Target="/ppt/media/image11.png" Id="R432bde7c1bfb4f7b" /><Relationship Type="http://schemas.openxmlformats.org/officeDocument/2006/relationships/image" Target="/ppt/media/image12.png" Id="R72f13649e2a54d24" /><Relationship Type="http://schemas.openxmlformats.org/officeDocument/2006/relationships/image" Target="/ppt/media/image13.png" Id="Rd4a16bb6dee64ffc" /><Relationship Type="http://schemas.openxmlformats.org/officeDocument/2006/relationships/image" Target="/ppt/media/image14.png" Id="Rfa9a5fae9e55498e" /><Relationship Type="http://schemas.openxmlformats.org/officeDocument/2006/relationships/image" Target="/ppt/media/image15.png" Id="R945ab63ba2b84bdb" /><Relationship Type="http://schemas.openxmlformats.org/officeDocument/2006/relationships/image" Target="/ppt/media/image16.png" Id="Rcaa16c787f0f4b89" /><Relationship Type="http://schemas.openxmlformats.org/officeDocument/2006/relationships/image" Target="/ppt/media/image17.png" Id="R132ed42c53134c2c" /><Relationship Type="http://schemas.openxmlformats.org/officeDocument/2006/relationships/image" Target="/ppt/media/image18.png" Id="R248c53b0675141ed" /><Relationship Type="http://schemas.openxmlformats.org/officeDocument/2006/relationships/image" Target="/ppt/media/image19.png" Id="R953a9d79246f4943" /><Relationship Type="http://schemas.openxmlformats.org/officeDocument/2006/relationships/image" Target="/ppt/media/image20.png" Id="Rf36c90e4a85a4ee9" /><Relationship Type="http://schemas.openxmlformats.org/officeDocument/2006/relationships/notesSlide" Target="/ppt/notesSlides/notesSlide2.xml" Id="R0aaee67dc45047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edf45964114aaa" /><Relationship Type="http://schemas.openxmlformats.org/officeDocument/2006/relationships/image" Target="/ppt/media/image21.png" Id="R3eaecfea3e9e4b39" /><Relationship Type="http://schemas.openxmlformats.org/officeDocument/2006/relationships/notesSlide" Target="/ppt/notesSlides/notesSlide3.xml" Id="R22d4292b601e46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78a1ed04c2846e2" /><Relationship Type="http://schemas.openxmlformats.org/officeDocument/2006/relationships/image" Target="/ppt/media/image22.png" Id="Re619b13aa59c46e6" /><Relationship Type="http://schemas.openxmlformats.org/officeDocument/2006/relationships/image" Target="/ppt/media/image23.png" Id="R87fd09e50e454650" /><Relationship Type="http://schemas.openxmlformats.org/officeDocument/2006/relationships/image" Target="/ppt/media/image24.png" Id="R31aab64a56ae4b79" /><Relationship Type="http://schemas.openxmlformats.org/officeDocument/2006/relationships/image" Target="/ppt/media/image25.png" Id="R2c0672c894554fd1" /><Relationship Type="http://schemas.openxmlformats.org/officeDocument/2006/relationships/image" Target="/ppt/media/image26.png" Id="Rda7e0bd8f6a4405b" /><Relationship Type="http://schemas.openxmlformats.org/officeDocument/2006/relationships/image" Target="/ppt/media/image27.png" Id="Rf60cb36dcd3a4187" /><Relationship Type="http://schemas.openxmlformats.org/officeDocument/2006/relationships/notesSlide" Target="/ppt/notesSlides/notesSlide4.xml" Id="R29e5628f913e47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d6024d2542c4fbc" /><Relationship Type="http://schemas.openxmlformats.org/officeDocument/2006/relationships/image" Target="/ppt/media/image28.png" Id="Rc1cd9bd79e4f493a" /><Relationship Type="http://schemas.openxmlformats.org/officeDocument/2006/relationships/image" Target="/ppt/media/image29.png" Id="R8550ab71a4e74ede" /><Relationship Type="http://schemas.openxmlformats.org/officeDocument/2006/relationships/image" Target="/ppt/media/image30.png" Id="R2ef592042ecb48c9" /><Relationship Type="http://schemas.openxmlformats.org/officeDocument/2006/relationships/image" Target="/ppt/media/image31.png" Id="Rca5577a457ba4343" /><Relationship Type="http://schemas.openxmlformats.org/officeDocument/2006/relationships/image" Target="/ppt/media/image32.png" Id="Rd46cc04d06ca45dd" /><Relationship Type="http://schemas.openxmlformats.org/officeDocument/2006/relationships/image" Target="/ppt/media/image33.png" Id="Rdafc2f8f8d0e42d8" /><Relationship Type="http://schemas.openxmlformats.org/officeDocument/2006/relationships/notesSlide" Target="/ppt/notesSlides/notesSlide5.xml" Id="R8577d2e461624bd5" /></Relationships>
</file>

<file path=ppt/slides/slide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f2a8d988013941f2"/>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4BD932C-9725-4AE7-8CCC-AA4B15FFC55B}"/>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B9A3B16D-27AB-4A05-AD84-B35C9F96CAC1}"/>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1. Knowledge base pipeline</a:t>
            </a:r>
          </a:p>
        </p:txBody>
      </p:sp>
      <p:sp>
        <p:nvSpPr>
          <p:cNvPr id="4" name="">
            <a:extLst xmlns:a="http://schemas.openxmlformats.org/drawingml/2006/main">
              <a:ext uri="{FF2B5EF4-FFF2-40B4-BE49-F238E27FC236}">
                <a16:creationId xmlns:a16="http://schemas.microsoft.com/office/drawing/2014/main" id="{649F8E08-46B0-459D-A775-94E1416C3BEE}"/>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474B21F-CA13-4C03-BB0E-39752F6C9F53}"/>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69EE98BD-CFC0-4A70-9645-55EAD70396D4}"/>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807f4d23bad542d1"/>
          <a:stretch xmlns:a="http://schemas.openxmlformats.org/drawingml/2006/main"/>
        </p:blipFill>
        <p:spPr>
          <a:xfrm xmlns:a="http://schemas.openxmlformats.org/drawingml/2006/main">
            <a:off x="2447925" y="3571875"/>
            <a:ext cx="914400" cy="914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63DEA33-2B6E-44D6-9224-16CF06CC2204}"/>
              </a:ext>
            </a:extLst>
          </p:cNvPr>
          <p:cNvSpPr>
            <a:spLocks xmlns:a="http://schemas.openxmlformats.org/drawingml/2006/main" noGrp="1"/>
          </p:cNvSpPr>
          <p:nvPr/>
        </p:nvSpPr>
        <p:spPr>
          <a:xfrm xmlns:a="http://schemas.openxmlformats.org/drawingml/2006/main">
            <a:off x="809625" y="459105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Upload restaurant PDF</a:t>
            </a:r>
          </a:p>
        </p:txBody>
      </p:sp>
      <p:sp>
        <p:nvSpPr>
          <p:cNvPr id="9" name="">
            <a:extLst xmlns:a="http://schemas.openxmlformats.org/drawingml/2006/main">
              <a:ext uri="{FF2B5EF4-FFF2-40B4-BE49-F238E27FC236}">
                <a16:creationId xmlns:a16="http://schemas.microsoft.com/office/drawing/2014/main" id="{A253E2E7-9784-41E6-A5A7-128CA2AF0A3A}"/>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0" name="">
            <a:extLst xmlns:a="http://schemas.openxmlformats.org/drawingml/2006/main">
              <a:ext uri="{FF2B5EF4-FFF2-40B4-BE49-F238E27FC236}">
                <a16:creationId xmlns:a16="http://schemas.microsoft.com/office/drawing/2014/main" id="{071FECA6-9C4D-46DB-9E7C-197029D8D4DD}"/>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818cd738e4bb4c00"/>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3928E09-5B96-45FC-BB83-6C848E7001E2}"/>
              </a:ext>
            </a:extLst>
          </p:cNvPr>
          <p:cNvSpPr>
            <a:spLocks xmlns:a="http://schemas.openxmlformats.org/drawingml/2006/main" noGrp="1"/>
          </p:cNvSpPr>
          <p:nvPr/>
        </p:nvSpPr>
        <p:spPr>
          <a:xfrm xmlns:a="http://schemas.openxmlformats.org/drawingml/2006/main">
            <a:off x="7048500" y="459105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Store PDF in S3</a:t>
            </a:r>
          </a:p>
        </p:txBody>
      </p:sp>
      <p:sp>
        <p:nvSpPr>
          <p:cNvPr id="13" name="">
            <a:extLst xmlns:a="http://schemas.openxmlformats.org/drawingml/2006/main">
              <a:ext uri="{FF2B5EF4-FFF2-40B4-BE49-F238E27FC236}">
                <a16:creationId xmlns:a16="http://schemas.microsoft.com/office/drawing/2014/main" id="{D3172792-259A-4FA6-93BE-308CA413BF7A}"/>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 name="">
            <a:extLst xmlns:a="http://schemas.openxmlformats.org/drawingml/2006/main">
              <a:ext uri="{FF2B5EF4-FFF2-40B4-BE49-F238E27FC236}">
                <a16:creationId xmlns:a16="http://schemas.microsoft.com/office/drawing/2014/main" id="{4982B49B-E3C5-4496-90BC-B51B3B914B98}"/>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a40e9718e6be4140"/>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6774A445-F5A4-498F-BF5F-E03FF8D6608A}"/>
              </a:ext>
            </a:extLst>
          </p:cNvPr>
          <p:cNvSpPr>
            <a:spLocks xmlns:a="http://schemas.openxmlformats.org/drawingml/2006/main" noGrp="1"/>
          </p:cNvSpPr>
          <p:nvPr/>
        </p:nvSpPr>
        <p:spPr>
          <a:xfrm xmlns:a="http://schemas.openxmlformats.org/drawingml/2006/main">
            <a:off x="13287375" y="459105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Textract reads the PDF</a:t>
            </a:r>
          </a:p>
        </p:txBody>
      </p:sp>
      <p:sp>
        <p:nvSpPr>
          <p:cNvPr id="17" name="">
            <a:extLst xmlns:a="http://schemas.openxmlformats.org/drawingml/2006/main">
              <a:ext uri="{FF2B5EF4-FFF2-40B4-BE49-F238E27FC236}">
                <a16:creationId xmlns:a16="http://schemas.microsoft.com/office/drawing/2014/main" id="{8689109B-B339-4D86-AA39-15B3493CF3AB}"/>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E8356770-D86A-4A82-8CA3-2567A207BD8A}"/>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55FC812D-31C9-4B10-B504-F9E9735A748D}"/>
              </a:ext>
            </a:extLst>
          </p:cNvPr>
          <p:cNvSpPr>
            <a:spLocks xmlns:a="http://schemas.openxmlformats.org/drawingml/2006/main" noGrp="1"/>
          </p:cNvSpPr>
          <p:nvPr/>
        </p:nvSpPr>
        <p:spPr>
          <a:xfrm xmlns:a="http://schemas.openxmlformats.org/drawingml/2006/main">
            <a:off x="14925675"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3205d31f1f2444a1"/>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0914008E-C4AA-47C4-A3A3-53FB8F5D647D}"/>
              </a:ext>
            </a:extLst>
          </p:cNvPr>
          <p:cNvSpPr>
            <a:spLocks xmlns:a="http://schemas.openxmlformats.org/drawingml/2006/main" noGrp="1"/>
          </p:cNvSpPr>
          <p:nvPr/>
        </p:nvSpPr>
        <p:spPr>
          <a:xfrm xmlns:a="http://schemas.openxmlformats.org/drawingml/2006/main">
            <a:off x="13287375" y="754380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Split text into chunks</a:t>
            </a:r>
          </a:p>
        </p:txBody>
      </p:sp>
      <p:sp>
        <p:nvSpPr>
          <p:cNvPr id="22" name="">
            <a:extLst xmlns:a="http://schemas.openxmlformats.org/drawingml/2006/main">
              <a:ext uri="{FF2B5EF4-FFF2-40B4-BE49-F238E27FC236}">
                <a16:creationId xmlns:a16="http://schemas.microsoft.com/office/drawing/2014/main" id="{B6E4557D-038D-4E47-9C4F-2E5D3E8B5F35}"/>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3" name="">
            <a:extLst xmlns:a="http://schemas.openxmlformats.org/drawingml/2006/main">
              <a:ext uri="{FF2B5EF4-FFF2-40B4-BE49-F238E27FC236}">
                <a16:creationId xmlns:a16="http://schemas.microsoft.com/office/drawing/2014/main" id="{996CD153-FBF9-4316-A6FC-67A9699BF2A1}"/>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f8bc0fecfa1049cc"/>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F50EDADD-5767-4A78-9E8B-BD5A27E8675A}"/>
              </a:ext>
            </a:extLst>
          </p:cNvPr>
          <p:cNvSpPr>
            <a:spLocks xmlns:a="http://schemas.openxmlformats.org/drawingml/2006/main" noGrp="1"/>
          </p:cNvSpPr>
          <p:nvPr/>
        </p:nvSpPr>
        <p:spPr>
          <a:xfrm xmlns:a="http://schemas.openxmlformats.org/drawingml/2006/main">
            <a:off x="7048500" y="754380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Amazon Titan</a:t>
            </a:r>
          </a:p>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Text Embeddings V2</a:t>
            </a:r>
          </a:p>
        </p:txBody>
      </p:sp>
      <p:sp>
        <p:nvSpPr>
          <p:cNvPr id="26" name="">
            <a:extLst xmlns:a="http://schemas.openxmlformats.org/drawingml/2006/main">
              <a:ext uri="{FF2B5EF4-FFF2-40B4-BE49-F238E27FC236}">
                <a16:creationId xmlns:a16="http://schemas.microsoft.com/office/drawing/2014/main" id="{DD6E8D51-CC66-4DBD-B169-FD4AD607034F}"/>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7" name="">
            <a:extLst xmlns:a="http://schemas.openxmlformats.org/drawingml/2006/main">
              <a:ext uri="{FF2B5EF4-FFF2-40B4-BE49-F238E27FC236}">
                <a16:creationId xmlns:a16="http://schemas.microsoft.com/office/drawing/2014/main" id="{40422EF2-F103-49BC-A873-BF9B6AAA465A}"/>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cada1252090a44ea"/>
          <a:stretch xmlns:a="http://schemas.openxmlformats.org/drawingml/2006/main"/>
        </p:blipFill>
        <p:spPr>
          <a:xfrm xmlns:a="http://schemas.openxmlformats.org/drawingml/2006/main">
            <a:off x="1600200" y="6769894"/>
            <a:ext cx="2238375" cy="595313"/>
          </a:xfrm>
          <a:prstGeom xmlns:a="http://schemas.openxmlformats.org/drawingml/2006/main" prst="rect">
            <a:avLst/>
          </a:prstGeom>
        </p:spPr>
      </p:pic>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2ae2d2b8ccf04898"/>
          <a:stretch xmlns:a="http://schemas.openxmlformats.org/drawingml/2006/main"/>
        </p:blipFill>
        <p:spPr>
          <a:xfrm xmlns:a="http://schemas.openxmlformats.org/drawingml/2006/main">
            <a:off x="4029075" y="6767232"/>
            <a:ext cx="762000" cy="600635"/>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22016B49-8EC8-4E06-9105-3C5F6F1432A8}"/>
              </a:ext>
            </a:extLst>
          </p:cNvPr>
          <p:cNvSpPr>
            <a:spLocks xmlns:a="http://schemas.openxmlformats.org/drawingml/2006/main" noGrp="1"/>
          </p:cNvSpPr>
          <p:nvPr/>
        </p:nvSpPr>
        <p:spPr>
          <a:xfrm xmlns:a="http://schemas.openxmlformats.org/drawingml/2006/main">
            <a:off x="809625" y="754380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Store embeddings</a:t>
            </a:r>
          </a:p>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in Qdrant</a:t>
            </a:r>
          </a:p>
        </p:txBody>
      </p:sp>
      <p:cxnSp>
        <p:nvCxnSpPr>
          <p:cNvPr id="66" name=""/>
          <p:cNvCxnSpPr>
            <a:stCxn xmlns:a="http://schemas.openxmlformats.org/drawingml/2006/main" id="5"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7"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8" name=""/>
          <p:cNvCxnSpPr>
            <a:stCxn xmlns:a="http://schemas.openxmlformats.org/drawingml/2006/main" id="13"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9" name=""/>
          <p:cNvCxnSpPr>
            <a:stCxn xmlns:a="http://schemas.openxmlformats.org/drawingml/2006/main" id="17" idx="1"/>
            <a:endCxn xmlns:a="http://schemas.openxmlformats.org/drawingml/2006/main" id="22"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70" name=""/>
          <p:cNvCxnSpPr>
            <a:stCxn xmlns:a="http://schemas.openxmlformats.org/drawingml/2006/main" id="22" idx="1"/>
            <a:endCxn xmlns:a="http://schemas.openxmlformats.org/drawingml/2006/main" id="26"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Tree>
    <p:extLst>
      <p:ext uri="{BB962C8B-B14F-4D97-AF65-F5344CB8AC3E}">
        <p14:creationId xmlns:p14="http://schemas.microsoft.com/office/powerpoint/2010/main" val="597184498"/>
      </p:ext>
    </p:extLst>
  </p:cSld>
</p:sld>
</file>

<file path=ppt/slides/slide2.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85a0e50c0619431e"/>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132EE72-80CB-4A27-A1AA-535915144EC8}"/>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8E3D9C87-ACC4-4AE3-8ABA-1DC1AEE1D5A8}"/>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2. Complete voice conversation</a:t>
            </a:r>
          </a:p>
        </p:txBody>
      </p:sp>
      <p:sp>
        <p:nvSpPr>
          <p:cNvPr id="4" name="">
            <a:extLst xmlns:a="http://schemas.openxmlformats.org/drawingml/2006/main">
              <a:ext uri="{FF2B5EF4-FFF2-40B4-BE49-F238E27FC236}">
                <a16:creationId xmlns:a16="http://schemas.microsoft.com/office/drawing/2014/main" id="{E7B8CA29-DE66-49BD-9441-61AC5D14AAC3}"/>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DB6DF51-C843-4FE0-9CCF-79963F5C4FCA}"/>
              </a:ext>
            </a:extLst>
          </p:cNvPr>
          <p:cNvSpPr>
            <a:spLocks xmlns:a="http://schemas.openxmlformats.org/drawingml/2006/main" noGrp="1"/>
          </p:cNvSpPr>
          <p:nvPr/>
        </p:nvSpPr>
        <p:spPr>
          <a:xfrm xmlns:a="http://schemas.openxmlformats.org/drawingml/2006/main">
            <a:off x="571500" y="2381250"/>
            <a:ext cx="4572000" cy="11430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6" name="">
            <a:extLst xmlns:a="http://schemas.openxmlformats.org/drawingml/2006/main">
              <a:ext uri="{FF2B5EF4-FFF2-40B4-BE49-F238E27FC236}">
                <a16:creationId xmlns:a16="http://schemas.microsoft.com/office/drawing/2014/main" id="{A4320AA1-2404-4FA5-AFCF-0D2EBB58C51A}"/>
              </a:ext>
            </a:extLst>
          </p:cNvPr>
          <p:cNvSpPr>
            <a:spLocks xmlns:a="http://schemas.openxmlformats.org/drawingml/2006/main" noGrp="1"/>
          </p:cNvSpPr>
          <p:nvPr/>
        </p:nvSpPr>
        <p:spPr>
          <a:xfrm xmlns:a="http://schemas.openxmlformats.org/drawingml/2006/main">
            <a:off x="762000" y="257175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d93791b5fac44e8e"/>
          <a:stretch xmlns:a="http://schemas.openxmlformats.org/drawingml/2006/main"/>
        </p:blipFill>
        <p:spPr>
          <a:xfrm xmlns:a="http://schemas.openxmlformats.org/drawingml/2006/main">
            <a:off x="762000" y="2571750"/>
            <a:ext cx="552450" cy="5524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332B72F-C05C-4EF4-8073-C056E23F3CD5}"/>
              </a:ext>
            </a:extLst>
          </p:cNvPr>
          <p:cNvSpPr>
            <a:spLocks xmlns:a="http://schemas.openxmlformats.org/drawingml/2006/main" noGrp="1"/>
          </p:cNvSpPr>
          <p:nvPr/>
        </p:nvSpPr>
        <p:spPr>
          <a:xfrm xmlns:a="http://schemas.openxmlformats.org/drawingml/2006/main">
            <a:off x="1514475" y="2590800"/>
            <a:ext cx="3409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FastAPI creates session</a:t>
            </a:r>
          </a:p>
        </p:txBody>
      </p:sp>
      <p:sp>
        <p:nvSpPr>
          <p:cNvPr id="9" name="">
            <a:extLst xmlns:a="http://schemas.openxmlformats.org/drawingml/2006/main">
              <a:ext uri="{FF2B5EF4-FFF2-40B4-BE49-F238E27FC236}">
                <a16:creationId xmlns:a16="http://schemas.microsoft.com/office/drawing/2014/main" id="{3CCDA3D7-5ED4-4F9C-B6E7-05B1DA4FBDBE}"/>
              </a:ext>
            </a:extLst>
          </p:cNvPr>
          <p:cNvSpPr>
            <a:spLocks xmlns:a="http://schemas.openxmlformats.org/drawingml/2006/main" noGrp="1"/>
          </p:cNvSpPr>
          <p:nvPr/>
        </p:nvSpPr>
        <p:spPr>
          <a:xfrm xmlns:a="http://schemas.openxmlformats.org/drawingml/2006/main">
            <a:off x="6762750" y="2381250"/>
            <a:ext cx="4572000" cy="11430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432bde7c1bfb4f7b"/>
          <a:stretch xmlns:a="http://schemas.openxmlformats.org/drawingml/2006/main"/>
        </p:blipFill>
        <p:spPr>
          <a:xfrm xmlns:a="http://schemas.openxmlformats.org/drawingml/2006/main">
            <a:off x="6953250" y="2571750"/>
            <a:ext cx="552450" cy="5524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458F732-87AE-4D0E-B57C-C2086134BAC2}"/>
              </a:ext>
            </a:extLst>
          </p:cNvPr>
          <p:cNvSpPr>
            <a:spLocks xmlns:a="http://schemas.openxmlformats.org/drawingml/2006/main" noGrp="1"/>
          </p:cNvSpPr>
          <p:nvPr/>
        </p:nvSpPr>
        <p:spPr>
          <a:xfrm xmlns:a="http://schemas.openxmlformats.org/drawingml/2006/main">
            <a:off x="7705725" y="2590800"/>
            <a:ext cx="3409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Chime SDK</a:t>
            </a:r>
          </a:p>
        </p:txBody>
      </p:sp>
      <p:sp>
        <p:nvSpPr>
          <p:cNvPr id="12" name="">
            <a:extLst xmlns:a="http://schemas.openxmlformats.org/drawingml/2006/main">
              <a:ext uri="{FF2B5EF4-FFF2-40B4-BE49-F238E27FC236}">
                <a16:creationId xmlns:a16="http://schemas.microsoft.com/office/drawing/2014/main" id="{1C3AC392-FB17-418A-9942-7E506536F412}"/>
              </a:ext>
            </a:extLst>
          </p:cNvPr>
          <p:cNvSpPr>
            <a:spLocks xmlns:a="http://schemas.openxmlformats.org/drawingml/2006/main" noGrp="1"/>
          </p:cNvSpPr>
          <p:nvPr/>
        </p:nvSpPr>
        <p:spPr>
          <a:xfrm xmlns:a="http://schemas.openxmlformats.org/drawingml/2006/main">
            <a:off x="12954000" y="2381250"/>
            <a:ext cx="4762500" cy="11430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72f13649e2a54d24"/>
          <a:stretch xmlns:a="http://schemas.openxmlformats.org/drawingml/2006/main"/>
        </p:blipFill>
        <p:spPr>
          <a:xfrm xmlns:a="http://schemas.openxmlformats.org/drawingml/2006/main">
            <a:off x="13144500" y="2571750"/>
            <a:ext cx="552450" cy="5524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387AF7B9-D270-4773-8AC4-B79DC90C1430}"/>
              </a:ext>
            </a:extLst>
          </p:cNvPr>
          <p:cNvSpPr>
            <a:spLocks xmlns:a="http://schemas.openxmlformats.org/drawingml/2006/main" noGrp="1"/>
          </p:cNvSpPr>
          <p:nvPr/>
        </p:nvSpPr>
        <p:spPr>
          <a:xfrm xmlns:a="http://schemas.openxmlformats.org/drawingml/2006/main">
            <a:off x="13896975" y="2590800"/>
            <a:ext cx="3600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Browser joins meeting</a:t>
            </a:r>
          </a:p>
        </p:txBody>
      </p:sp>
      <p:cxnSp>
        <p:nvCxnSpPr>
          <p:cNvPr id="74" name=""/>
          <p:cNvCxnSpPr>
            <a:stCxn xmlns:a="http://schemas.openxmlformats.org/drawingml/2006/main" id="5" idx="3"/>
            <a:endCxn xmlns:a="http://schemas.openxmlformats.org/drawingml/2006/main" id="9" idx="1"/>
          </p:cNvCxnSpPr>
          <p:nvPr/>
        </p:nvCxnSpPr>
        <p:spPr>
          <a:xfrm xmlns:a="http://schemas.openxmlformats.org/drawingml/2006/main">
            <a:off x="5143500" y="2952750"/>
            <a:ext cx="1619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75" name=""/>
          <p:cNvCxnSpPr>
            <a:stCxn xmlns:a="http://schemas.openxmlformats.org/drawingml/2006/main" id="9" idx="3"/>
            <a:endCxn xmlns:a="http://schemas.openxmlformats.org/drawingml/2006/main" id="12" idx="1"/>
          </p:cNvCxnSpPr>
          <p:nvPr/>
        </p:nvCxnSpPr>
        <p:spPr>
          <a:xfrm xmlns:a="http://schemas.openxmlformats.org/drawingml/2006/main">
            <a:off x="11334750" y="2952750"/>
            <a:ext cx="1619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3A35C0D4-FAE0-47D2-B88E-B415F7BCE796}"/>
              </a:ext>
            </a:extLst>
          </p:cNvPr>
          <p:cNvSpPr>
            <a:spLocks xmlns:a="http://schemas.openxmlformats.org/drawingml/2006/main" noGrp="1"/>
          </p:cNvSpPr>
          <p:nvPr/>
        </p:nvSpPr>
        <p:spPr>
          <a:xfrm xmlns:a="http://schemas.openxmlformats.org/drawingml/2006/main">
            <a:off x="571500" y="419100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BD2E324E-50D0-455D-9087-BEE6BC935BBB}"/>
              </a:ext>
            </a:extLst>
          </p:cNvPr>
          <p:cNvSpPr>
            <a:spLocks xmlns:a="http://schemas.openxmlformats.org/drawingml/2006/main" noGrp="1"/>
          </p:cNvSpPr>
          <p:nvPr/>
        </p:nvSpPr>
        <p:spPr>
          <a:xfrm xmlns:a="http://schemas.openxmlformats.org/drawingml/2006/main">
            <a:off x="762000" y="4362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01</a:t>
            </a:r>
          </a:p>
        </p:txBody>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d4a16bb6dee64ffc"/>
          <a:stretch xmlns:a="http://schemas.openxmlformats.org/drawingml/2006/main"/>
        </p:blipFill>
        <p:spPr>
          <a:xfrm xmlns:a="http://schemas.openxmlformats.org/drawingml/2006/main">
            <a:off x="1981200" y="4391025"/>
            <a:ext cx="762000" cy="7620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504FBE1A-0C41-4957-AC4F-674EEF32E59B}"/>
              </a:ext>
            </a:extLst>
          </p:cNvPr>
          <p:cNvSpPr>
            <a:spLocks xmlns:a="http://schemas.openxmlformats.org/drawingml/2006/main" noGrp="1"/>
          </p:cNvSpPr>
          <p:nvPr/>
        </p:nvSpPr>
        <p:spPr>
          <a:xfrm xmlns:a="http://schemas.openxmlformats.org/drawingml/2006/main">
            <a:off x="762000" y="539115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Customer speaks</a:t>
            </a:r>
          </a:p>
        </p:txBody>
      </p:sp>
      <p:sp>
        <p:nvSpPr>
          <p:cNvPr id="21" name="">
            <a:extLst xmlns:a="http://schemas.openxmlformats.org/drawingml/2006/main">
              <a:ext uri="{FF2B5EF4-FFF2-40B4-BE49-F238E27FC236}">
                <a16:creationId xmlns:a16="http://schemas.microsoft.com/office/drawing/2014/main" id="{45F84D2B-F32C-417E-A693-3F77BF16BE95}"/>
              </a:ext>
            </a:extLst>
          </p:cNvPr>
          <p:cNvSpPr>
            <a:spLocks xmlns:a="http://schemas.openxmlformats.org/drawingml/2006/main" noGrp="1"/>
          </p:cNvSpPr>
          <p:nvPr/>
        </p:nvSpPr>
        <p:spPr>
          <a:xfrm xmlns:a="http://schemas.openxmlformats.org/drawingml/2006/main">
            <a:off x="5095875" y="419100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2" name="">
            <a:extLst xmlns:a="http://schemas.openxmlformats.org/drawingml/2006/main">
              <a:ext uri="{FF2B5EF4-FFF2-40B4-BE49-F238E27FC236}">
                <a16:creationId xmlns:a16="http://schemas.microsoft.com/office/drawing/2014/main" id="{6F9A102A-5599-49D0-8C7C-1F2893074BFA}"/>
              </a:ext>
            </a:extLst>
          </p:cNvPr>
          <p:cNvSpPr>
            <a:spLocks xmlns:a="http://schemas.openxmlformats.org/drawingml/2006/main" noGrp="1"/>
          </p:cNvSpPr>
          <p:nvPr/>
        </p:nvSpPr>
        <p:spPr>
          <a:xfrm xmlns:a="http://schemas.openxmlformats.org/drawingml/2006/main">
            <a:off x="5286375" y="4362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02</a:t>
            </a:r>
          </a:p>
        </p:txBody>
      </p:sp>
      <p:sp>
        <p:nvSpPr>
          <p:cNvPr id="23" name="">
            <a:extLst xmlns:a="http://schemas.openxmlformats.org/drawingml/2006/main">
              <a:ext uri="{FF2B5EF4-FFF2-40B4-BE49-F238E27FC236}">
                <a16:creationId xmlns:a16="http://schemas.microsoft.com/office/drawing/2014/main" id="{30AA8EA3-C4A7-4E60-969A-E9497934A7FA}"/>
              </a:ext>
            </a:extLst>
          </p:cNvPr>
          <p:cNvSpPr>
            <a:spLocks xmlns:a="http://schemas.openxmlformats.org/drawingml/2006/main" noGrp="1"/>
          </p:cNvSpPr>
          <p:nvPr/>
        </p:nvSpPr>
        <p:spPr>
          <a:xfrm xmlns:a="http://schemas.openxmlformats.org/drawingml/2006/main">
            <a:off x="6505575" y="4391025"/>
            <a:ext cx="762000" cy="7620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fa9a5fae9e55498e"/>
          <a:stretch xmlns:a="http://schemas.openxmlformats.org/drawingml/2006/main"/>
        </p:blipFill>
        <p:spPr>
          <a:xfrm xmlns:a="http://schemas.openxmlformats.org/drawingml/2006/main">
            <a:off x="6505575" y="4391025"/>
            <a:ext cx="762000" cy="7620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1D244402-D055-4314-9B5D-5974F38DFC77}"/>
              </a:ext>
            </a:extLst>
          </p:cNvPr>
          <p:cNvSpPr>
            <a:spLocks xmlns:a="http://schemas.openxmlformats.org/drawingml/2006/main" noGrp="1"/>
          </p:cNvSpPr>
          <p:nvPr/>
        </p:nvSpPr>
        <p:spPr>
          <a:xfrm xmlns:a="http://schemas.openxmlformats.org/drawingml/2006/main">
            <a:off x="5286375" y="539115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Upload to FastAPI</a:t>
            </a:r>
          </a:p>
        </p:txBody>
      </p:sp>
      <p:sp>
        <p:nvSpPr>
          <p:cNvPr id="26" name="">
            <a:extLst xmlns:a="http://schemas.openxmlformats.org/drawingml/2006/main">
              <a:ext uri="{FF2B5EF4-FFF2-40B4-BE49-F238E27FC236}">
                <a16:creationId xmlns:a16="http://schemas.microsoft.com/office/drawing/2014/main" id="{5FB76B59-4CE9-4883-A7D0-98A6EE280690}"/>
              </a:ext>
            </a:extLst>
          </p:cNvPr>
          <p:cNvSpPr>
            <a:spLocks xmlns:a="http://schemas.openxmlformats.org/drawingml/2006/main" noGrp="1"/>
          </p:cNvSpPr>
          <p:nvPr/>
        </p:nvSpPr>
        <p:spPr>
          <a:xfrm xmlns:a="http://schemas.openxmlformats.org/drawingml/2006/main">
            <a:off x="9620250" y="419100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7" name="">
            <a:extLst xmlns:a="http://schemas.openxmlformats.org/drawingml/2006/main">
              <a:ext uri="{FF2B5EF4-FFF2-40B4-BE49-F238E27FC236}">
                <a16:creationId xmlns:a16="http://schemas.microsoft.com/office/drawing/2014/main" id="{1D8096C0-6A64-4341-931D-0F19B9998B3E}"/>
              </a:ext>
            </a:extLst>
          </p:cNvPr>
          <p:cNvSpPr>
            <a:spLocks xmlns:a="http://schemas.openxmlformats.org/drawingml/2006/main" noGrp="1"/>
          </p:cNvSpPr>
          <p:nvPr/>
        </p:nvSpPr>
        <p:spPr>
          <a:xfrm xmlns:a="http://schemas.openxmlformats.org/drawingml/2006/main">
            <a:off x="9810750" y="4362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03</a:t>
            </a:r>
          </a:p>
        </p:txBody>
      </p:sp>
      <p:pic>
        <p:nvPicPr>
          <p:cNvPr id="87" name=""/>
          <p:cNvPicPr>
            <a:picLocks xmlns:a="http://schemas.openxmlformats.org/drawingml/2006/main" noChangeAspect="1"/>
          </p:cNvPicPr>
          <p:nvPr/>
        </p:nvPicPr>
        <p:blipFill>
          <a:blip xmlns:r="http://schemas.openxmlformats.org/officeDocument/2006/relationships" xmlns:a="http://schemas.openxmlformats.org/drawingml/2006/main" r:embed="R945ab63ba2b84bdb"/>
          <a:stretch xmlns:a="http://schemas.openxmlformats.org/drawingml/2006/main"/>
        </p:blipFill>
        <p:spPr>
          <a:xfrm xmlns:a="http://schemas.openxmlformats.org/drawingml/2006/main">
            <a:off x="11029950" y="4391025"/>
            <a:ext cx="762000" cy="7620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866D374A-57EF-458A-A7FF-F649D44E02E1}"/>
              </a:ext>
            </a:extLst>
          </p:cNvPr>
          <p:cNvSpPr>
            <a:spLocks xmlns:a="http://schemas.openxmlformats.org/drawingml/2006/main" noGrp="1"/>
          </p:cNvSpPr>
          <p:nvPr/>
        </p:nvSpPr>
        <p:spPr>
          <a:xfrm xmlns:a="http://schemas.openxmlformats.org/drawingml/2006/main">
            <a:off x="9810750" y="539115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Transcribe to text</a:t>
            </a:r>
          </a:p>
        </p:txBody>
      </p:sp>
      <p:sp>
        <p:nvSpPr>
          <p:cNvPr id="30" name="">
            <a:extLst xmlns:a="http://schemas.openxmlformats.org/drawingml/2006/main">
              <a:ext uri="{FF2B5EF4-FFF2-40B4-BE49-F238E27FC236}">
                <a16:creationId xmlns:a16="http://schemas.microsoft.com/office/drawing/2014/main" id="{6C17C511-1D05-476A-91C2-B6B4C0E45DA6}"/>
              </a:ext>
            </a:extLst>
          </p:cNvPr>
          <p:cNvSpPr>
            <a:spLocks xmlns:a="http://schemas.openxmlformats.org/drawingml/2006/main" noGrp="1"/>
          </p:cNvSpPr>
          <p:nvPr/>
        </p:nvSpPr>
        <p:spPr>
          <a:xfrm xmlns:a="http://schemas.openxmlformats.org/drawingml/2006/main">
            <a:off x="14144625" y="419100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1" name="">
            <a:extLst xmlns:a="http://schemas.openxmlformats.org/drawingml/2006/main">
              <a:ext uri="{FF2B5EF4-FFF2-40B4-BE49-F238E27FC236}">
                <a16:creationId xmlns:a16="http://schemas.microsoft.com/office/drawing/2014/main" id="{043643C7-A1C1-4C18-8561-C9D3F2F68CA9}"/>
              </a:ext>
            </a:extLst>
          </p:cNvPr>
          <p:cNvSpPr>
            <a:spLocks xmlns:a="http://schemas.openxmlformats.org/drawingml/2006/main" noGrp="1"/>
          </p:cNvSpPr>
          <p:nvPr/>
        </p:nvSpPr>
        <p:spPr>
          <a:xfrm xmlns:a="http://schemas.openxmlformats.org/drawingml/2006/main">
            <a:off x="14335125" y="4362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04</a:t>
            </a:r>
          </a:p>
        </p:txBody>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caa16c787f0f4b89"/>
          <a:stretch xmlns:a="http://schemas.openxmlformats.org/drawingml/2006/main"/>
        </p:blipFill>
        <p:spPr>
          <a:xfrm xmlns:a="http://schemas.openxmlformats.org/drawingml/2006/main">
            <a:off x="15554325" y="4391025"/>
            <a:ext cx="762000" cy="76200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F90406D8-CD51-4044-BE6E-C7D8BEC6CB2A}"/>
              </a:ext>
            </a:extLst>
          </p:cNvPr>
          <p:cNvSpPr>
            <a:spLocks xmlns:a="http://schemas.openxmlformats.org/drawingml/2006/main" noGrp="1"/>
          </p:cNvSpPr>
          <p:nvPr/>
        </p:nvSpPr>
        <p:spPr>
          <a:xfrm xmlns:a="http://schemas.openxmlformats.org/drawingml/2006/main">
            <a:off x="14335125" y="539115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Send transcript to chat</a:t>
            </a:r>
          </a:p>
        </p:txBody>
      </p:sp>
      <p:sp>
        <p:nvSpPr>
          <p:cNvPr id="34" name="">
            <a:extLst xmlns:a="http://schemas.openxmlformats.org/drawingml/2006/main">
              <a:ext uri="{FF2B5EF4-FFF2-40B4-BE49-F238E27FC236}">
                <a16:creationId xmlns:a16="http://schemas.microsoft.com/office/drawing/2014/main" id="{F3E9316D-9747-4CDD-A42F-67EF758D734D}"/>
              </a:ext>
            </a:extLst>
          </p:cNvPr>
          <p:cNvSpPr>
            <a:spLocks xmlns:a="http://schemas.openxmlformats.org/drawingml/2006/main" noGrp="1"/>
          </p:cNvSpPr>
          <p:nvPr/>
        </p:nvSpPr>
        <p:spPr>
          <a:xfrm xmlns:a="http://schemas.openxmlformats.org/drawingml/2006/main">
            <a:off x="14144625" y="676275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5" name="">
            <a:extLst xmlns:a="http://schemas.openxmlformats.org/drawingml/2006/main">
              <a:ext uri="{FF2B5EF4-FFF2-40B4-BE49-F238E27FC236}">
                <a16:creationId xmlns:a16="http://schemas.microsoft.com/office/drawing/2014/main" id="{84C701E7-61EE-44F6-A34A-4C244E36BA2F}"/>
              </a:ext>
            </a:extLst>
          </p:cNvPr>
          <p:cNvSpPr>
            <a:spLocks xmlns:a="http://schemas.openxmlformats.org/drawingml/2006/main" noGrp="1"/>
          </p:cNvSpPr>
          <p:nvPr/>
        </p:nvSpPr>
        <p:spPr>
          <a:xfrm xmlns:a="http://schemas.openxmlformats.org/drawingml/2006/main">
            <a:off x="14335125" y="69342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05</a:t>
            </a:r>
          </a:p>
        </p:txBody>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132ed42c53134c2c"/>
          <a:stretch xmlns:a="http://schemas.openxmlformats.org/drawingml/2006/main"/>
        </p:blipFill>
        <p:spPr>
          <a:xfrm xmlns:a="http://schemas.openxmlformats.org/drawingml/2006/main">
            <a:off x="15554325" y="6962775"/>
            <a:ext cx="762000" cy="762000"/>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C04112BE-1276-4B73-BB40-42337F2150EB}"/>
              </a:ext>
            </a:extLst>
          </p:cNvPr>
          <p:cNvSpPr>
            <a:spLocks xmlns:a="http://schemas.openxmlformats.org/drawingml/2006/main" noGrp="1"/>
          </p:cNvSpPr>
          <p:nvPr/>
        </p:nvSpPr>
        <p:spPr>
          <a:xfrm xmlns:a="http://schemas.openxmlformats.org/drawingml/2006/main">
            <a:off x="14335125" y="796290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Bedrock + tools</a:t>
            </a:r>
          </a:p>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Optional Guardrails</a:t>
            </a:r>
          </a:p>
        </p:txBody>
      </p:sp>
      <p:sp>
        <p:nvSpPr>
          <p:cNvPr id="38" name="">
            <a:extLst xmlns:a="http://schemas.openxmlformats.org/drawingml/2006/main">
              <a:ext uri="{FF2B5EF4-FFF2-40B4-BE49-F238E27FC236}">
                <a16:creationId xmlns:a16="http://schemas.microsoft.com/office/drawing/2014/main" id="{FFACF438-F516-4C4A-8A42-20268D98D5B0}"/>
              </a:ext>
            </a:extLst>
          </p:cNvPr>
          <p:cNvSpPr>
            <a:spLocks xmlns:a="http://schemas.openxmlformats.org/drawingml/2006/main" noGrp="1"/>
          </p:cNvSpPr>
          <p:nvPr/>
        </p:nvSpPr>
        <p:spPr>
          <a:xfrm xmlns:a="http://schemas.openxmlformats.org/drawingml/2006/main">
            <a:off x="9620250" y="676275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9" name="">
            <a:extLst xmlns:a="http://schemas.openxmlformats.org/drawingml/2006/main">
              <a:ext uri="{FF2B5EF4-FFF2-40B4-BE49-F238E27FC236}">
                <a16:creationId xmlns:a16="http://schemas.microsoft.com/office/drawing/2014/main" id="{D8E94328-FD82-4BCA-BCD8-6FC53E405720}"/>
              </a:ext>
            </a:extLst>
          </p:cNvPr>
          <p:cNvSpPr>
            <a:spLocks xmlns:a="http://schemas.openxmlformats.org/drawingml/2006/main" noGrp="1"/>
          </p:cNvSpPr>
          <p:nvPr/>
        </p:nvSpPr>
        <p:spPr>
          <a:xfrm xmlns:a="http://schemas.openxmlformats.org/drawingml/2006/main">
            <a:off x="9810750" y="69342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06</a:t>
            </a:r>
          </a:p>
        </p:txBody>
      </p:sp>
      <p:sp>
        <p:nvSpPr>
          <p:cNvPr id="40" name="">
            <a:extLst xmlns:a="http://schemas.openxmlformats.org/drawingml/2006/main">
              <a:ext uri="{FF2B5EF4-FFF2-40B4-BE49-F238E27FC236}">
                <a16:creationId xmlns:a16="http://schemas.microsoft.com/office/drawing/2014/main" id="{3B9488D2-18C2-4654-A62E-BEA0B33967AB}"/>
              </a:ext>
            </a:extLst>
          </p:cNvPr>
          <p:cNvSpPr>
            <a:spLocks xmlns:a="http://schemas.openxmlformats.org/drawingml/2006/main" noGrp="1"/>
          </p:cNvSpPr>
          <p:nvPr/>
        </p:nvSpPr>
        <p:spPr>
          <a:xfrm xmlns:a="http://schemas.openxmlformats.org/drawingml/2006/main">
            <a:off x="11029950" y="6962775"/>
            <a:ext cx="762000" cy="7620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248c53b0675141ed"/>
          <a:stretch xmlns:a="http://schemas.openxmlformats.org/drawingml/2006/main"/>
        </p:blipFill>
        <p:spPr>
          <a:xfrm xmlns:a="http://schemas.openxmlformats.org/drawingml/2006/main">
            <a:off x="11029950" y="6962775"/>
            <a:ext cx="762000" cy="762000"/>
          </a:xfrm>
          <a:prstGeom xmlns:a="http://schemas.openxmlformats.org/drawingml/2006/main" prst="rect">
            <a:avLst/>
          </a:prstGeom>
        </p:spPr>
      </p:pic>
      <p:sp>
        <p:nvSpPr>
          <p:cNvPr id="42" name="">
            <a:extLst xmlns:a="http://schemas.openxmlformats.org/drawingml/2006/main">
              <a:ext uri="{FF2B5EF4-FFF2-40B4-BE49-F238E27FC236}">
                <a16:creationId xmlns:a16="http://schemas.microsoft.com/office/drawing/2014/main" id="{392292BA-DDC6-4109-9FF5-C7CA861BBD3F}"/>
              </a:ext>
            </a:extLst>
          </p:cNvPr>
          <p:cNvSpPr>
            <a:spLocks xmlns:a="http://schemas.openxmlformats.org/drawingml/2006/main" noGrp="1"/>
          </p:cNvSpPr>
          <p:nvPr/>
        </p:nvSpPr>
        <p:spPr>
          <a:xfrm xmlns:a="http://schemas.openxmlformats.org/drawingml/2006/main">
            <a:off x="9810750" y="796290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Return answer text</a:t>
            </a:r>
          </a:p>
        </p:txBody>
      </p:sp>
      <p:sp>
        <p:nvSpPr>
          <p:cNvPr id="43" name="">
            <a:extLst xmlns:a="http://schemas.openxmlformats.org/drawingml/2006/main">
              <a:ext uri="{FF2B5EF4-FFF2-40B4-BE49-F238E27FC236}">
                <a16:creationId xmlns:a16="http://schemas.microsoft.com/office/drawing/2014/main" id="{EB81CD6E-595D-4E34-BB3A-87DE6CD44DEC}"/>
              </a:ext>
            </a:extLst>
          </p:cNvPr>
          <p:cNvSpPr>
            <a:spLocks xmlns:a="http://schemas.openxmlformats.org/drawingml/2006/main" noGrp="1"/>
          </p:cNvSpPr>
          <p:nvPr/>
        </p:nvSpPr>
        <p:spPr>
          <a:xfrm xmlns:a="http://schemas.openxmlformats.org/drawingml/2006/main">
            <a:off x="5095875" y="676275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44" name="">
            <a:extLst xmlns:a="http://schemas.openxmlformats.org/drawingml/2006/main">
              <a:ext uri="{FF2B5EF4-FFF2-40B4-BE49-F238E27FC236}">
                <a16:creationId xmlns:a16="http://schemas.microsoft.com/office/drawing/2014/main" id="{696E9BEF-E3FF-459D-B9B7-E6464489DDC4}"/>
              </a:ext>
            </a:extLst>
          </p:cNvPr>
          <p:cNvSpPr>
            <a:spLocks xmlns:a="http://schemas.openxmlformats.org/drawingml/2006/main" noGrp="1"/>
          </p:cNvSpPr>
          <p:nvPr/>
        </p:nvSpPr>
        <p:spPr>
          <a:xfrm xmlns:a="http://schemas.openxmlformats.org/drawingml/2006/main">
            <a:off x="5286375" y="69342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07</a:t>
            </a:r>
          </a:p>
        </p:txBody>
      </p:sp>
      <p:pic>
        <p:nvPicPr>
          <p:cNvPr id="104" name=""/>
          <p:cNvPicPr>
            <a:picLocks xmlns:a="http://schemas.openxmlformats.org/drawingml/2006/main" noChangeAspect="1"/>
          </p:cNvPicPr>
          <p:nvPr/>
        </p:nvPicPr>
        <p:blipFill>
          <a:blip xmlns:r="http://schemas.openxmlformats.org/officeDocument/2006/relationships" xmlns:a="http://schemas.openxmlformats.org/drawingml/2006/main" r:embed="R953a9d79246f4943"/>
          <a:stretch xmlns:a="http://schemas.openxmlformats.org/drawingml/2006/main"/>
        </p:blipFill>
        <p:spPr>
          <a:xfrm xmlns:a="http://schemas.openxmlformats.org/drawingml/2006/main">
            <a:off x="6505575" y="6962775"/>
            <a:ext cx="762000" cy="762000"/>
          </a:xfrm>
          <a:prstGeom xmlns:a="http://schemas.openxmlformats.org/drawingml/2006/main" prst="rect">
            <a:avLst/>
          </a:prstGeom>
        </p:spPr>
      </p:pic>
      <p:sp>
        <p:nvSpPr>
          <p:cNvPr id="46" name="">
            <a:extLst xmlns:a="http://schemas.openxmlformats.org/drawingml/2006/main">
              <a:ext uri="{FF2B5EF4-FFF2-40B4-BE49-F238E27FC236}">
                <a16:creationId xmlns:a16="http://schemas.microsoft.com/office/drawing/2014/main" id="{34905C8D-A455-4840-B405-C7DF56A2E34C}"/>
              </a:ext>
            </a:extLst>
          </p:cNvPr>
          <p:cNvSpPr>
            <a:spLocks xmlns:a="http://schemas.openxmlformats.org/drawingml/2006/main" noGrp="1"/>
          </p:cNvSpPr>
          <p:nvPr/>
        </p:nvSpPr>
        <p:spPr>
          <a:xfrm xmlns:a="http://schemas.openxmlformats.org/drawingml/2006/main">
            <a:off x="5286375" y="796290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Polly creates speech</a:t>
            </a:r>
          </a:p>
        </p:txBody>
      </p:sp>
      <p:sp>
        <p:nvSpPr>
          <p:cNvPr id="47" name="">
            <a:extLst xmlns:a="http://schemas.openxmlformats.org/drawingml/2006/main">
              <a:ext uri="{FF2B5EF4-FFF2-40B4-BE49-F238E27FC236}">
                <a16:creationId xmlns:a16="http://schemas.microsoft.com/office/drawing/2014/main" id="{A32E7319-8AEE-4C02-B0E1-C5D8503383B2}"/>
              </a:ext>
            </a:extLst>
          </p:cNvPr>
          <p:cNvSpPr>
            <a:spLocks xmlns:a="http://schemas.openxmlformats.org/drawingml/2006/main" noGrp="1"/>
          </p:cNvSpPr>
          <p:nvPr/>
        </p:nvSpPr>
        <p:spPr>
          <a:xfrm xmlns:a="http://schemas.openxmlformats.org/drawingml/2006/main">
            <a:off x="571500" y="6762750"/>
            <a:ext cx="3571875" cy="2000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48" name="">
            <a:extLst xmlns:a="http://schemas.openxmlformats.org/drawingml/2006/main">
              <a:ext uri="{FF2B5EF4-FFF2-40B4-BE49-F238E27FC236}">
                <a16:creationId xmlns:a16="http://schemas.microsoft.com/office/drawing/2014/main" id="{C8DBBF6F-79A8-4364-9157-CB289BEC1FED}"/>
              </a:ext>
            </a:extLst>
          </p:cNvPr>
          <p:cNvSpPr>
            <a:spLocks xmlns:a="http://schemas.openxmlformats.org/drawingml/2006/main" noGrp="1"/>
          </p:cNvSpPr>
          <p:nvPr/>
        </p:nvSpPr>
        <p:spPr>
          <a:xfrm xmlns:a="http://schemas.openxmlformats.org/drawingml/2006/main">
            <a:off x="762000" y="69342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08</a:t>
            </a:r>
          </a:p>
        </p:txBody>
      </p:sp>
      <p:pic>
        <p:nvPicPr>
          <p:cNvPr id="108" name=""/>
          <p:cNvPicPr>
            <a:picLocks xmlns:a="http://schemas.openxmlformats.org/drawingml/2006/main" noChangeAspect="1"/>
          </p:cNvPicPr>
          <p:nvPr/>
        </p:nvPicPr>
        <p:blipFill>
          <a:blip xmlns:r="http://schemas.openxmlformats.org/officeDocument/2006/relationships" xmlns:a="http://schemas.openxmlformats.org/drawingml/2006/main" r:embed="Rf36c90e4a85a4ee9"/>
          <a:stretch xmlns:a="http://schemas.openxmlformats.org/drawingml/2006/main"/>
        </p:blipFill>
        <p:spPr>
          <a:xfrm xmlns:a="http://schemas.openxmlformats.org/drawingml/2006/main">
            <a:off x="1981200" y="6962775"/>
            <a:ext cx="762000" cy="762000"/>
          </a:xfrm>
          <a:prstGeom xmlns:a="http://schemas.openxmlformats.org/drawingml/2006/main" prst="rect">
            <a:avLst/>
          </a:prstGeom>
        </p:spPr>
      </p:pic>
      <p:sp>
        <p:nvSpPr>
          <p:cNvPr id="50" name="">
            <a:extLst xmlns:a="http://schemas.openxmlformats.org/drawingml/2006/main">
              <a:ext uri="{FF2B5EF4-FFF2-40B4-BE49-F238E27FC236}">
                <a16:creationId xmlns:a16="http://schemas.microsoft.com/office/drawing/2014/main" id="{88390F69-F706-47C9-9C5F-6B33DA5D7472}"/>
              </a:ext>
            </a:extLst>
          </p:cNvPr>
          <p:cNvSpPr>
            <a:spLocks xmlns:a="http://schemas.openxmlformats.org/drawingml/2006/main" noGrp="1"/>
          </p:cNvSpPr>
          <p:nvPr/>
        </p:nvSpPr>
        <p:spPr>
          <a:xfrm xmlns:a="http://schemas.openxmlformats.org/drawingml/2006/main">
            <a:off x="762000" y="7962900"/>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250" b="1">
                <a:solidFill>
                  <a:srgbClr val="34231D"/>
                </a:solidFill>
                <a:latin typeface="Arial"/>
                <a:ea typeface="Arial"/>
                <a:cs typeface="Arial"/>
              </a:defRPr>
            </a:pPr>
            <a:r>
              <a:rPr sz="2250" b="1">
                <a:solidFill>
                  <a:srgbClr val="34231D"/>
                </a:solidFill>
                <a:latin typeface="Arial"/>
                <a:ea typeface="Arial"/>
                <a:cs typeface="Arial"/>
              </a:rPr>
              <a:t>Customer hears reply</a:t>
            </a:r>
          </a:p>
        </p:txBody>
      </p:sp>
      <p:cxnSp>
        <p:nvCxnSpPr>
          <p:cNvPr id="110" name=""/>
          <p:cNvCxnSpPr>
            <a:stCxn xmlns:a="http://schemas.openxmlformats.org/drawingml/2006/main" id="17" idx="3"/>
            <a:endCxn xmlns:a="http://schemas.openxmlformats.org/drawingml/2006/main" id="21" idx="1"/>
          </p:cNvCxnSpPr>
          <p:nvPr/>
        </p:nvCxnSpPr>
        <p:spPr>
          <a:xfrm xmlns:a="http://schemas.openxmlformats.org/drawingml/2006/main">
            <a:off x="4143375" y="519112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1" name=""/>
          <p:cNvCxnSpPr>
            <a:stCxn xmlns:a="http://schemas.openxmlformats.org/drawingml/2006/main" id="21" idx="3"/>
            <a:endCxn xmlns:a="http://schemas.openxmlformats.org/drawingml/2006/main" id="26" idx="1"/>
          </p:cNvCxnSpPr>
          <p:nvPr/>
        </p:nvCxnSpPr>
        <p:spPr>
          <a:xfrm xmlns:a="http://schemas.openxmlformats.org/drawingml/2006/main">
            <a:off x="8667750" y="519112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2" name=""/>
          <p:cNvCxnSpPr>
            <a:stCxn xmlns:a="http://schemas.openxmlformats.org/drawingml/2006/main" id="26" idx="3"/>
            <a:endCxn xmlns:a="http://schemas.openxmlformats.org/drawingml/2006/main" id="30" idx="1"/>
          </p:cNvCxnSpPr>
          <p:nvPr/>
        </p:nvCxnSpPr>
        <p:spPr>
          <a:xfrm xmlns:a="http://schemas.openxmlformats.org/drawingml/2006/main">
            <a:off x="13192125" y="519112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3" name=""/>
          <p:cNvCxnSpPr>
            <a:stCxn xmlns:a="http://schemas.openxmlformats.org/drawingml/2006/main" id="30" idx="2"/>
            <a:endCxn xmlns:a="http://schemas.openxmlformats.org/drawingml/2006/main" id="34" idx="0"/>
          </p:cNvCxnSpPr>
          <p:nvPr/>
        </p:nvCxnSpPr>
        <p:spPr>
          <a:xfrm xmlns:a="http://schemas.openxmlformats.org/drawingml/2006/main">
            <a:off x="15930563" y="6191250"/>
            <a:ext cx="0" cy="57150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4" name=""/>
          <p:cNvCxnSpPr>
            <a:stCxn xmlns:a="http://schemas.openxmlformats.org/drawingml/2006/main" id="34" idx="1"/>
            <a:endCxn xmlns:a="http://schemas.openxmlformats.org/drawingml/2006/main" id="38" idx="3"/>
          </p:cNvCxnSpPr>
          <p:nvPr/>
        </p:nvCxnSpPr>
        <p:spPr>
          <a:xfrm xmlns:a="http://schemas.openxmlformats.org/drawingml/2006/main" flipH="1">
            <a:off x="13192125" y="776287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5" name=""/>
          <p:cNvCxnSpPr>
            <a:stCxn xmlns:a="http://schemas.openxmlformats.org/drawingml/2006/main" id="38" idx="1"/>
            <a:endCxn xmlns:a="http://schemas.openxmlformats.org/drawingml/2006/main" id="43" idx="3"/>
          </p:cNvCxnSpPr>
          <p:nvPr/>
        </p:nvCxnSpPr>
        <p:spPr>
          <a:xfrm xmlns:a="http://schemas.openxmlformats.org/drawingml/2006/main" flipH="1">
            <a:off x="8667750" y="776287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116" name=""/>
          <p:cNvCxnSpPr>
            <a:stCxn xmlns:a="http://schemas.openxmlformats.org/drawingml/2006/main" id="43" idx="1"/>
            <a:endCxn xmlns:a="http://schemas.openxmlformats.org/drawingml/2006/main" id="47" idx="3"/>
          </p:cNvCxnSpPr>
          <p:nvPr/>
        </p:nvCxnSpPr>
        <p:spPr>
          <a:xfrm xmlns:a="http://schemas.openxmlformats.org/drawingml/2006/main" flipH="1">
            <a:off x="4143375" y="7762875"/>
            <a:ext cx="952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58" name="">
            <a:extLst xmlns:a="http://schemas.openxmlformats.org/drawingml/2006/main">
              <a:ext uri="{FF2B5EF4-FFF2-40B4-BE49-F238E27FC236}">
                <a16:creationId xmlns:a16="http://schemas.microsoft.com/office/drawing/2014/main" id="{4C47BFDE-B4A5-48A9-A7E2-6A2020B38D21}"/>
              </a:ext>
            </a:extLst>
          </p:cNvPr>
          <p:cNvSpPr>
            <a:spLocks xmlns:a="http://schemas.openxmlformats.org/drawingml/2006/main" noGrp="1"/>
          </p:cNvSpPr>
          <p:nvPr/>
        </p:nvSpPr>
        <p:spPr>
          <a:xfrm xmlns:a="http://schemas.openxmlformats.org/drawingml/2006/main">
            <a:off x="571500" y="8953500"/>
            <a:ext cx="1638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Bedrock Guardrails: optional prompt-attack, harmful-content and word filters.</a:t>
            </a:r>
          </a:p>
        </p:txBody>
      </p:sp>
      <p:sp>
        <p:nvSpPr>
          <p:cNvPr id="59" name="">
            <a:extLst xmlns:a="http://schemas.openxmlformats.org/drawingml/2006/main">
              <a:ext uri="{FF2B5EF4-FFF2-40B4-BE49-F238E27FC236}">
                <a16:creationId xmlns:a16="http://schemas.microsoft.com/office/drawing/2014/main" id="{C91B0B1B-F0C0-4451-85C5-54734E804DCF}"/>
              </a:ext>
            </a:extLst>
          </p:cNvPr>
          <p:cNvSpPr>
            <a:spLocks xmlns:a="http://schemas.openxmlformats.org/drawingml/2006/main" noGrp="1"/>
          </p:cNvSpPr>
          <p:nvPr/>
        </p:nvSpPr>
        <p:spPr>
          <a:xfrm xmlns:a="http://schemas.openxmlformats.org/drawingml/2006/main">
            <a:off x="571500" y="9439275"/>
            <a:ext cx="1619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8766B"/>
                </a:solidFill>
                <a:latin typeface="Arial"/>
                <a:ea typeface="Arial"/>
                <a:cs typeface="Arial"/>
              </a:defRPr>
            </a:pPr>
            <a:r>
              <a:rPr sz="1800" b="0">
                <a:solidFill>
                  <a:srgbClr val="88766B"/>
                </a:solidFill>
                <a:latin typeface="Arial"/>
                <a:ea typeface="Arial"/>
                <a:cs typeface="Arial"/>
              </a:rPr>
              <a:t>Turn-based audio. Chime media is separate from the transcription path.</a:t>
            </a:r>
          </a:p>
        </p:txBody>
      </p:sp>
    </p:spTree>
    <p:extLst>
      <p:ext uri="{BB962C8B-B14F-4D97-AF65-F5344CB8AC3E}">
        <p14:creationId xmlns:p14="http://schemas.microsoft.com/office/powerpoint/2010/main" val="920509552"/>
      </p:ext>
    </p:extLst>
  </p:cSld>
</p:sld>
</file>

<file path=ppt/slides/slide3.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eaecfea3e9e4b39"/>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CC2C8FB-38F2-4E7E-848D-0B9FCD41C71B}"/>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B559931C-3ECD-40D2-A5D8-0521120FE792}"/>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3. AI tools and RAG</a:t>
            </a:r>
          </a:p>
        </p:txBody>
      </p:sp>
      <p:sp>
        <p:nvSpPr>
          <p:cNvPr id="4" name="">
            <a:extLst xmlns:a="http://schemas.openxmlformats.org/drawingml/2006/main">
              <a:ext uri="{FF2B5EF4-FFF2-40B4-BE49-F238E27FC236}">
                <a16:creationId xmlns:a16="http://schemas.microsoft.com/office/drawing/2014/main" id="{E1571163-F5DE-495F-9939-8E7F4BE4E00E}"/>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Bedrock selects a tool. FastAPI runs it and returns the result.</a:t>
            </a:r>
          </a:p>
        </p:txBody>
      </p:sp>
      <p:sp>
        <p:nvSpPr>
          <p:cNvPr id="5" name="">
            <a:extLst xmlns:a="http://schemas.openxmlformats.org/drawingml/2006/main">
              <a:ext uri="{FF2B5EF4-FFF2-40B4-BE49-F238E27FC236}">
                <a16:creationId xmlns:a16="http://schemas.microsoft.com/office/drawing/2014/main" id="{815FF6AD-A600-4652-873A-945866BE2241}"/>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D9A2B900-8798-4962-9F99-18BBB2D6D52D}"/>
              </a:ext>
            </a:extLst>
          </p:cNvPr>
          <p:cNvSpPr>
            <a:spLocks xmlns:a="http://schemas.openxmlformats.org/drawingml/2006/main" noGrp="1"/>
          </p:cNvSpPr>
          <p:nvPr/>
        </p:nvSpPr>
        <p:spPr>
          <a:xfrm xmlns:a="http://schemas.openxmlformats.org/drawingml/2006/main">
            <a:off x="619125" y="3114675"/>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search-knowledge</a:t>
            </a:r>
          </a:p>
        </p:txBody>
      </p:sp>
      <p:sp>
        <p:nvSpPr>
          <p:cNvPr id="7" name="">
            <a:extLst xmlns:a="http://schemas.openxmlformats.org/drawingml/2006/main">
              <a:ext uri="{FF2B5EF4-FFF2-40B4-BE49-F238E27FC236}">
                <a16:creationId xmlns:a16="http://schemas.microsoft.com/office/drawing/2014/main" id="{AD345F62-2D84-453A-BFFA-E9D2AAF8567D}"/>
              </a:ext>
            </a:extLst>
          </p:cNvPr>
          <p:cNvSpPr>
            <a:spLocks xmlns:a="http://schemas.openxmlformats.org/drawingml/2006/main" noGrp="1"/>
          </p:cNvSpPr>
          <p:nvPr/>
        </p:nvSpPr>
        <p:spPr>
          <a:xfrm xmlns:a="http://schemas.openxmlformats.org/drawingml/2006/main">
            <a:off x="7000875" y="31146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RAG: retrieve restaurant knowledge from PDFs.</a:t>
            </a:r>
          </a:p>
        </p:txBody>
      </p:sp>
      <p:sp>
        <p:nvSpPr>
          <p:cNvPr id="8" name="">
            <a:extLst xmlns:a="http://schemas.openxmlformats.org/drawingml/2006/main">
              <a:ext uri="{FF2B5EF4-FFF2-40B4-BE49-F238E27FC236}">
                <a16:creationId xmlns:a16="http://schemas.microsoft.com/office/drawing/2014/main" id="{309CCD65-B9F3-4154-83D3-AD36954EE6E7}"/>
              </a:ext>
            </a:extLst>
          </p:cNvPr>
          <p:cNvSpPr>
            <a:spLocks xmlns:a="http://schemas.openxmlformats.org/drawingml/2006/main" noGrp="1"/>
          </p:cNvSpPr>
          <p:nvPr/>
        </p:nvSpPr>
        <p:spPr>
          <a:xfrm xmlns:a="http://schemas.openxmlformats.org/drawingml/2006/main">
            <a:off x="619125" y="3810000"/>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search-menu</a:t>
            </a:r>
          </a:p>
        </p:txBody>
      </p:sp>
      <p:sp>
        <p:nvSpPr>
          <p:cNvPr id="9" name="">
            <a:extLst xmlns:a="http://schemas.openxmlformats.org/drawingml/2006/main">
              <a:ext uri="{FF2B5EF4-FFF2-40B4-BE49-F238E27FC236}">
                <a16:creationId xmlns:a16="http://schemas.microsoft.com/office/drawing/2014/main" id="{81BB267C-6194-4729-84DB-9C61864EEC14}"/>
              </a:ext>
            </a:extLst>
          </p:cNvPr>
          <p:cNvSpPr>
            <a:spLocks xmlns:a="http://schemas.openxmlformats.org/drawingml/2006/main" noGrp="1"/>
          </p:cNvSpPr>
          <p:nvPr/>
        </p:nvSpPr>
        <p:spPr>
          <a:xfrm xmlns:a="http://schemas.openxmlformats.org/drawingml/2006/main">
            <a:off x="7000875" y="38100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Find dishes, prices, availability and stock.</a:t>
            </a:r>
          </a:p>
        </p:txBody>
      </p:sp>
      <p:sp>
        <p:nvSpPr>
          <p:cNvPr id="10" name="">
            <a:extLst xmlns:a="http://schemas.openxmlformats.org/drawingml/2006/main">
              <a:ext uri="{FF2B5EF4-FFF2-40B4-BE49-F238E27FC236}">
                <a16:creationId xmlns:a16="http://schemas.microsoft.com/office/drawing/2014/main" id="{2066E100-151D-45D9-9311-C5FA47037A01}"/>
              </a:ext>
            </a:extLst>
          </p:cNvPr>
          <p:cNvSpPr>
            <a:spLocks xmlns:a="http://schemas.openxmlformats.org/drawingml/2006/main" noGrp="1"/>
          </p:cNvSpPr>
          <p:nvPr/>
        </p:nvSpPr>
        <p:spPr>
          <a:xfrm xmlns:a="http://schemas.openxmlformats.org/drawingml/2006/main">
            <a:off x="619125" y="4505325"/>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check-order-items</a:t>
            </a:r>
          </a:p>
        </p:txBody>
      </p:sp>
      <p:sp>
        <p:nvSpPr>
          <p:cNvPr id="11" name="">
            <a:extLst xmlns:a="http://schemas.openxmlformats.org/drawingml/2006/main">
              <a:ext uri="{FF2B5EF4-FFF2-40B4-BE49-F238E27FC236}">
                <a16:creationId xmlns:a16="http://schemas.microsoft.com/office/drawing/2014/main" id="{B8B05C80-3F36-4B21-BDED-FE82747228E5}"/>
              </a:ext>
            </a:extLst>
          </p:cNvPr>
          <p:cNvSpPr>
            <a:spLocks xmlns:a="http://schemas.openxmlformats.org/drawingml/2006/main" noGrp="1"/>
          </p:cNvSpPr>
          <p:nvPr/>
        </p:nvSpPr>
        <p:spPr>
          <a:xfrm xmlns:a="http://schemas.openxmlformats.org/drawingml/2006/main">
            <a:off x="7000875" y="45053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Validate quantities, stock and the subtotal.</a:t>
            </a:r>
          </a:p>
        </p:txBody>
      </p:sp>
      <p:sp>
        <p:nvSpPr>
          <p:cNvPr id="12" name="">
            <a:extLst xmlns:a="http://schemas.openxmlformats.org/drawingml/2006/main">
              <a:ext uri="{FF2B5EF4-FFF2-40B4-BE49-F238E27FC236}">
                <a16:creationId xmlns:a16="http://schemas.microsoft.com/office/drawing/2014/main" id="{9B4EBF70-3018-4EBF-9C80-E4605376FDFD}"/>
              </a:ext>
            </a:extLst>
          </p:cNvPr>
          <p:cNvSpPr>
            <a:spLocks xmlns:a="http://schemas.openxmlformats.org/drawingml/2006/main" noGrp="1"/>
          </p:cNvSpPr>
          <p:nvPr/>
        </p:nvSpPr>
        <p:spPr>
          <a:xfrm xmlns:a="http://schemas.openxmlformats.org/drawingml/2006/main">
            <a:off x="619125" y="5200650"/>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create-order-draft</a:t>
            </a:r>
          </a:p>
        </p:txBody>
      </p:sp>
      <p:sp>
        <p:nvSpPr>
          <p:cNvPr id="13" name="">
            <a:extLst xmlns:a="http://schemas.openxmlformats.org/drawingml/2006/main">
              <a:ext uri="{FF2B5EF4-FFF2-40B4-BE49-F238E27FC236}">
                <a16:creationId xmlns:a16="http://schemas.microsoft.com/office/drawing/2014/main" id="{E687DEE1-A4BC-4632-BEA5-35C89805C18E}"/>
              </a:ext>
            </a:extLst>
          </p:cNvPr>
          <p:cNvSpPr>
            <a:spLocks xmlns:a="http://schemas.openxmlformats.org/drawingml/2006/main" noGrp="1"/>
          </p:cNvSpPr>
          <p:nvPr/>
        </p:nvSpPr>
        <p:spPr>
          <a:xfrm xmlns:a="http://schemas.openxmlformats.org/drawingml/2006/main">
            <a:off x="7000875" y="52006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Save a delivery draft after address approval.</a:t>
            </a:r>
          </a:p>
        </p:txBody>
      </p:sp>
      <p:sp>
        <p:nvSpPr>
          <p:cNvPr id="14" name="">
            <a:extLst xmlns:a="http://schemas.openxmlformats.org/drawingml/2006/main">
              <a:ext uri="{FF2B5EF4-FFF2-40B4-BE49-F238E27FC236}">
                <a16:creationId xmlns:a16="http://schemas.microsoft.com/office/drawing/2014/main" id="{B4951906-B0F7-4D07-8800-BC4C889D4CF7}"/>
              </a:ext>
            </a:extLst>
          </p:cNvPr>
          <p:cNvSpPr>
            <a:spLocks xmlns:a="http://schemas.openxmlformats.org/drawingml/2006/main" noGrp="1"/>
          </p:cNvSpPr>
          <p:nvPr/>
        </p:nvSpPr>
        <p:spPr>
          <a:xfrm xmlns:a="http://schemas.openxmlformats.org/drawingml/2006/main">
            <a:off x="619125" y="5895975"/>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confirm-order</a:t>
            </a:r>
          </a:p>
        </p:txBody>
      </p:sp>
      <p:sp>
        <p:nvSpPr>
          <p:cNvPr id="15" name="">
            <a:extLst xmlns:a="http://schemas.openxmlformats.org/drawingml/2006/main">
              <a:ext uri="{FF2B5EF4-FFF2-40B4-BE49-F238E27FC236}">
                <a16:creationId xmlns:a16="http://schemas.microsoft.com/office/drawing/2014/main" id="{87C5E0F2-69CE-47B4-A5CF-E8C9FC6B302A}"/>
              </a:ext>
            </a:extLst>
          </p:cNvPr>
          <p:cNvSpPr>
            <a:spLocks xmlns:a="http://schemas.openxmlformats.org/drawingml/2006/main" noGrp="1"/>
          </p:cNvSpPr>
          <p:nvPr/>
        </p:nvSpPr>
        <p:spPr>
          <a:xfrm xmlns:a="http://schemas.openxmlformats.org/drawingml/2006/main">
            <a:off x="7000875" y="58959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Recheck stock and confirm the approved draft.</a:t>
            </a:r>
          </a:p>
        </p:txBody>
      </p:sp>
      <p:sp>
        <p:nvSpPr>
          <p:cNvPr id="16" name="">
            <a:extLst xmlns:a="http://schemas.openxmlformats.org/drawingml/2006/main">
              <a:ext uri="{FF2B5EF4-FFF2-40B4-BE49-F238E27FC236}">
                <a16:creationId xmlns:a16="http://schemas.microsoft.com/office/drawing/2014/main" id="{CA5AB577-3FA0-4D91-866F-683965018799}"/>
              </a:ext>
            </a:extLst>
          </p:cNvPr>
          <p:cNvSpPr>
            <a:spLocks xmlns:a="http://schemas.openxmlformats.org/drawingml/2006/main" noGrp="1"/>
          </p:cNvSpPr>
          <p:nvPr/>
        </p:nvSpPr>
        <p:spPr>
          <a:xfrm xmlns:a="http://schemas.openxmlformats.org/drawingml/2006/main">
            <a:off x="619125" y="6591300"/>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check-table-availability</a:t>
            </a:r>
          </a:p>
        </p:txBody>
      </p:sp>
      <p:sp>
        <p:nvSpPr>
          <p:cNvPr id="17" name="">
            <a:extLst xmlns:a="http://schemas.openxmlformats.org/drawingml/2006/main">
              <a:ext uri="{FF2B5EF4-FFF2-40B4-BE49-F238E27FC236}">
                <a16:creationId xmlns:a16="http://schemas.microsoft.com/office/drawing/2014/main" id="{0B356BBD-0E92-4225-B75D-7176FDFA11DA}"/>
              </a:ext>
            </a:extLst>
          </p:cNvPr>
          <p:cNvSpPr>
            <a:spLocks xmlns:a="http://schemas.openxmlformats.org/drawingml/2006/main" noGrp="1"/>
          </p:cNvSpPr>
          <p:nvPr/>
        </p:nvSpPr>
        <p:spPr>
          <a:xfrm xmlns:a="http://schemas.openxmlformats.org/drawingml/2006/main">
            <a:off x="7000875" y="65913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Check table capacity and booking overlaps.</a:t>
            </a:r>
          </a:p>
        </p:txBody>
      </p:sp>
      <p:sp>
        <p:nvSpPr>
          <p:cNvPr id="18" name="">
            <a:extLst xmlns:a="http://schemas.openxmlformats.org/drawingml/2006/main">
              <a:ext uri="{FF2B5EF4-FFF2-40B4-BE49-F238E27FC236}">
                <a16:creationId xmlns:a16="http://schemas.microsoft.com/office/drawing/2014/main" id="{E1CE373D-491E-42D6-96AC-BC8CA6A7C640}"/>
              </a:ext>
            </a:extLst>
          </p:cNvPr>
          <p:cNvSpPr>
            <a:spLocks xmlns:a="http://schemas.openxmlformats.org/drawingml/2006/main" noGrp="1"/>
          </p:cNvSpPr>
          <p:nvPr/>
        </p:nvSpPr>
        <p:spPr>
          <a:xfrm xmlns:a="http://schemas.openxmlformats.org/drawingml/2006/main">
            <a:off x="619125" y="7286625"/>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create-reservation-draft</a:t>
            </a:r>
          </a:p>
        </p:txBody>
      </p:sp>
      <p:sp>
        <p:nvSpPr>
          <p:cNvPr id="19" name="">
            <a:extLst xmlns:a="http://schemas.openxmlformats.org/drawingml/2006/main">
              <a:ext uri="{FF2B5EF4-FFF2-40B4-BE49-F238E27FC236}">
                <a16:creationId xmlns:a16="http://schemas.microsoft.com/office/drawing/2014/main" id="{E1ED56EA-9085-4536-A9CD-E604BD890F3F}"/>
              </a:ext>
            </a:extLst>
          </p:cNvPr>
          <p:cNvSpPr>
            <a:spLocks xmlns:a="http://schemas.openxmlformats.org/drawingml/2006/main" noGrp="1"/>
          </p:cNvSpPr>
          <p:nvPr/>
        </p:nvSpPr>
        <p:spPr>
          <a:xfrm xmlns:a="http://schemas.openxmlformats.org/drawingml/2006/main">
            <a:off x="7000875" y="72866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Save an unconfirmed booking.</a:t>
            </a:r>
          </a:p>
        </p:txBody>
      </p:sp>
      <p:sp>
        <p:nvSpPr>
          <p:cNvPr id="20" name="">
            <a:extLst xmlns:a="http://schemas.openxmlformats.org/drawingml/2006/main">
              <a:ext uri="{FF2B5EF4-FFF2-40B4-BE49-F238E27FC236}">
                <a16:creationId xmlns:a16="http://schemas.microsoft.com/office/drawing/2014/main" id="{A6AACC60-F2CA-455A-8AC0-685BC8FBAF11}"/>
              </a:ext>
            </a:extLst>
          </p:cNvPr>
          <p:cNvSpPr>
            <a:spLocks xmlns:a="http://schemas.openxmlformats.org/drawingml/2006/main" noGrp="1"/>
          </p:cNvSpPr>
          <p:nvPr/>
        </p:nvSpPr>
        <p:spPr>
          <a:xfrm xmlns:a="http://schemas.openxmlformats.org/drawingml/2006/main">
            <a:off x="619125" y="7981950"/>
            <a:ext cx="600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9502F"/>
                </a:solidFill>
                <a:latin typeface="Arial"/>
                <a:ea typeface="Arial"/>
                <a:cs typeface="Arial"/>
              </a:defRPr>
            </a:pPr>
            <a:r>
              <a:rPr sz="2250" b="1">
                <a:solidFill>
                  <a:srgbClr val="C9502F"/>
                </a:solidFill>
                <a:latin typeface="Arial"/>
                <a:ea typeface="Arial"/>
                <a:cs typeface="Arial"/>
              </a:rPr>
              <a:t>confirm-reservation</a:t>
            </a:r>
          </a:p>
        </p:txBody>
      </p:sp>
      <p:sp>
        <p:nvSpPr>
          <p:cNvPr id="21" name="">
            <a:extLst xmlns:a="http://schemas.openxmlformats.org/drawingml/2006/main">
              <a:ext uri="{FF2B5EF4-FFF2-40B4-BE49-F238E27FC236}">
                <a16:creationId xmlns:a16="http://schemas.microsoft.com/office/drawing/2014/main" id="{9248A70B-4B8A-45B4-AED3-622437F5FAC2}"/>
              </a:ext>
            </a:extLst>
          </p:cNvPr>
          <p:cNvSpPr>
            <a:spLocks xmlns:a="http://schemas.openxmlformats.org/drawingml/2006/main" noGrp="1"/>
          </p:cNvSpPr>
          <p:nvPr/>
        </p:nvSpPr>
        <p:spPr>
          <a:xfrm xmlns:a="http://schemas.openxmlformats.org/drawingml/2006/main">
            <a:off x="7000875" y="79819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4231D"/>
                </a:solidFill>
                <a:latin typeface="Arial"/>
                <a:ea typeface="Arial"/>
                <a:cs typeface="Arial"/>
              </a:defRPr>
            </a:pPr>
            <a:r>
              <a:rPr sz="2175" b="0">
                <a:solidFill>
                  <a:srgbClr val="34231D"/>
                </a:solidFill>
                <a:latin typeface="Arial"/>
                <a:ea typeface="Arial"/>
                <a:cs typeface="Arial"/>
              </a:rPr>
              <a:t>Recheck availability, assign a table and confirm.</a:t>
            </a:r>
          </a:p>
        </p:txBody>
      </p:sp>
      <p:sp>
        <p:nvSpPr>
          <p:cNvPr id="22" name="">
            <a:extLst xmlns:a="http://schemas.openxmlformats.org/drawingml/2006/main">
              <a:ext uri="{FF2B5EF4-FFF2-40B4-BE49-F238E27FC236}">
                <a16:creationId xmlns:a16="http://schemas.microsoft.com/office/drawing/2014/main" id="{D059911E-3ED6-4127-99D1-1B210D4E09B3}"/>
              </a:ext>
            </a:extLst>
          </p:cNvPr>
          <p:cNvSpPr>
            <a:spLocks xmlns:a="http://schemas.openxmlformats.org/drawingml/2006/main" noGrp="1"/>
          </p:cNvSpPr>
          <p:nvPr/>
        </p:nvSpPr>
        <p:spPr>
          <a:xfrm xmlns:a="http://schemas.openxmlformats.org/drawingml/2006/main">
            <a:off x="619125" y="8715375"/>
            <a:ext cx="1676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897B"/>
                </a:solidFill>
                <a:latin typeface="Arial"/>
                <a:ea typeface="Arial"/>
                <a:cs typeface="Arial"/>
              </a:defRPr>
            </a:pPr>
            <a:r>
              <a:rPr sz="2025" b="1">
                <a:solidFill>
                  <a:srgbClr val="00897B"/>
                </a:solidFill>
                <a:latin typeface="Arial"/>
                <a:ea typeface="Arial"/>
                <a:cs typeface="Arial"/>
              </a:rPr>
              <a:t>RAG: Titan query embedding, Qdrant search, four chunks, Bedrock answer.</a:t>
            </a:r>
          </a:p>
        </p:txBody>
      </p:sp>
      <p:sp>
        <p:nvSpPr>
          <p:cNvPr id="23" name="">
            <a:extLst xmlns:a="http://schemas.openxmlformats.org/drawingml/2006/main">
              <a:ext uri="{FF2B5EF4-FFF2-40B4-BE49-F238E27FC236}">
                <a16:creationId xmlns:a16="http://schemas.microsoft.com/office/drawing/2014/main" id="{F9795541-7F1C-40B1-AE97-5CD6BFB9FC7D}"/>
              </a:ext>
            </a:extLst>
          </p:cNvPr>
          <p:cNvSpPr>
            <a:spLocks xmlns:a="http://schemas.openxmlformats.org/drawingml/2006/main" noGrp="1"/>
          </p:cNvSpPr>
          <p:nvPr/>
        </p:nvSpPr>
        <p:spPr>
          <a:xfrm xmlns:a="http://schemas.openxmlformats.org/drawingml/2006/main">
            <a:off x="619125" y="9296400"/>
            <a:ext cx="1657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9502F"/>
                </a:solidFill>
                <a:latin typeface="Arial"/>
                <a:ea typeface="Arial"/>
                <a:cs typeface="Arial"/>
              </a:defRPr>
            </a:pPr>
            <a:r>
              <a:rPr sz="1875" b="1">
                <a:solidFill>
                  <a:srgbClr val="C9502F"/>
                </a:solidFill>
                <a:latin typeface="Arial"/>
                <a:ea typeface="Arial"/>
                <a:cs typeface="Arial"/>
              </a:rPr>
              <a:t>Bedrock Guardrails (optional): prompt-attack, harmful-content and word filters.</a:t>
            </a:r>
          </a:p>
        </p:txBody>
      </p:sp>
    </p:spTree>
    <p:extLst>
      <p:ext uri="{BB962C8B-B14F-4D97-AF65-F5344CB8AC3E}">
        <p14:creationId xmlns:p14="http://schemas.microsoft.com/office/powerpoint/2010/main" val="41543214"/>
      </p:ext>
    </p:extLst>
  </p:cSld>
</p:sld>
</file>

<file path=ppt/slides/slide4.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e619b13aa59c46e6"/>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9B54EDC-DACD-4EB8-8996-9F5F4FDE03B6}"/>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13D478EE-FD72-44E6-98A6-B60ADD5029F7}"/>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4. SageMaker demand forecasting</a:t>
            </a:r>
          </a:p>
        </p:txBody>
      </p:sp>
      <p:sp>
        <p:nvSpPr>
          <p:cNvPr id="4" name="">
            <a:extLst xmlns:a="http://schemas.openxmlformats.org/drawingml/2006/main">
              <a:ext uri="{FF2B5EF4-FFF2-40B4-BE49-F238E27FC236}">
                <a16:creationId xmlns:a16="http://schemas.microsoft.com/office/drawing/2014/main" id="{9D0009D2-77F6-4EDC-A103-0742191315B2}"/>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Planned feature</a:t>
            </a:r>
          </a:p>
        </p:txBody>
      </p:sp>
      <p:sp>
        <p:nvSpPr>
          <p:cNvPr id="5" name="">
            <a:extLst xmlns:a="http://schemas.openxmlformats.org/drawingml/2006/main">
              <a:ext uri="{FF2B5EF4-FFF2-40B4-BE49-F238E27FC236}">
                <a16:creationId xmlns:a16="http://schemas.microsoft.com/office/drawing/2014/main" id="{94EE3BF7-2945-4BF0-8374-8F099BBB44D3}"/>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BE2C6DBA-ABFA-4DAE-BF67-609E1475869A}"/>
              </a:ext>
            </a:extLst>
          </p:cNvPr>
          <p:cNvSpPr>
            <a:spLocks xmlns:a="http://schemas.openxmlformats.org/drawingml/2006/main" noGrp="1"/>
          </p:cNvSpPr>
          <p:nvPr/>
        </p:nvSpPr>
        <p:spPr>
          <a:xfrm xmlns:a="http://schemas.openxmlformats.org/drawingml/2006/main">
            <a:off x="57150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7" name="">
            <a:extLst xmlns:a="http://schemas.openxmlformats.org/drawingml/2006/main">
              <a:ext uri="{FF2B5EF4-FFF2-40B4-BE49-F238E27FC236}">
                <a16:creationId xmlns:a16="http://schemas.microsoft.com/office/drawing/2014/main" id="{4EAF833E-BCD2-4992-83E3-B06D46011D54}"/>
              </a:ext>
            </a:extLst>
          </p:cNvPr>
          <p:cNvSpPr>
            <a:spLocks xmlns:a="http://schemas.openxmlformats.org/drawingml/2006/main" noGrp="1"/>
          </p:cNvSpPr>
          <p:nvPr/>
        </p:nvSpPr>
        <p:spPr>
          <a:xfrm xmlns:a="http://schemas.openxmlformats.org/drawingml/2006/main">
            <a:off x="80962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BC6AD306-CB6C-4EDD-B9C9-0E8E3A188003}"/>
              </a:ext>
            </a:extLst>
          </p:cNvPr>
          <p:cNvSpPr>
            <a:spLocks xmlns:a="http://schemas.openxmlformats.org/drawingml/2006/main" noGrp="1"/>
          </p:cNvSpPr>
          <p:nvPr/>
        </p:nvSpPr>
        <p:spPr>
          <a:xfrm xmlns:a="http://schemas.openxmlformats.org/drawingml/2006/main">
            <a:off x="809625" y="421005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Prepare order history</a:t>
            </a:r>
          </a:p>
        </p:txBody>
      </p:sp>
      <p:sp>
        <p:nvSpPr>
          <p:cNvPr id="9" name="">
            <a:extLst xmlns:a="http://schemas.openxmlformats.org/drawingml/2006/main">
              <a:ext uri="{FF2B5EF4-FFF2-40B4-BE49-F238E27FC236}">
                <a16:creationId xmlns:a16="http://schemas.microsoft.com/office/drawing/2014/main" id="{D2AEC40B-DD7D-437B-87C2-40B0E63DDCBE}"/>
              </a:ext>
            </a:extLst>
          </p:cNvPr>
          <p:cNvSpPr>
            <a:spLocks xmlns:a="http://schemas.openxmlformats.org/drawingml/2006/main" noGrp="1"/>
          </p:cNvSpPr>
          <p:nvPr/>
        </p:nvSpPr>
        <p:spPr>
          <a:xfrm xmlns:a="http://schemas.openxmlformats.org/drawingml/2006/main">
            <a:off x="6810375"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0" name="">
            <a:extLst xmlns:a="http://schemas.openxmlformats.org/drawingml/2006/main">
              <a:ext uri="{FF2B5EF4-FFF2-40B4-BE49-F238E27FC236}">
                <a16:creationId xmlns:a16="http://schemas.microsoft.com/office/drawing/2014/main" id="{D75788D8-F0B1-45B8-B14E-E26DE5211E04}"/>
              </a:ext>
            </a:extLst>
          </p:cNvPr>
          <p:cNvSpPr>
            <a:spLocks xmlns:a="http://schemas.openxmlformats.org/drawingml/2006/main" noGrp="1"/>
          </p:cNvSpPr>
          <p:nvPr/>
        </p:nvSpPr>
        <p:spPr>
          <a:xfrm xmlns:a="http://schemas.openxmlformats.org/drawingml/2006/main">
            <a:off x="7048500"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02</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87fd09e50e454650"/>
          <a:stretch xmlns:a="http://schemas.openxmlformats.org/drawingml/2006/main"/>
        </p:blipFill>
        <p:spPr>
          <a:xfrm xmlns:a="http://schemas.openxmlformats.org/drawingml/2006/main">
            <a:off x="8686800" y="3571875"/>
            <a:ext cx="914400" cy="9144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725BB60-A771-47CD-9101-A528FB91E55D}"/>
              </a:ext>
            </a:extLst>
          </p:cNvPr>
          <p:cNvSpPr>
            <a:spLocks xmlns:a="http://schemas.openxmlformats.org/drawingml/2006/main" noGrp="1"/>
          </p:cNvSpPr>
          <p:nvPr/>
        </p:nvSpPr>
        <p:spPr>
          <a:xfrm xmlns:a="http://schemas.openxmlformats.org/drawingml/2006/main">
            <a:off x="7048500" y="459105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Store training dataset</a:t>
            </a:r>
          </a:p>
        </p:txBody>
      </p:sp>
      <p:sp>
        <p:nvSpPr>
          <p:cNvPr id="13" name="">
            <a:extLst xmlns:a="http://schemas.openxmlformats.org/drawingml/2006/main">
              <a:ext uri="{FF2B5EF4-FFF2-40B4-BE49-F238E27FC236}">
                <a16:creationId xmlns:a16="http://schemas.microsoft.com/office/drawing/2014/main" id="{83EBD4D6-48D5-4C9A-8F48-9AC5986A333C}"/>
              </a:ext>
            </a:extLst>
          </p:cNvPr>
          <p:cNvSpPr>
            <a:spLocks xmlns:a="http://schemas.openxmlformats.org/drawingml/2006/main" noGrp="1"/>
          </p:cNvSpPr>
          <p:nvPr/>
        </p:nvSpPr>
        <p:spPr>
          <a:xfrm xmlns:a="http://schemas.openxmlformats.org/drawingml/2006/main">
            <a:off x="13049250" y="328612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4" name="">
            <a:extLst xmlns:a="http://schemas.openxmlformats.org/drawingml/2006/main">
              <a:ext uri="{FF2B5EF4-FFF2-40B4-BE49-F238E27FC236}">
                <a16:creationId xmlns:a16="http://schemas.microsoft.com/office/drawing/2014/main" id="{858487B0-48E6-4DE4-9A2D-03B9AC72048C}"/>
              </a:ext>
            </a:extLst>
          </p:cNvPr>
          <p:cNvSpPr>
            <a:spLocks xmlns:a="http://schemas.openxmlformats.org/drawingml/2006/main" noGrp="1"/>
          </p:cNvSpPr>
          <p:nvPr/>
        </p:nvSpPr>
        <p:spPr>
          <a:xfrm xmlns:a="http://schemas.openxmlformats.org/drawingml/2006/main">
            <a:off x="13287375" y="347662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03</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31aab64a56ae4b79"/>
          <a:stretch xmlns:a="http://schemas.openxmlformats.org/drawingml/2006/main"/>
        </p:blipFill>
        <p:spPr>
          <a:xfrm xmlns:a="http://schemas.openxmlformats.org/drawingml/2006/main">
            <a:off x="14925675" y="3571875"/>
            <a:ext cx="914400" cy="9144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E744F7A-FC27-4E75-88C2-025137DF7F6B}"/>
              </a:ext>
            </a:extLst>
          </p:cNvPr>
          <p:cNvSpPr>
            <a:spLocks xmlns:a="http://schemas.openxmlformats.org/drawingml/2006/main" noGrp="1"/>
          </p:cNvSpPr>
          <p:nvPr/>
        </p:nvSpPr>
        <p:spPr>
          <a:xfrm xmlns:a="http://schemas.openxmlformats.org/drawingml/2006/main">
            <a:off x="13287375" y="459105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Train DeepAR</a:t>
            </a:r>
          </a:p>
        </p:txBody>
      </p:sp>
      <p:sp>
        <p:nvSpPr>
          <p:cNvPr id="17" name="">
            <a:extLst xmlns:a="http://schemas.openxmlformats.org/drawingml/2006/main">
              <a:ext uri="{FF2B5EF4-FFF2-40B4-BE49-F238E27FC236}">
                <a16:creationId xmlns:a16="http://schemas.microsoft.com/office/drawing/2014/main" id="{A7429193-AF8E-4885-9B95-5DCBB928CFD4}"/>
              </a:ext>
            </a:extLst>
          </p:cNvPr>
          <p:cNvSpPr>
            <a:spLocks xmlns:a="http://schemas.openxmlformats.org/drawingml/2006/main" noGrp="1"/>
          </p:cNvSpPr>
          <p:nvPr/>
        </p:nvSpPr>
        <p:spPr>
          <a:xfrm xmlns:a="http://schemas.openxmlformats.org/drawingml/2006/main">
            <a:off x="1304925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18" name="">
            <a:extLst xmlns:a="http://schemas.openxmlformats.org/drawingml/2006/main">
              <a:ext uri="{FF2B5EF4-FFF2-40B4-BE49-F238E27FC236}">
                <a16:creationId xmlns:a16="http://schemas.microsoft.com/office/drawing/2014/main" id="{025E6854-5FAF-49DF-958E-4B26B17FC19C}"/>
              </a:ext>
            </a:extLst>
          </p:cNvPr>
          <p:cNvSpPr>
            <a:spLocks xmlns:a="http://schemas.openxmlformats.org/drawingml/2006/main" noGrp="1"/>
          </p:cNvSpPr>
          <p:nvPr/>
        </p:nvSpPr>
        <p:spPr>
          <a:xfrm xmlns:a="http://schemas.openxmlformats.org/drawingml/2006/main">
            <a:off x="1328737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04</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2c0672c894554fd1"/>
          <a:stretch xmlns:a="http://schemas.openxmlformats.org/drawingml/2006/main"/>
        </p:blipFill>
        <p:spPr>
          <a:xfrm xmlns:a="http://schemas.openxmlformats.org/drawingml/2006/main">
            <a:off x="14925675" y="6524625"/>
            <a:ext cx="914400" cy="9144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BC1F051E-AF2D-4EBF-B66C-C226C36C0E37}"/>
              </a:ext>
            </a:extLst>
          </p:cNvPr>
          <p:cNvSpPr>
            <a:spLocks xmlns:a="http://schemas.openxmlformats.org/drawingml/2006/main" noGrp="1"/>
          </p:cNvSpPr>
          <p:nvPr/>
        </p:nvSpPr>
        <p:spPr>
          <a:xfrm xmlns:a="http://schemas.openxmlformats.org/drawingml/2006/main">
            <a:off x="13287375" y="754380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Predict future demand</a:t>
            </a:r>
          </a:p>
        </p:txBody>
      </p:sp>
      <p:sp>
        <p:nvSpPr>
          <p:cNvPr id="21" name="">
            <a:extLst xmlns:a="http://schemas.openxmlformats.org/drawingml/2006/main">
              <a:ext uri="{FF2B5EF4-FFF2-40B4-BE49-F238E27FC236}">
                <a16:creationId xmlns:a16="http://schemas.microsoft.com/office/drawing/2014/main" id="{29982723-0C2B-4DB6-AA74-65C46183465C}"/>
              </a:ext>
            </a:extLst>
          </p:cNvPr>
          <p:cNvSpPr>
            <a:spLocks xmlns:a="http://schemas.openxmlformats.org/drawingml/2006/main" noGrp="1"/>
          </p:cNvSpPr>
          <p:nvPr/>
        </p:nvSpPr>
        <p:spPr>
          <a:xfrm xmlns:a="http://schemas.openxmlformats.org/drawingml/2006/main">
            <a:off x="6810375"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22" name="">
            <a:extLst xmlns:a="http://schemas.openxmlformats.org/drawingml/2006/main">
              <a:ext uri="{FF2B5EF4-FFF2-40B4-BE49-F238E27FC236}">
                <a16:creationId xmlns:a16="http://schemas.microsoft.com/office/drawing/2014/main" id="{12A764BA-D98D-4E05-97A1-0777EC09087A}"/>
              </a:ext>
            </a:extLst>
          </p:cNvPr>
          <p:cNvSpPr>
            <a:spLocks xmlns:a="http://schemas.openxmlformats.org/drawingml/2006/main" noGrp="1"/>
          </p:cNvSpPr>
          <p:nvPr/>
        </p:nvSpPr>
        <p:spPr>
          <a:xfrm xmlns:a="http://schemas.openxmlformats.org/drawingml/2006/main">
            <a:off x="7048500"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05</a:t>
            </a:r>
          </a:p>
        </p:txBody>
      </p:sp>
      <p:sp>
        <p:nvSpPr>
          <p:cNvPr id="23" name="">
            <a:extLst xmlns:a="http://schemas.openxmlformats.org/drawingml/2006/main">
              <a:ext uri="{FF2B5EF4-FFF2-40B4-BE49-F238E27FC236}">
                <a16:creationId xmlns:a16="http://schemas.microsoft.com/office/drawing/2014/main" id="{2B15B9EE-7DC3-4EED-A85A-BCDB2168C5FB}"/>
              </a:ext>
            </a:extLst>
          </p:cNvPr>
          <p:cNvSpPr>
            <a:spLocks xmlns:a="http://schemas.openxmlformats.org/drawingml/2006/main" noGrp="1"/>
          </p:cNvSpPr>
          <p:nvPr/>
        </p:nvSpPr>
        <p:spPr>
          <a:xfrm xmlns:a="http://schemas.openxmlformats.org/drawingml/2006/main">
            <a:off x="8686800" y="6524625"/>
            <a:ext cx="914400" cy="9144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da7e0bd8f6a4405b"/>
          <a:stretch xmlns:a="http://schemas.openxmlformats.org/drawingml/2006/main"/>
        </p:blipFill>
        <p:spPr>
          <a:xfrm xmlns:a="http://schemas.openxmlformats.org/drawingml/2006/main">
            <a:off x="8686800" y="6524625"/>
            <a:ext cx="914400" cy="9144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472DE186-00E6-40CB-99C2-BBC32204FD46}"/>
              </a:ext>
            </a:extLst>
          </p:cNvPr>
          <p:cNvSpPr>
            <a:spLocks xmlns:a="http://schemas.openxmlformats.org/drawingml/2006/main" noGrp="1"/>
          </p:cNvSpPr>
          <p:nvPr/>
        </p:nvSpPr>
        <p:spPr>
          <a:xfrm xmlns:a="http://schemas.openxmlformats.org/drawingml/2006/main">
            <a:off x="7048500" y="754380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Apply business rules</a:t>
            </a:r>
          </a:p>
        </p:txBody>
      </p:sp>
      <p:sp>
        <p:nvSpPr>
          <p:cNvPr id="26" name="">
            <a:extLst xmlns:a="http://schemas.openxmlformats.org/drawingml/2006/main">
              <a:ext uri="{FF2B5EF4-FFF2-40B4-BE49-F238E27FC236}">
                <a16:creationId xmlns:a16="http://schemas.microsoft.com/office/drawing/2014/main" id="{1CFE3AFA-142F-47AC-A7EE-42A056F3A0A6}"/>
              </a:ext>
            </a:extLst>
          </p:cNvPr>
          <p:cNvSpPr>
            <a:spLocks xmlns:a="http://schemas.openxmlformats.org/drawingml/2006/main" noGrp="1"/>
          </p:cNvSpPr>
          <p:nvPr/>
        </p:nvSpPr>
        <p:spPr>
          <a:xfrm xmlns:a="http://schemas.openxmlformats.org/drawingml/2006/main">
            <a:off x="571500" y="6238875"/>
            <a:ext cx="4667250" cy="2238375"/>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solid"/>
          </a:ln>
        </p:spPr>
      </p:sp>
      <p:sp>
        <p:nvSpPr>
          <p:cNvPr id="27" name="">
            <a:extLst xmlns:a="http://schemas.openxmlformats.org/drawingml/2006/main">
              <a:ext uri="{FF2B5EF4-FFF2-40B4-BE49-F238E27FC236}">
                <a16:creationId xmlns:a16="http://schemas.microsoft.com/office/drawing/2014/main" id="{ABAFDDC8-DEB2-445B-B65B-3A169EC63A61}"/>
              </a:ext>
            </a:extLst>
          </p:cNvPr>
          <p:cNvSpPr>
            <a:spLocks xmlns:a="http://schemas.openxmlformats.org/drawingml/2006/main" noGrp="1"/>
          </p:cNvSpPr>
          <p:nvPr/>
        </p:nvSpPr>
        <p:spPr>
          <a:xfrm xmlns:a="http://schemas.openxmlformats.org/drawingml/2006/main">
            <a:off x="809625" y="6429375"/>
            <a:ext cx="71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C9502F"/>
                </a:solidFill>
                <a:latin typeface="Arial"/>
                <a:ea typeface="Arial"/>
                <a:cs typeface="Arial"/>
              </a:defRPr>
            </a:pPr>
            <a:r>
              <a:rPr sz="2100" b="1">
                <a:solidFill>
                  <a:srgbClr val="C9502F"/>
                </a:solidFill>
                <a:latin typeface="Arial"/>
                <a:ea typeface="Arial"/>
                <a:cs typeface="Arial"/>
              </a:rPr>
              <a:t>06</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f60cb36dcd3a4187"/>
          <a:stretch xmlns:a="http://schemas.openxmlformats.org/drawingml/2006/main"/>
        </p:blipFill>
        <p:spPr>
          <a:xfrm xmlns:a="http://schemas.openxmlformats.org/drawingml/2006/main">
            <a:off x="2447925" y="6524625"/>
            <a:ext cx="914400" cy="9144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E18EB613-8824-4A7B-87B3-192A7621E2C5}"/>
              </a:ext>
            </a:extLst>
          </p:cNvPr>
          <p:cNvSpPr>
            <a:spLocks xmlns:a="http://schemas.openxmlformats.org/drawingml/2006/main" noGrp="1"/>
          </p:cNvSpPr>
          <p:nvPr/>
        </p:nvSpPr>
        <p:spPr>
          <a:xfrm xmlns:a="http://schemas.openxmlformats.org/drawingml/2006/main">
            <a:off x="809625" y="754380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2475" b="1">
                <a:solidFill>
                  <a:srgbClr val="34231D"/>
                </a:solidFill>
                <a:latin typeface="Arial"/>
                <a:ea typeface="Arial"/>
                <a:cs typeface="Arial"/>
              </a:defRPr>
            </a:pPr>
            <a:r>
              <a:rPr sz="2475" b="1">
                <a:solidFill>
                  <a:srgbClr val="34231D"/>
                </a:solidFill>
                <a:latin typeface="Arial"/>
                <a:ea typeface="Arial"/>
                <a:cs typeface="Arial"/>
              </a:rPr>
              <a:t>Show admin dashboard</a:t>
            </a:r>
          </a:p>
        </p:txBody>
      </p:sp>
      <p:cxnSp>
        <p:nvCxnSpPr>
          <p:cNvPr id="65" name=""/>
          <p:cNvCxnSpPr>
            <a:stCxn xmlns:a="http://schemas.openxmlformats.org/drawingml/2006/main" id="6" idx="3"/>
            <a:endCxn xmlns:a="http://schemas.openxmlformats.org/drawingml/2006/main" id="9" idx="1"/>
          </p:cNvCxnSpPr>
          <p:nvPr/>
        </p:nvCxnSpPr>
        <p:spPr>
          <a:xfrm xmlns:a="http://schemas.openxmlformats.org/drawingml/2006/main">
            <a:off x="5238750" y="440531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6" name=""/>
          <p:cNvCxnSpPr>
            <a:stCxn xmlns:a="http://schemas.openxmlformats.org/drawingml/2006/main" id="9" idx="3"/>
            <a:endCxn xmlns:a="http://schemas.openxmlformats.org/drawingml/2006/main" id="13" idx="1"/>
          </p:cNvCxnSpPr>
          <p:nvPr/>
        </p:nvCxnSpPr>
        <p:spPr>
          <a:xfrm xmlns:a="http://schemas.openxmlformats.org/drawingml/2006/main">
            <a:off x="11477625" y="440531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7" name=""/>
          <p:cNvCxnSpPr>
            <a:stCxn xmlns:a="http://schemas.openxmlformats.org/drawingml/2006/main" id="13" idx="2"/>
            <a:endCxn xmlns:a="http://schemas.openxmlformats.org/drawingml/2006/main" id="17" idx="0"/>
          </p:cNvCxnSpPr>
          <p:nvPr/>
        </p:nvCxnSpPr>
        <p:spPr>
          <a:xfrm xmlns:a="http://schemas.openxmlformats.org/drawingml/2006/main">
            <a:off x="15382875" y="5524500"/>
            <a:ext cx="0" cy="714375"/>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8" name=""/>
          <p:cNvCxnSpPr>
            <a:stCxn xmlns:a="http://schemas.openxmlformats.org/drawingml/2006/main" id="17" idx="1"/>
            <a:endCxn xmlns:a="http://schemas.openxmlformats.org/drawingml/2006/main" id="21" idx="3"/>
          </p:cNvCxnSpPr>
          <p:nvPr/>
        </p:nvCxnSpPr>
        <p:spPr>
          <a:xfrm xmlns:a="http://schemas.openxmlformats.org/drawingml/2006/main" flipH="1">
            <a:off x="11477625" y="735806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69" name=""/>
          <p:cNvCxnSpPr>
            <a:stCxn xmlns:a="http://schemas.openxmlformats.org/drawingml/2006/main" id="21" idx="1"/>
            <a:endCxn xmlns:a="http://schemas.openxmlformats.org/drawingml/2006/main" id="26" idx="3"/>
          </p:cNvCxnSpPr>
          <p:nvPr/>
        </p:nvCxnSpPr>
        <p:spPr>
          <a:xfrm xmlns:a="http://schemas.openxmlformats.org/drawingml/2006/main" flipH="1">
            <a:off x="5238750" y="7358063"/>
            <a:ext cx="157162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sp>
        <p:nvSpPr>
          <p:cNvPr id="35" name="">
            <a:extLst xmlns:a="http://schemas.openxmlformats.org/drawingml/2006/main">
              <a:ext uri="{FF2B5EF4-FFF2-40B4-BE49-F238E27FC236}">
                <a16:creationId xmlns:a16="http://schemas.microsoft.com/office/drawing/2014/main" id="{44FD9E4B-BBB3-4783-9F6E-405EC4012EED}"/>
              </a:ext>
            </a:extLst>
          </p:cNvPr>
          <p:cNvSpPr>
            <a:spLocks xmlns:a="http://schemas.openxmlformats.org/drawingml/2006/main" noGrp="1"/>
          </p:cNvSpPr>
          <p:nvPr/>
        </p:nvSpPr>
        <p:spPr>
          <a:xfrm xmlns:a="http://schemas.openxmlformats.org/drawingml/2006/main">
            <a:off x="571500" y="8924925"/>
            <a:ext cx="1666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05299"/>
                </a:solidFill>
                <a:latin typeface="Arial"/>
                <a:ea typeface="Arial"/>
                <a:cs typeface="Arial"/>
              </a:defRPr>
            </a:pPr>
            <a:r>
              <a:rPr sz="2100" b="1">
                <a:solidFill>
                  <a:srgbClr val="805299"/>
                </a:solidFill>
                <a:latin typeface="Arial"/>
                <a:ea typeface="Arial"/>
                <a:cs typeface="Arial"/>
              </a:rPr>
              <a:t>Planned: live training and inference are not connected.</a:t>
            </a:r>
          </a:p>
        </p:txBody>
      </p:sp>
    </p:spTree>
    <p:extLst>
      <p:ext uri="{BB962C8B-B14F-4D97-AF65-F5344CB8AC3E}">
        <p14:creationId xmlns:p14="http://schemas.microsoft.com/office/powerpoint/2010/main" val="1813454256"/>
      </p:ext>
    </p:extLst>
  </p:cSld>
</p:sld>
</file>

<file path=ppt/slides/slide5.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1cd9bd79e4f493a"/>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E49A569-AB31-46EB-9E9E-89A8AB2D6DB3}"/>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AA655554-CD22-40D2-AFCC-B4F2AAEFC85C}"/>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5. Bedrock Guardrails workflow</a:t>
            </a:r>
          </a:p>
        </p:txBody>
      </p:sp>
      <p:sp>
        <p:nvSpPr>
          <p:cNvPr id="4" name="">
            <a:extLst xmlns:a="http://schemas.openxmlformats.org/drawingml/2006/main">
              <a:ext uri="{FF2B5EF4-FFF2-40B4-BE49-F238E27FC236}">
                <a16:creationId xmlns:a16="http://schemas.microsoft.com/office/drawing/2014/main" id="{F02AB531-E7CF-4AE1-B11E-A1BA0EF081F1}"/>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Optional policy on Bedrock chat calls, including voice transcripts</a:t>
            </a:r>
          </a:p>
        </p:txBody>
      </p:sp>
      <p:sp>
        <p:nvSpPr>
          <p:cNvPr id="5" name="">
            <a:extLst xmlns:a="http://schemas.openxmlformats.org/drawingml/2006/main">
              <a:ext uri="{FF2B5EF4-FFF2-40B4-BE49-F238E27FC236}">
                <a16:creationId xmlns:a16="http://schemas.microsoft.com/office/drawing/2014/main" id="{63AB7135-7041-4E8E-9648-DBA23F364EAD}"/>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D1EB9850-1C50-47C9-9A7E-C8E008B22A6D}"/>
              </a:ext>
            </a:extLst>
          </p:cNvPr>
          <p:cNvSpPr>
            <a:spLocks xmlns:a="http://schemas.openxmlformats.org/drawingml/2006/main" noGrp="1"/>
          </p:cNvSpPr>
          <p:nvPr/>
        </p:nvSpPr>
        <p:spPr>
          <a:xfrm xmlns:a="http://schemas.openxmlformats.org/drawingml/2006/main">
            <a:off x="571500" y="3190875"/>
            <a:ext cx="4667250" cy="19050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7" name="">
            <a:extLst xmlns:a="http://schemas.openxmlformats.org/drawingml/2006/main">
              <a:ext uri="{FF2B5EF4-FFF2-40B4-BE49-F238E27FC236}">
                <a16:creationId xmlns:a16="http://schemas.microsoft.com/office/drawing/2014/main" id="{02E67B8C-00F2-49D0-8468-958D90771ED0}"/>
              </a:ext>
            </a:extLst>
          </p:cNvPr>
          <p:cNvSpPr>
            <a:spLocks xmlns:a="http://schemas.openxmlformats.org/drawingml/2006/main" noGrp="1"/>
          </p:cNvSpPr>
          <p:nvPr/>
        </p:nvSpPr>
        <p:spPr>
          <a:xfrm xmlns:a="http://schemas.openxmlformats.org/drawingml/2006/main">
            <a:off x="762000" y="3381375"/>
            <a:ext cx="609600" cy="6096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8550ab71a4e74ede"/>
          <a:stretch xmlns:a="http://schemas.openxmlformats.org/drawingml/2006/main"/>
        </p:blipFill>
        <p:spPr>
          <a:xfrm xmlns:a="http://schemas.openxmlformats.org/drawingml/2006/main">
            <a:off x="762000" y="3381375"/>
            <a:ext cx="609600" cy="6096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A79B689-063A-4102-8E72-51FB2BEE7533}"/>
              </a:ext>
            </a:extLst>
          </p:cNvPr>
          <p:cNvSpPr>
            <a:spLocks xmlns:a="http://schemas.openxmlformats.org/drawingml/2006/main" noGrp="1"/>
          </p:cNvSpPr>
          <p:nvPr/>
        </p:nvSpPr>
        <p:spPr>
          <a:xfrm xmlns:a="http://schemas.openxmlformats.org/drawingml/2006/main">
            <a:off x="1514475" y="3400425"/>
            <a:ext cx="350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1. Chat or voice transcript</a:t>
            </a:r>
          </a:p>
        </p:txBody>
      </p:sp>
      <p:sp>
        <p:nvSpPr>
          <p:cNvPr id="10" name="">
            <a:extLst xmlns:a="http://schemas.openxmlformats.org/drawingml/2006/main">
              <a:ext uri="{FF2B5EF4-FFF2-40B4-BE49-F238E27FC236}">
                <a16:creationId xmlns:a16="http://schemas.microsoft.com/office/drawing/2014/main" id="{64569E3C-E4A0-49CF-A9E7-A719374DAC5D}"/>
              </a:ext>
            </a:extLst>
          </p:cNvPr>
          <p:cNvSpPr>
            <a:spLocks xmlns:a="http://schemas.openxmlformats.org/drawingml/2006/main" noGrp="1"/>
          </p:cNvSpPr>
          <p:nvPr/>
        </p:nvSpPr>
        <p:spPr>
          <a:xfrm xmlns:a="http://schemas.openxmlformats.org/drawingml/2006/main">
            <a:off x="790575" y="4238625"/>
            <a:ext cx="4229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FastAPI prepares the conversation</a:t>
            </a:r>
          </a:p>
        </p:txBody>
      </p:sp>
      <p:sp>
        <p:nvSpPr>
          <p:cNvPr id="11" name="">
            <a:extLst xmlns:a="http://schemas.openxmlformats.org/drawingml/2006/main">
              <a:ext uri="{FF2B5EF4-FFF2-40B4-BE49-F238E27FC236}">
                <a16:creationId xmlns:a16="http://schemas.microsoft.com/office/drawing/2014/main" id="{F91D4533-09DD-4E55-AF5B-4CAE9CD2F2E7}"/>
              </a:ext>
            </a:extLst>
          </p:cNvPr>
          <p:cNvSpPr>
            <a:spLocks xmlns:a="http://schemas.openxmlformats.org/drawingml/2006/main" noGrp="1"/>
          </p:cNvSpPr>
          <p:nvPr/>
        </p:nvSpPr>
        <p:spPr>
          <a:xfrm xmlns:a="http://schemas.openxmlformats.org/drawingml/2006/main">
            <a:off x="6810375" y="3190875"/>
            <a:ext cx="4667250" cy="1905000"/>
          </a:xfrm>
          <a:prstGeom xmlns:a="http://schemas.openxmlformats.org/drawingml/2006/main" prst="rect">
            <a:avLst/>
          </a:prstGeom>
          <a:solidFill xmlns:a="http://schemas.openxmlformats.org/drawingml/2006/main">
            <a:srgbClr val="FFFDF8"/>
          </a:solidFill>
          <a:ln xmlns:a="http://schemas.openxmlformats.org/drawingml/2006/main" w="19050">
            <a:solidFill>
              <a:srgbClr val="C9502F"/>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2ef592042ecb48c9"/>
          <a:stretch xmlns:a="http://schemas.openxmlformats.org/drawingml/2006/main"/>
        </p:blipFill>
        <p:spPr>
          <a:xfrm xmlns:a="http://schemas.openxmlformats.org/drawingml/2006/main">
            <a:off x="7000875" y="3381375"/>
            <a:ext cx="609600" cy="6096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298E329-4556-426D-A5C7-BBA9AC281B22}"/>
              </a:ext>
            </a:extLst>
          </p:cNvPr>
          <p:cNvSpPr>
            <a:spLocks xmlns:a="http://schemas.openxmlformats.org/drawingml/2006/main" noGrp="1"/>
          </p:cNvSpPr>
          <p:nvPr/>
        </p:nvSpPr>
        <p:spPr>
          <a:xfrm xmlns:a="http://schemas.openxmlformats.org/drawingml/2006/main">
            <a:off x="7753350" y="3400425"/>
            <a:ext cx="350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2. Bedrock + Guardrails</a:t>
            </a:r>
          </a:p>
        </p:txBody>
      </p:sp>
      <p:sp>
        <p:nvSpPr>
          <p:cNvPr id="14" name="">
            <a:extLst xmlns:a="http://schemas.openxmlformats.org/drawingml/2006/main">
              <a:ext uri="{FF2B5EF4-FFF2-40B4-BE49-F238E27FC236}">
                <a16:creationId xmlns:a16="http://schemas.microsoft.com/office/drawing/2014/main" id="{9DD5E616-0491-4909-AD4B-A5D8A0134778}"/>
              </a:ext>
            </a:extLst>
          </p:cNvPr>
          <p:cNvSpPr>
            <a:spLocks xmlns:a="http://schemas.openxmlformats.org/drawingml/2006/main" noGrp="1"/>
          </p:cNvSpPr>
          <p:nvPr/>
        </p:nvSpPr>
        <p:spPr>
          <a:xfrm xmlns:a="http://schemas.openxmlformats.org/drawingml/2006/main">
            <a:off x="7029450" y="4238625"/>
            <a:ext cx="4229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Attach configured policy ID and version</a:t>
            </a:r>
          </a:p>
        </p:txBody>
      </p:sp>
      <p:cxnSp>
        <p:nvCxnSpPr>
          <p:cNvPr id="49" name=""/>
          <p:cNvCxnSpPr>
            <a:stCxn xmlns:a="http://schemas.openxmlformats.org/drawingml/2006/main" id="6" idx="3"/>
            <a:endCxn xmlns:a="http://schemas.openxmlformats.org/drawingml/2006/main" id="11" idx="1"/>
          </p:cNvCxnSpPr>
          <p:nvPr/>
        </p:nvCxnSpPr>
        <p:spPr>
          <a:xfrm xmlns:a="http://schemas.openxmlformats.org/drawingml/2006/main">
            <a:off x="5238750" y="4143375"/>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B55A2B75-3A3F-4D45-BC56-4F127061DBB2}"/>
              </a:ext>
            </a:extLst>
          </p:cNvPr>
          <p:cNvSpPr>
            <a:spLocks xmlns:a="http://schemas.openxmlformats.org/drawingml/2006/main" noGrp="1"/>
          </p:cNvSpPr>
          <p:nvPr/>
        </p:nvSpPr>
        <p:spPr>
          <a:xfrm xmlns:a="http://schemas.openxmlformats.org/drawingml/2006/main">
            <a:off x="13049250" y="3190875"/>
            <a:ext cx="4667250" cy="1905000"/>
          </a:xfrm>
          <a:prstGeom xmlns:a="http://schemas.openxmlformats.org/drawingml/2006/main" prst="rect">
            <a:avLst/>
          </a:prstGeom>
          <a:solidFill xmlns:a="http://schemas.openxmlformats.org/drawingml/2006/main">
            <a:srgbClr val="FFFDF8"/>
          </a:solidFill>
          <a:ln xmlns:a="http://schemas.openxmlformats.org/drawingml/2006/main" w="19050">
            <a:solidFill>
              <a:srgbClr val="4E8358"/>
            </a:solidFill>
            <a:prstDash val="solid"/>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ca5577a457ba4343"/>
          <a:stretch xmlns:a="http://schemas.openxmlformats.org/drawingml/2006/main"/>
        </p:blipFill>
        <p:spPr>
          <a:xfrm xmlns:a="http://schemas.openxmlformats.org/drawingml/2006/main">
            <a:off x="13239750" y="3381375"/>
            <a:ext cx="609600" cy="6096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4FBFD7A3-64BA-4593-A5A7-8C06CA57C9C8}"/>
              </a:ext>
            </a:extLst>
          </p:cNvPr>
          <p:cNvSpPr>
            <a:spLocks xmlns:a="http://schemas.openxmlformats.org/drawingml/2006/main" noGrp="1"/>
          </p:cNvSpPr>
          <p:nvPr/>
        </p:nvSpPr>
        <p:spPr>
          <a:xfrm xmlns:a="http://schemas.openxmlformats.org/drawingml/2006/main">
            <a:off x="13992225" y="3400425"/>
            <a:ext cx="350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3A. Allowed</a:t>
            </a:r>
          </a:p>
        </p:txBody>
      </p:sp>
      <p:sp>
        <p:nvSpPr>
          <p:cNvPr id="19" name="">
            <a:extLst xmlns:a="http://schemas.openxmlformats.org/drawingml/2006/main">
              <a:ext uri="{FF2B5EF4-FFF2-40B4-BE49-F238E27FC236}">
                <a16:creationId xmlns:a16="http://schemas.microsoft.com/office/drawing/2014/main" id="{1F0FE904-0262-4720-A0C5-0CF9C5E8F920}"/>
              </a:ext>
            </a:extLst>
          </p:cNvPr>
          <p:cNvSpPr>
            <a:spLocks xmlns:a="http://schemas.openxmlformats.org/drawingml/2006/main" noGrp="1"/>
          </p:cNvSpPr>
          <p:nvPr/>
        </p:nvSpPr>
        <p:spPr>
          <a:xfrm xmlns:a="http://schemas.openxmlformats.org/drawingml/2006/main">
            <a:off x="13268325" y="4238625"/>
            <a:ext cx="4229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Continue model and tool workflow</a:t>
            </a:r>
          </a:p>
        </p:txBody>
      </p:sp>
      <p:sp>
        <p:nvSpPr>
          <p:cNvPr id="20" name="">
            <a:extLst xmlns:a="http://schemas.openxmlformats.org/drawingml/2006/main">
              <a:ext uri="{FF2B5EF4-FFF2-40B4-BE49-F238E27FC236}">
                <a16:creationId xmlns:a16="http://schemas.microsoft.com/office/drawing/2014/main" id="{9A3A91F7-946C-4BB7-992A-ABCF09F87385}"/>
              </a:ext>
            </a:extLst>
          </p:cNvPr>
          <p:cNvSpPr>
            <a:spLocks xmlns:a="http://schemas.openxmlformats.org/drawingml/2006/main" noGrp="1"/>
          </p:cNvSpPr>
          <p:nvPr/>
        </p:nvSpPr>
        <p:spPr>
          <a:xfrm xmlns:a="http://schemas.openxmlformats.org/drawingml/2006/main">
            <a:off x="6810375" y="6477000"/>
            <a:ext cx="4667250" cy="1905000"/>
          </a:xfrm>
          <a:prstGeom xmlns:a="http://schemas.openxmlformats.org/drawingml/2006/main" prst="rect">
            <a:avLst/>
          </a:prstGeom>
          <a:solidFill xmlns:a="http://schemas.openxmlformats.org/drawingml/2006/main">
            <a:srgbClr val="FFFDF8"/>
          </a:solidFill>
          <a:ln xmlns:a="http://schemas.openxmlformats.org/drawingml/2006/main" w="19050">
            <a:solidFill>
              <a:srgbClr val="C9502F"/>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d46cc04d06ca45dd"/>
          <a:stretch xmlns:a="http://schemas.openxmlformats.org/drawingml/2006/main"/>
        </p:blipFill>
        <p:spPr>
          <a:xfrm xmlns:a="http://schemas.openxmlformats.org/drawingml/2006/main">
            <a:off x="7000875" y="6667500"/>
            <a:ext cx="609600" cy="6096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0A92D9B3-3D80-437B-98BD-759D25D42CA1}"/>
              </a:ext>
            </a:extLst>
          </p:cNvPr>
          <p:cNvSpPr>
            <a:spLocks xmlns:a="http://schemas.openxmlformats.org/drawingml/2006/main" noGrp="1"/>
          </p:cNvSpPr>
          <p:nvPr/>
        </p:nvSpPr>
        <p:spPr>
          <a:xfrm xmlns:a="http://schemas.openxmlformats.org/drawingml/2006/main">
            <a:off x="7753350" y="6686550"/>
            <a:ext cx="350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3B. Policy intervenes</a:t>
            </a:r>
          </a:p>
        </p:txBody>
      </p:sp>
      <p:sp>
        <p:nvSpPr>
          <p:cNvPr id="23" name="">
            <a:extLst xmlns:a="http://schemas.openxmlformats.org/drawingml/2006/main">
              <a:ext uri="{FF2B5EF4-FFF2-40B4-BE49-F238E27FC236}">
                <a16:creationId xmlns:a16="http://schemas.microsoft.com/office/drawing/2014/main" id="{1469D858-EF96-43E7-A375-750D88D44672}"/>
              </a:ext>
            </a:extLst>
          </p:cNvPr>
          <p:cNvSpPr>
            <a:spLocks xmlns:a="http://schemas.openxmlformats.org/drawingml/2006/main" noGrp="1"/>
          </p:cNvSpPr>
          <p:nvPr/>
        </p:nvSpPr>
        <p:spPr>
          <a:xfrm xmlns:a="http://schemas.openxmlformats.org/drawingml/2006/main">
            <a:off x="7029450" y="7524750"/>
            <a:ext cx="4229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Return a blocked response</a:t>
            </a:r>
          </a:p>
        </p:txBody>
      </p:sp>
      <p:sp>
        <p:nvSpPr>
          <p:cNvPr id="24" name="">
            <a:extLst xmlns:a="http://schemas.openxmlformats.org/drawingml/2006/main">
              <a:ext uri="{FF2B5EF4-FFF2-40B4-BE49-F238E27FC236}">
                <a16:creationId xmlns:a16="http://schemas.microsoft.com/office/drawing/2014/main" id="{C6B2E521-EDCD-4E8C-98AB-5A7A8DDFCF27}"/>
              </a:ext>
            </a:extLst>
          </p:cNvPr>
          <p:cNvSpPr>
            <a:spLocks xmlns:a="http://schemas.openxmlformats.org/drawingml/2006/main" noGrp="1"/>
          </p:cNvSpPr>
          <p:nvPr/>
        </p:nvSpPr>
        <p:spPr>
          <a:xfrm xmlns:a="http://schemas.openxmlformats.org/drawingml/2006/main">
            <a:off x="13049250" y="6477000"/>
            <a:ext cx="4667250" cy="19050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dafc2f8f8d0e42d8"/>
          <a:stretch xmlns:a="http://schemas.openxmlformats.org/drawingml/2006/main"/>
        </p:blipFill>
        <p:spPr>
          <a:xfrm xmlns:a="http://schemas.openxmlformats.org/drawingml/2006/main">
            <a:off x="13239750" y="6667500"/>
            <a:ext cx="609600" cy="6096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77228EC8-AD88-4D4B-9F72-874B4736D382}"/>
              </a:ext>
            </a:extLst>
          </p:cNvPr>
          <p:cNvSpPr>
            <a:spLocks xmlns:a="http://schemas.openxmlformats.org/drawingml/2006/main" noGrp="1"/>
          </p:cNvSpPr>
          <p:nvPr/>
        </p:nvSpPr>
        <p:spPr>
          <a:xfrm xmlns:a="http://schemas.openxmlformats.org/drawingml/2006/main">
            <a:off x="13992225" y="6686550"/>
            <a:ext cx="350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4. Return response</a:t>
            </a:r>
          </a:p>
        </p:txBody>
      </p:sp>
      <p:sp>
        <p:nvSpPr>
          <p:cNvPr id="27" name="">
            <a:extLst xmlns:a="http://schemas.openxmlformats.org/drawingml/2006/main">
              <a:ext uri="{FF2B5EF4-FFF2-40B4-BE49-F238E27FC236}">
                <a16:creationId xmlns:a16="http://schemas.microsoft.com/office/drawing/2014/main" id="{576FC75A-3016-4409-9861-B37BE05618C9}"/>
              </a:ext>
            </a:extLst>
          </p:cNvPr>
          <p:cNvSpPr>
            <a:spLocks xmlns:a="http://schemas.openxmlformats.org/drawingml/2006/main" noGrp="1"/>
          </p:cNvSpPr>
          <p:nvPr/>
        </p:nvSpPr>
        <p:spPr>
          <a:xfrm xmlns:a="http://schemas.openxmlformats.org/drawingml/2006/main">
            <a:off x="13268325" y="7524750"/>
            <a:ext cx="4229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Display text; voice replies use Polly</a:t>
            </a:r>
          </a:p>
        </p:txBody>
      </p:sp>
      <p:cxnSp>
        <p:nvCxnSpPr>
          <p:cNvPr id="62" name=""/>
          <p:cNvCxnSpPr>
            <a:stCxn xmlns:a="http://schemas.openxmlformats.org/drawingml/2006/main" id="11" idx="3"/>
            <a:endCxn xmlns:a="http://schemas.openxmlformats.org/drawingml/2006/main" id="16" idx="1"/>
          </p:cNvCxnSpPr>
          <p:nvPr/>
        </p:nvCxnSpPr>
        <p:spPr>
          <a:xfrm xmlns:a="http://schemas.openxmlformats.org/drawingml/2006/main">
            <a:off x="11477625" y="4143375"/>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3" name=""/>
          <p:cNvCxnSpPr>
            <a:stCxn xmlns:a="http://schemas.openxmlformats.org/drawingml/2006/main" id="11" idx="2"/>
            <a:endCxn xmlns:a="http://schemas.openxmlformats.org/drawingml/2006/main" id="20" idx="0"/>
          </p:cNvCxnSpPr>
          <p:nvPr/>
        </p:nvCxnSpPr>
        <p:spPr>
          <a:xfrm xmlns:a="http://schemas.openxmlformats.org/drawingml/2006/main">
            <a:off x="9144000" y="5095875"/>
            <a:ext cx="0" cy="138112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4" name=""/>
          <p:cNvCxnSpPr>
            <a:stCxn xmlns:a="http://schemas.openxmlformats.org/drawingml/2006/main" id="16" idx="2"/>
            <a:endCxn xmlns:a="http://schemas.openxmlformats.org/drawingml/2006/main" id="24" idx="0"/>
          </p:cNvCxnSpPr>
          <p:nvPr/>
        </p:nvCxnSpPr>
        <p:spPr>
          <a:xfrm xmlns:a="http://schemas.openxmlformats.org/drawingml/2006/main">
            <a:off x="15382875" y="5095875"/>
            <a:ext cx="0" cy="138112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65" name=""/>
          <p:cNvCxnSpPr>
            <a:stCxn xmlns:a="http://schemas.openxmlformats.org/drawingml/2006/main" id="20" idx="3"/>
            <a:endCxn xmlns:a="http://schemas.openxmlformats.org/drawingml/2006/main" id="24" idx="1"/>
          </p:cNvCxnSpPr>
          <p:nvPr/>
        </p:nvCxnSpPr>
        <p:spPr>
          <a:xfrm xmlns:a="http://schemas.openxmlformats.org/drawingml/2006/main">
            <a:off x="11477625" y="7429500"/>
            <a:ext cx="157162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32" name="">
            <a:extLst xmlns:a="http://schemas.openxmlformats.org/drawingml/2006/main">
              <a:ext uri="{FF2B5EF4-FFF2-40B4-BE49-F238E27FC236}">
                <a16:creationId xmlns:a16="http://schemas.microsoft.com/office/drawing/2014/main" id="{4507A47C-B615-4011-96C4-3A67579428F4}"/>
              </a:ext>
            </a:extLst>
          </p:cNvPr>
          <p:cNvSpPr>
            <a:spLocks xmlns:a="http://schemas.openxmlformats.org/drawingml/2006/main" noGrp="1"/>
          </p:cNvSpPr>
          <p:nvPr/>
        </p:nvSpPr>
        <p:spPr>
          <a:xfrm xmlns:a="http://schemas.openxmlformats.org/drawingml/2006/main">
            <a:off x="571500" y="6191250"/>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Configured policy filters</a:t>
            </a:r>
          </a:p>
        </p:txBody>
      </p:sp>
      <p:sp>
        <p:nvSpPr>
          <p:cNvPr id="33" name="">
            <a:extLst xmlns:a="http://schemas.openxmlformats.org/drawingml/2006/main">
              <a:ext uri="{FF2B5EF4-FFF2-40B4-BE49-F238E27FC236}">
                <a16:creationId xmlns:a16="http://schemas.microsoft.com/office/drawing/2014/main" id="{C77B1AF5-12A3-4B2B-9199-D7E091171312}"/>
              </a:ext>
            </a:extLst>
          </p:cNvPr>
          <p:cNvSpPr>
            <a:spLocks xmlns:a="http://schemas.openxmlformats.org/drawingml/2006/main" noGrp="1"/>
          </p:cNvSpPr>
          <p:nvPr/>
        </p:nvSpPr>
        <p:spPr>
          <a:xfrm xmlns:a="http://schemas.openxmlformats.org/drawingml/2006/main">
            <a:off x="571500" y="6810375"/>
            <a:ext cx="561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Prompt injection / jailbreaks</a:t>
            </a:r>
          </a:p>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Harmful or toxic content</a:t>
            </a:r>
          </a:p>
          <a:p xmlns:a="http://schemas.openxmlformats.org/drawingml/2006/main">
            <a:pPr>
              <a:defRPr sz="2250" b="0">
                <a:solidFill>
                  <a:srgbClr val="34231D"/>
                </a:solidFill>
                <a:latin typeface="Arial"/>
                <a:ea typeface="Arial"/>
                <a:cs typeface="Arial"/>
              </a:defRPr>
            </a:pPr>
            <a:r>
              <a:rPr sz="2250" b="0">
                <a:solidFill>
                  <a:srgbClr val="34231D"/>
                </a:solidFill>
                <a:latin typeface="Arial"/>
                <a:ea typeface="Arial"/>
                <a:cs typeface="Arial"/>
              </a:rPr>
              <a:t>Blocked words</a:t>
            </a:r>
          </a:p>
        </p:txBody>
      </p:sp>
      <p:sp>
        <p:nvSpPr>
          <p:cNvPr id="34" name="">
            <a:extLst xmlns:a="http://schemas.openxmlformats.org/drawingml/2006/main">
              <a:ext uri="{FF2B5EF4-FFF2-40B4-BE49-F238E27FC236}">
                <a16:creationId xmlns:a16="http://schemas.microsoft.com/office/drawing/2014/main" id="{9865BF90-82C2-437D-BEAC-802378E41D28}"/>
              </a:ext>
            </a:extLst>
          </p:cNvPr>
          <p:cNvSpPr>
            <a:spLocks xmlns:a="http://schemas.openxmlformats.org/drawingml/2006/main" noGrp="1"/>
          </p:cNvSpPr>
          <p:nvPr/>
        </p:nvSpPr>
        <p:spPr>
          <a:xfrm xmlns:a="http://schemas.openxmlformats.org/drawingml/2006/main">
            <a:off x="571500" y="9020175"/>
            <a:ext cx="1657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Policy configuration determines coverage. Deployed AWS policy has not been verified.</a:t>
            </a:r>
          </a:p>
        </p:txBody>
      </p:sp>
    </p:spTree>
    <p:extLst>
      <p:ext uri="{BB962C8B-B14F-4D97-AF65-F5344CB8AC3E}">
        <p14:creationId xmlns:p14="http://schemas.microsoft.com/office/powerpoint/2010/main" val="15496973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2026-09-12T14:09:50.3100000Z</dcterms:created>
  <dcterms:modified xsi:type="dcterms:W3CDTF">2026-09-12T14:09:50.3110000Z</dcterms:modified>
</coreProperties>
</file>