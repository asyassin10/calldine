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f9f2f2df15e4f46" /><Relationship Type="http://schemas.openxmlformats.org/officeDocument/2006/relationships/extended-properties" Target="/docProps/app.xml" Id="R87eab73ec0fc444e" /><Relationship Type="http://schemas.openxmlformats.org/officeDocument/2006/relationships/officeDocument" Target="/ppt/presentation.xml" Id="Re01ea72173604b31" /></Relationships>
</file>

<file path=ppt/presentation.xml><?xml version="1.0" encoding="utf-8"?>
<p:presentation xmlns:p="http://schemas.openxmlformats.org/presentationml/2006/main">
  <p:sldMasterIdLst>
    <p:sldMasterId xmlns:r="http://schemas.openxmlformats.org/officeDocument/2006/relationships" id="2147483648" r:id="Raaf0fa7fc00040a7"/>
  </p:sldMasterIdLst>
  <p:notesMasterIdLst>
    <p:notesMasterId xmlns:r="http://schemas.openxmlformats.org/officeDocument/2006/relationships" r:id="R616a60f3045c48d3"/>
  </p:notesMasterIdLst>
  <p:sldIdLst>
    <p:sldId xmlns:r="http://schemas.openxmlformats.org/officeDocument/2006/relationships" id="256" r:id="R0bed1453e2ea4d7f"/>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467fcdcee97412b" /><Relationship Type="http://schemas.openxmlformats.org/officeDocument/2006/relationships/slideMaster" Target="/ppt/slideMasters/slideMaster1.xml" Id="Raaf0fa7fc00040a7" /><Relationship Type="http://schemas.openxmlformats.org/officeDocument/2006/relationships/notesMaster" Target="/ppt/notesMasters/notesMaster1.xml" Id="R616a60f3045c48d3" /><Relationship Type="http://schemas.openxmlformats.org/officeDocument/2006/relationships/presProps" Target="/ppt/presProps.xml" Id="Raba478a8f61d4509" /><Relationship Type="http://schemas.openxmlformats.org/officeDocument/2006/relationships/tableStyles" Target="/ppt/tableStyles.xml" Id="Rbceb4795a3ea46d8" /><Relationship Type="http://schemas.openxmlformats.org/officeDocument/2006/relationships/slide" Target="/ppt/slides/slide1.xml" Id="R0bed1453e2ea4d7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18032f6d564474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6d471dd41854620" /><Relationship Type="http://schemas.openxmlformats.org/officeDocument/2006/relationships/notesMaster" Target="/ppt/notesMasters/notesMaster1.xml" Id="R84f51a4bea654f4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uses the Next.js interface and server API proxy. FastAPI coordinates chat, voice, knowledge, orders and reservations. Controlled services call Bedrock, S3, Textract, Transcribe and Polly through AWS clients. Knowledge search uses Qdrant, while repositories access SQLite. The browser connects to Chime separately and FastAPI creates the session. Guardrails are optional chat configuration. SageMaker remains planned. CloudWatch and Secrets Manager have client factories only. Solid lines represent source-code paths, not verified live AWS operation. AWS hosting is not established.</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f5ad9e0afd7466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adfb0fa1cc74955" /><Relationship Type="http://schemas.openxmlformats.org/officeDocument/2006/relationships/slideLayout" Target="/ppt/slideLayouts/slideLayout1.xml" Id="R8f2f3da6ffac451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2f3da6ffac451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7a4040f8f184519" /><Relationship Type="http://schemas.openxmlformats.org/officeDocument/2006/relationships/image" Target="/ppt/media/image.png" Id="R60b2e1a6e01d46f5" /><Relationship Type="http://schemas.openxmlformats.org/officeDocument/2006/relationships/image" Target="/ppt/media/image2.png" Id="Rd32d2065a3d34f68" /><Relationship Type="http://schemas.openxmlformats.org/officeDocument/2006/relationships/image" Target="/ppt/media/image3.png" Id="R53ae0d62ea394d25" /><Relationship Type="http://schemas.openxmlformats.org/officeDocument/2006/relationships/image" Target="/ppt/media/image4.png" Id="R4d4c47e997594d9c" /><Relationship Type="http://schemas.openxmlformats.org/officeDocument/2006/relationships/image" Target="/ppt/media/image5.png" Id="R8740be7289b44c7a" /><Relationship Type="http://schemas.openxmlformats.org/officeDocument/2006/relationships/image" Target="/ppt/media/image6.png" Id="R93a7a45aaa8c4fbe" /><Relationship Type="http://schemas.openxmlformats.org/officeDocument/2006/relationships/image" Target="/ppt/media/image7.png" Id="Rbf3d07bf384c42c8" /><Relationship Type="http://schemas.openxmlformats.org/officeDocument/2006/relationships/image" Target="/ppt/media/image8.png" Id="R2d03d3cbed0e4d62" /><Relationship Type="http://schemas.openxmlformats.org/officeDocument/2006/relationships/image" Target="/ppt/media/image9.png" Id="R7bfe47f5559b495e" /><Relationship Type="http://schemas.openxmlformats.org/officeDocument/2006/relationships/image" Target="/ppt/media/image10.png" Id="R22bbe6889eff465b" /><Relationship Type="http://schemas.openxmlformats.org/officeDocument/2006/relationships/image" Target="/ppt/media/image11.png" Id="R146b2a7ab6aa462e" /><Relationship Type="http://schemas.openxmlformats.org/officeDocument/2006/relationships/image" Target="/ppt/media/image12.png" Id="R2a88cee02f494ade" /><Relationship Type="http://schemas.openxmlformats.org/officeDocument/2006/relationships/image" Target="/ppt/media/image13.png" Id="R8d536e08bd5248a8" /><Relationship Type="http://schemas.openxmlformats.org/officeDocument/2006/relationships/image" Target="/ppt/media/image14.png" Id="Red33c9243fa94b02" /><Relationship Type="http://schemas.openxmlformats.org/officeDocument/2006/relationships/image" Target="/ppt/media/image15.png" Id="Rfd874cf7062b4164" /><Relationship Type="http://schemas.openxmlformats.org/officeDocument/2006/relationships/notesSlide" Target="/ppt/notesSlides/notesSlide1.xml" Id="R1e98b8dd07a9409b" /></Relationships>
</file>

<file path=ppt/slides/slide1.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80" name=""/>
          <p:cNvPicPr>
            <a:picLocks xmlns:a="http://schemas.openxmlformats.org/drawingml/2006/main" noChangeAspect="1"/>
          </p:cNvPicPr>
          <p:nvPr/>
        </p:nvPicPr>
        <p:blipFill>
          <a:blip xmlns:r="http://schemas.openxmlformats.org/officeDocument/2006/relationships" xmlns:a="http://schemas.openxmlformats.org/drawingml/2006/main" r:embed="R60b2e1a6e01d46f5"/>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5E8302A-2DC7-4A7B-BF95-680A8DCA91DE}"/>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F2F66C54-3A1A-4C63-9F67-3E4CEA6CBBCA}"/>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Complete system architecture</a:t>
            </a:r>
          </a:p>
        </p:txBody>
      </p:sp>
      <p:sp>
        <p:nvSpPr>
          <p:cNvPr id="4" name="">
            <a:extLst xmlns:a="http://schemas.openxmlformats.org/drawingml/2006/main">
              <a:ext uri="{FF2B5EF4-FFF2-40B4-BE49-F238E27FC236}">
                <a16:creationId xmlns:a16="http://schemas.microsoft.com/office/drawing/2014/main" id="{29685A11-C0AB-44AE-A169-0AF9ADBA29E5}"/>
              </a:ext>
            </a:extLst>
          </p:cNvPr>
          <p:cNvSpPr>
            <a:spLocks xmlns:a="http://schemas.openxmlformats.org/drawingml/2006/main" noGrp="1"/>
          </p:cNvSpPr>
          <p:nvPr/>
        </p:nvSpPr>
        <p:spPr>
          <a:xfrm xmlns:a="http://schemas.openxmlformats.org/drawingml/2006/main">
            <a:off x="600075" y="2133600"/>
            <a:ext cx="1676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88766B"/>
                </a:solidFill>
                <a:latin typeface="Arial"/>
                <a:ea typeface="Arial"/>
                <a:cs typeface="Arial"/>
              </a:defRPr>
            </a:pPr>
            <a:r>
              <a:rPr sz="2175" b="0">
                <a:solidFill>
                  <a:srgbClr val="88766B"/>
                </a:solidFill>
                <a:latin typeface="Arial"/>
                <a:ea typeface="Arial"/>
                <a:cs typeface="Arial"/>
              </a:rPr>
              <a:t>Application services coordinate AI, voice, restaurant data and knowledge retrieval.</a:t>
            </a:r>
          </a:p>
        </p:txBody>
      </p:sp>
      <p:sp>
        <p:nvSpPr>
          <p:cNvPr id="5" name="">
            <a:extLst xmlns:a="http://schemas.openxmlformats.org/drawingml/2006/main">
              <a:ext uri="{FF2B5EF4-FFF2-40B4-BE49-F238E27FC236}">
                <a16:creationId xmlns:a16="http://schemas.microsoft.com/office/drawing/2014/main" id="{D8A158D5-FCCF-43C5-94AD-2557AB48028F}"/>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01</a:t>
            </a:r>
          </a:p>
        </p:txBody>
      </p:sp>
      <p:pic>
        <p:nvPicPr>
          <p:cNvPr id="85" name=""/>
          <p:cNvPicPr>
            <a:picLocks xmlns:a="http://schemas.openxmlformats.org/drawingml/2006/main" noChangeAspect="1"/>
          </p:cNvPicPr>
          <p:nvPr/>
        </p:nvPicPr>
        <p:blipFill>
          <a:blip xmlns:r="http://schemas.openxmlformats.org/officeDocument/2006/relationships" xmlns:a="http://schemas.openxmlformats.org/drawingml/2006/main" r:embed="Rd32d2065a3d34f68"/>
          <a:stretch xmlns:a="http://schemas.openxmlformats.org/drawingml/2006/main"/>
        </p:blipFill>
        <p:spPr>
          <a:xfrm xmlns:a="http://schemas.openxmlformats.org/drawingml/2006/main">
            <a:off x="14829518" y="114300"/>
            <a:ext cx="2630714" cy="13811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0DF2EE7-231C-48DB-950D-8B008DBF5B1A}"/>
              </a:ext>
            </a:extLst>
          </p:cNvPr>
          <p:cNvSpPr>
            <a:spLocks xmlns:a="http://schemas.openxmlformats.org/drawingml/2006/main" noGrp="1"/>
          </p:cNvSpPr>
          <p:nvPr/>
        </p:nvSpPr>
        <p:spPr>
          <a:xfrm xmlns:a="http://schemas.openxmlformats.org/drawingml/2006/main">
            <a:off x="571500" y="2847975"/>
            <a:ext cx="657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C9502F"/>
                </a:solidFill>
                <a:latin typeface="Arial"/>
                <a:ea typeface="Arial"/>
                <a:cs typeface="Arial"/>
              </a:defRPr>
            </a:pPr>
            <a:r>
              <a:rPr sz="1800" b="1">
                <a:solidFill>
                  <a:srgbClr val="C9502F"/>
                </a:solidFill>
                <a:latin typeface="Arial"/>
                <a:ea typeface="Arial"/>
                <a:cs typeface="Arial"/>
              </a:rPr>
              <a:t>APPLICATION RUNTIME</a:t>
            </a:r>
          </a:p>
        </p:txBody>
      </p:sp>
      <p:sp>
        <p:nvSpPr>
          <p:cNvPr id="8" name="">
            <a:extLst xmlns:a="http://schemas.openxmlformats.org/drawingml/2006/main">
              <a:ext uri="{FF2B5EF4-FFF2-40B4-BE49-F238E27FC236}">
                <a16:creationId xmlns:a16="http://schemas.microsoft.com/office/drawing/2014/main" id="{136A16B3-694E-4BD2-B750-3E649F0910CF}"/>
              </a:ext>
            </a:extLst>
          </p:cNvPr>
          <p:cNvSpPr>
            <a:spLocks xmlns:a="http://schemas.openxmlformats.org/drawingml/2006/main" noGrp="1"/>
          </p:cNvSpPr>
          <p:nvPr/>
        </p:nvSpPr>
        <p:spPr>
          <a:xfrm xmlns:a="http://schemas.openxmlformats.org/drawingml/2006/main">
            <a:off x="12573000" y="278130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C9502F"/>
                </a:solidFill>
                <a:latin typeface="Arial"/>
                <a:ea typeface="Arial"/>
                <a:cs typeface="Arial"/>
              </a:defRPr>
            </a:pPr>
            <a:r>
              <a:rPr sz="1800" b="1">
                <a:solidFill>
                  <a:srgbClr val="C9502F"/>
                </a:solidFill>
                <a:latin typeface="Arial"/>
                <a:ea typeface="Arial"/>
                <a:cs typeface="Arial"/>
              </a:rPr>
              <a:t>AWS MANAGED SERVICES</a:t>
            </a:r>
          </a:p>
        </p:txBody>
      </p:sp>
      <p:sp>
        <p:nvSpPr>
          <p:cNvPr id="9" name="">
            <a:extLst xmlns:a="http://schemas.openxmlformats.org/drawingml/2006/main">
              <a:ext uri="{FF2B5EF4-FFF2-40B4-BE49-F238E27FC236}">
                <a16:creationId xmlns:a16="http://schemas.microsoft.com/office/drawing/2014/main" id="{700B6834-0907-4BC6-B057-E19C8BD906E6}"/>
              </a:ext>
            </a:extLst>
          </p:cNvPr>
          <p:cNvSpPr>
            <a:spLocks xmlns:a="http://schemas.openxmlformats.org/drawingml/2006/main" noGrp="1"/>
          </p:cNvSpPr>
          <p:nvPr/>
        </p:nvSpPr>
        <p:spPr>
          <a:xfrm xmlns:a="http://schemas.openxmlformats.org/drawingml/2006/main">
            <a:off x="571500" y="3333750"/>
            <a:ext cx="2619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89" name=""/>
          <p:cNvPicPr>
            <a:picLocks xmlns:a="http://schemas.openxmlformats.org/drawingml/2006/main" noChangeAspect="1"/>
          </p:cNvPicPr>
          <p:nvPr/>
        </p:nvPicPr>
        <p:blipFill>
          <a:blip xmlns:r="http://schemas.openxmlformats.org/officeDocument/2006/relationships" xmlns:a="http://schemas.openxmlformats.org/drawingml/2006/main" r:embed="R53ae0d62ea394d25"/>
          <a:stretch xmlns:a="http://schemas.openxmlformats.org/drawingml/2006/main"/>
        </p:blipFill>
        <p:spPr>
          <a:xfrm xmlns:a="http://schemas.openxmlformats.org/drawingml/2006/main">
            <a:off x="762000" y="3524250"/>
            <a:ext cx="609600" cy="6096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94BBC471-C1D6-4605-9D0D-920D049424A1}"/>
              </a:ext>
            </a:extLst>
          </p:cNvPr>
          <p:cNvSpPr>
            <a:spLocks xmlns:a="http://schemas.openxmlformats.org/drawingml/2006/main" noGrp="1"/>
          </p:cNvSpPr>
          <p:nvPr/>
        </p:nvSpPr>
        <p:spPr>
          <a:xfrm xmlns:a="http://schemas.openxmlformats.org/drawingml/2006/main">
            <a:off x="1514475" y="3543300"/>
            <a:ext cx="14573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4231D"/>
                </a:solidFill>
                <a:latin typeface="Arial"/>
                <a:ea typeface="Arial"/>
                <a:cs typeface="Arial"/>
              </a:defRPr>
            </a:pPr>
            <a:r>
              <a:rPr sz="2250" b="1">
                <a:solidFill>
                  <a:srgbClr val="34231D"/>
                </a:solidFill>
                <a:latin typeface="Arial"/>
                <a:ea typeface="Arial"/>
                <a:cs typeface="Arial"/>
              </a:rPr>
              <a:t>Browser</a:t>
            </a:r>
          </a:p>
        </p:txBody>
      </p:sp>
      <p:sp>
        <p:nvSpPr>
          <p:cNvPr id="12" name="">
            <a:extLst xmlns:a="http://schemas.openxmlformats.org/drawingml/2006/main">
              <a:ext uri="{FF2B5EF4-FFF2-40B4-BE49-F238E27FC236}">
                <a16:creationId xmlns:a16="http://schemas.microsoft.com/office/drawing/2014/main" id="{08044BEC-ABBB-4C66-8BC1-92E3906CB384}"/>
              </a:ext>
            </a:extLst>
          </p:cNvPr>
          <p:cNvSpPr>
            <a:spLocks xmlns:a="http://schemas.openxmlformats.org/drawingml/2006/main" noGrp="1"/>
          </p:cNvSpPr>
          <p:nvPr/>
        </p:nvSpPr>
        <p:spPr>
          <a:xfrm xmlns:a="http://schemas.openxmlformats.org/drawingml/2006/main">
            <a:off x="790575" y="4381500"/>
            <a:ext cx="21812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Customer + admin</a:t>
            </a:r>
          </a:p>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Voice and text</a:t>
            </a:r>
          </a:p>
        </p:txBody>
      </p:sp>
      <p:sp>
        <p:nvSpPr>
          <p:cNvPr id="13" name="">
            <a:extLst xmlns:a="http://schemas.openxmlformats.org/drawingml/2006/main">
              <a:ext uri="{FF2B5EF4-FFF2-40B4-BE49-F238E27FC236}">
                <a16:creationId xmlns:a16="http://schemas.microsoft.com/office/drawing/2014/main" id="{9379CEE7-9879-44C3-9066-96190B04B236}"/>
              </a:ext>
            </a:extLst>
          </p:cNvPr>
          <p:cNvSpPr>
            <a:spLocks xmlns:a="http://schemas.openxmlformats.org/drawingml/2006/main" noGrp="1"/>
          </p:cNvSpPr>
          <p:nvPr/>
        </p:nvSpPr>
        <p:spPr>
          <a:xfrm xmlns:a="http://schemas.openxmlformats.org/drawingml/2006/main">
            <a:off x="3667125" y="3333750"/>
            <a:ext cx="276225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93" name=""/>
          <p:cNvPicPr>
            <a:picLocks xmlns:a="http://schemas.openxmlformats.org/drawingml/2006/main" noChangeAspect="1"/>
          </p:cNvPicPr>
          <p:nvPr/>
        </p:nvPicPr>
        <p:blipFill>
          <a:blip xmlns:r="http://schemas.openxmlformats.org/officeDocument/2006/relationships" xmlns:a="http://schemas.openxmlformats.org/drawingml/2006/main" r:embed="R4d4c47e997594d9c"/>
          <a:stretch xmlns:a="http://schemas.openxmlformats.org/drawingml/2006/main"/>
        </p:blipFill>
        <p:spPr>
          <a:xfrm xmlns:a="http://schemas.openxmlformats.org/drawingml/2006/main">
            <a:off x="3857625" y="3524250"/>
            <a:ext cx="609600" cy="6096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79E0EAF9-ABBB-409E-81AC-34DF565315FD}"/>
              </a:ext>
            </a:extLst>
          </p:cNvPr>
          <p:cNvSpPr>
            <a:spLocks xmlns:a="http://schemas.openxmlformats.org/drawingml/2006/main" noGrp="1"/>
          </p:cNvSpPr>
          <p:nvPr/>
        </p:nvSpPr>
        <p:spPr>
          <a:xfrm xmlns:a="http://schemas.openxmlformats.org/drawingml/2006/main">
            <a:off x="4610100" y="3543300"/>
            <a:ext cx="1600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4231D"/>
                </a:solidFill>
                <a:latin typeface="Arial"/>
                <a:ea typeface="Arial"/>
                <a:cs typeface="Arial"/>
              </a:defRPr>
            </a:pPr>
            <a:r>
              <a:rPr sz="2250" b="1">
                <a:solidFill>
                  <a:srgbClr val="34231D"/>
                </a:solidFill>
                <a:latin typeface="Arial"/>
                <a:ea typeface="Arial"/>
                <a:cs typeface="Arial"/>
              </a:rPr>
              <a:t>Next.js</a:t>
            </a:r>
          </a:p>
        </p:txBody>
      </p:sp>
      <p:sp>
        <p:nvSpPr>
          <p:cNvPr id="16" name="">
            <a:extLst xmlns:a="http://schemas.openxmlformats.org/drawingml/2006/main">
              <a:ext uri="{FF2B5EF4-FFF2-40B4-BE49-F238E27FC236}">
                <a16:creationId xmlns:a16="http://schemas.microsoft.com/office/drawing/2014/main" id="{0854FDDF-FBA3-421F-97E8-0D77585E55B6}"/>
              </a:ext>
            </a:extLst>
          </p:cNvPr>
          <p:cNvSpPr>
            <a:spLocks xmlns:a="http://schemas.openxmlformats.org/drawingml/2006/main" noGrp="1"/>
          </p:cNvSpPr>
          <p:nvPr/>
        </p:nvSpPr>
        <p:spPr>
          <a:xfrm xmlns:a="http://schemas.openxmlformats.org/drawingml/2006/main">
            <a:off x="3886200" y="4381500"/>
            <a:ext cx="2324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Interface + API proxy</a:t>
            </a:r>
          </a:p>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Local port 3000</a:t>
            </a:r>
          </a:p>
        </p:txBody>
      </p:sp>
      <p:sp>
        <p:nvSpPr>
          <p:cNvPr id="17" name="">
            <a:extLst xmlns:a="http://schemas.openxmlformats.org/drawingml/2006/main">
              <a:ext uri="{FF2B5EF4-FFF2-40B4-BE49-F238E27FC236}">
                <a16:creationId xmlns:a16="http://schemas.microsoft.com/office/drawing/2014/main" id="{80D8DDC6-02FE-43CD-BB51-8731C91A5E39}"/>
              </a:ext>
            </a:extLst>
          </p:cNvPr>
          <p:cNvSpPr>
            <a:spLocks xmlns:a="http://schemas.openxmlformats.org/drawingml/2006/main" noGrp="1"/>
          </p:cNvSpPr>
          <p:nvPr/>
        </p:nvSpPr>
        <p:spPr>
          <a:xfrm xmlns:a="http://schemas.openxmlformats.org/drawingml/2006/main">
            <a:off x="7191375" y="3333750"/>
            <a:ext cx="371475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8" name="">
            <a:extLst xmlns:a="http://schemas.openxmlformats.org/drawingml/2006/main">
              <a:ext uri="{FF2B5EF4-FFF2-40B4-BE49-F238E27FC236}">
                <a16:creationId xmlns:a16="http://schemas.microsoft.com/office/drawing/2014/main" id="{7F019B22-FAE6-4A27-955E-4691C9E29984}"/>
              </a:ext>
            </a:extLst>
          </p:cNvPr>
          <p:cNvSpPr>
            <a:spLocks xmlns:a="http://schemas.openxmlformats.org/drawingml/2006/main" noGrp="1"/>
          </p:cNvSpPr>
          <p:nvPr/>
        </p:nvSpPr>
        <p:spPr>
          <a:xfrm xmlns:a="http://schemas.openxmlformats.org/drawingml/2006/main">
            <a:off x="7381875" y="3524250"/>
            <a:ext cx="609600" cy="6096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98" name=""/>
          <p:cNvPicPr>
            <a:picLocks xmlns:a="http://schemas.openxmlformats.org/drawingml/2006/main" noChangeAspect="1"/>
          </p:cNvPicPr>
          <p:nvPr/>
        </p:nvPicPr>
        <p:blipFill>
          <a:blip xmlns:r="http://schemas.openxmlformats.org/officeDocument/2006/relationships" xmlns:a="http://schemas.openxmlformats.org/drawingml/2006/main" r:embed="R8740be7289b44c7a"/>
          <a:stretch xmlns:a="http://schemas.openxmlformats.org/drawingml/2006/main"/>
        </p:blipFill>
        <p:spPr>
          <a:xfrm xmlns:a="http://schemas.openxmlformats.org/drawingml/2006/main">
            <a:off x="7381875" y="3524250"/>
            <a:ext cx="609600" cy="6096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A7EDB497-CC67-442D-AEEB-3B025EFF8993}"/>
              </a:ext>
            </a:extLst>
          </p:cNvPr>
          <p:cNvSpPr>
            <a:spLocks xmlns:a="http://schemas.openxmlformats.org/drawingml/2006/main" noGrp="1"/>
          </p:cNvSpPr>
          <p:nvPr/>
        </p:nvSpPr>
        <p:spPr>
          <a:xfrm xmlns:a="http://schemas.openxmlformats.org/drawingml/2006/main">
            <a:off x="8134350" y="3543300"/>
            <a:ext cx="2552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4231D"/>
                </a:solidFill>
                <a:latin typeface="Arial"/>
                <a:ea typeface="Arial"/>
                <a:cs typeface="Arial"/>
              </a:defRPr>
            </a:pPr>
            <a:r>
              <a:rPr sz="2250" b="1">
                <a:solidFill>
                  <a:srgbClr val="34231D"/>
                </a:solidFill>
                <a:latin typeface="Arial"/>
                <a:ea typeface="Arial"/>
                <a:cs typeface="Arial"/>
              </a:rPr>
              <a:t>FastAPI</a:t>
            </a:r>
          </a:p>
        </p:txBody>
      </p:sp>
      <p:sp>
        <p:nvSpPr>
          <p:cNvPr id="21" name="">
            <a:extLst xmlns:a="http://schemas.openxmlformats.org/drawingml/2006/main">
              <a:ext uri="{FF2B5EF4-FFF2-40B4-BE49-F238E27FC236}">
                <a16:creationId xmlns:a16="http://schemas.microsoft.com/office/drawing/2014/main" id="{AD08CC27-E12B-457B-9D99-917CEE8E6B17}"/>
              </a:ext>
            </a:extLst>
          </p:cNvPr>
          <p:cNvSpPr>
            <a:spLocks xmlns:a="http://schemas.openxmlformats.org/drawingml/2006/main" noGrp="1"/>
          </p:cNvSpPr>
          <p:nvPr/>
        </p:nvSpPr>
        <p:spPr>
          <a:xfrm xmlns:a="http://schemas.openxmlformats.org/drawingml/2006/main">
            <a:off x="7410450" y="4381500"/>
            <a:ext cx="327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Routes + service orchestration</a:t>
            </a:r>
          </a:p>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Local port 8000</a:t>
            </a:r>
          </a:p>
        </p:txBody>
      </p:sp>
      <p:cxnSp>
        <p:nvCxnSpPr>
          <p:cNvPr id="101" name=""/>
          <p:cNvCxnSpPr>
            <a:stCxn xmlns:a="http://schemas.openxmlformats.org/drawingml/2006/main" id="9" idx="3"/>
            <a:endCxn xmlns:a="http://schemas.openxmlformats.org/drawingml/2006/main" id="13" idx="1"/>
          </p:cNvCxnSpPr>
          <p:nvPr/>
        </p:nvCxnSpPr>
        <p:spPr>
          <a:xfrm xmlns:a="http://schemas.openxmlformats.org/drawingml/2006/main">
            <a:off x="3190875" y="4357688"/>
            <a:ext cx="4762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102" name=""/>
          <p:cNvCxnSpPr>
            <a:stCxn xmlns:a="http://schemas.openxmlformats.org/drawingml/2006/main" id="13" idx="3"/>
            <a:endCxn xmlns:a="http://schemas.openxmlformats.org/drawingml/2006/main" id="17" idx="1"/>
          </p:cNvCxnSpPr>
          <p:nvPr/>
        </p:nvCxnSpPr>
        <p:spPr>
          <a:xfrm xmlns:a="http://schemas.openxmlformats.org/drawingml/2006/main">
            <a:off x="6429375" y="4357688"/>
            <a:ext cx="7620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24" name="">
            <a:extLst xmlns:a="http://schemas.openxmlformats.org/drawingml/2006/main">
              <a:ext uri="{FF2B5EF4-FFF2-40B4-BE49-F238E27FC236}">
                <a16:creationId xmlns:a16="http://schemas.microsoft.com/office/drawing/2014/main" id="{4EBEA892-F8B9-4ADA-B7B0-E724CDC9AD97}"/>
              </a:ext>
            </a:extLst>
          </p:cNvPr>
          <p:cNvSpPr>
            <a:spLocks xmlns:a="http://schemas.openxmlformats.org/drawingml/2006/main" noGrp="1"/>
          </p:cNvSpPr>
          <p:nvPr/>
        </p:nvSpPr>
        <p:spPr>
          <a:xfrm xmlns:a="http://schemas.openxmlformats.org/drawingml/2006/main">
            <a:off x="7191375" y="5905500"/>
            <a:ext cx="3714750" cy="1285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5" name="">
            <a:extLst xmlns:a="http://schemas.openxmlformats.org/drawingml/2006/main">
              <a:ext uri="{FF2B5EF4-FFF2-40B4-BE49-F238E27FC236}">
                <a16:creationId xmlns:a16="http://schemas.microsoft.com/office/drawing/2014/main" id="{70720CC4-339B-410F-AA1B-6D811729B280}"/>
              </a:ext>
            </a:extLst>
          </p:cNvPr>
          <p:cNvSpPr>
            <a:spLocks xmlns:a="http://schemas.openxmlformats.org/drawingml/2006/main" noGrp="1"/>
          </p:cNvSpPr>
          <p:nvPr/>
        </p:nvSpPr>
        <p:spPr>
          <a:xfrm xmlns:a="http://schemas.openxmlformats.org/drawingml/2006/main">
            <a:off x="7410450" y="6115050"/>
            <a:ext cx="3276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Chat + business tools</a:t>
            </a:r>
          </a:p>
        </p:txBody>
      </p:sp>
      <p:sp>
        <p:nvSpPr>
          <p:cNvPr id="26" name="">
            <a:extLst xmlns:a="http://schemas.openxmlformats.org/drawingml/2006/main">
              <a:ext uri="{FF2B5EF4-FFF2-40B4-BE49-F238E27FC236}">
                <a16:creationId xmlns:a16="http://schemas.microsoft.com/office/drawing/2014/main" id="{5B2C4458-83E1-4FCB-A0D1-94C497AC5FC4}"/>
              </a:ext>
            </a:extLst>
          </p:cNvPr>
          <p:cNvSpPr>
            <a:spLocks xmlns:a="http://schemas.openxmlformats.org/drawingml/2006/main" noGrp="1"/>
          </p:cNvSpPr>
          <p:nvPr/>
        </p:nvSpPr>
        <p:spPr>
          <a:xfrm xmlns:a="http://schemas.openxmlformats.org/drawingml/2006/main">
            <a:off x="7410450" y="6581775"/>
            <a:ext cx="327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88766B"/>
                </a:solidFill>
                <a:latin typeface="Arial"/>
                <a:ea typeface="Arial"/>
                <a:cs typeface="Arial"/>
              </a:defRPr>
            </a:pPr>
            <a:r>
              <a:rPr sz="1650" b="0">
                <a:solidFill>
                  <a:srgbClr val="88766B"/>
                </a:solidFill>
                <a:latin typeface="Arial"/>
                <a:ea typeface="Arial"/>
                <a:cs typeface="Arial"/>
              </a:rPr>
              <a:t>Knowledge, voice, orders, bookings</a:t>
            </a:r>
          </a:p>
        </p:txBody>
      </p:sp>
      <p:cxnSp>
        <p:nvCxnSpPr>
          <p:cNvPr id="106" name=""/>
          <p:cNvCxnSpPr>
            <a:stCxn xmlns:a="http://schemas.openxmlformats.org/drawingml/2006/main" id="17" idx="2"/>
            <a:endCxn xmlns:a="http://schemas.openxmlformats.org/drawingml/2006/main" id="24" idx="0"/>
          </p:cNvCxnSpPr>
          <p:nvPr/>
        </p:nvCxnSpPr>
        <p:spPr>
          <a:xfrm xmlns:a="http://schemas.openxmlformats.org/drawingml/2006/main">
            <a:off x="9048750" y="5381625"/>
            <a:ext cx="0" cy="523875"/>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28" name="">
            <a:extLst xmlns:a="http://schemas.openxmlformats.org/drawingml/2006/main">
              <a:ext uri="{FF2B5EF4-FFF2-40B4-BE49-F238E27FC236}">
                <a16:creationId xmlns:a16="http://schemas.microsoft.com/office/drawing/2014/main" id="{BB5D90AF-973B-4684-BCAE-840B719A4556}"/>
              </a:ext>
            </a:extLst>
          </p:cNvPr>
          <p:cNvSpPr>
            <a:spLocks xmlns:a="http://schemas.openxmlformats.org/drawingml/2006/main" noGrp="1"/>
          </p:cNvSpPr>
          <p:nvPr/>
        </p:nvSpPr>
        <p:spPr>
          <a:xfrm xmlns:a="http://schemas.openxmlformats.org/drawingml/2006/main">
            <a:off x="3667125" y="5905500"/>
            <a:ext cx="2762250" cy="1285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9" name="">
            <a:extLst xmlns:a="http://schemas.openxmlformats.org/drawingml/2006/main">
              <a:ext uri="{FF2B5EF4-FFF2-40B4-BE49-F238E27FC236}">
                <a16:creationId xmlns:a16="http://schemas.microsoft.com/office/drawing/2014/main" id="{322B1214-4ECE-47C5-8A0B-47DB4C4A8868}"/>
              </a:ext>
            </a:extLst>
          </p:cNvPr>
          <p:cNvSpPr>
            <a:spLocks xmlns:a="http://schemas.openxmlformats.org/drawingml/2006/main" noGrp="1"/>
          </p:cNvSpPr>
          <p:nvPr/>
        </p:nvSpPr>
        <p:spPr>
          <a:xfrm xmlns:a="http://schemas.openxmlformats.org/drawingml/2006/main">
            <a:off x="3886200" y="6115050"/>
            <a:ext cx="2324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Qdrant in Docker</a:t>
            </a:r>
          </a:p>
        </p:txBody>
      </p:sp>
      <p:sp>
        <p:nvSpPr>
          <p:cNvPr id="30" name="">
            <a:extLst xmlns:a="http://schemas.openxmlformats.org/drawingml/2006/main">
              <a:ext uri="{FF2B5EF4-FFF2-40B4-BE49-F238E27FC236}">
                <a16:creationId xmlns:a16="http://schemas.microsoft.com/office/drawing/2014/main" id="{6C2EB24A-1977-4FCD-9124-C5FBD8C44353}"/>
              </a:ext>
            </a:extLst>
          </p:cNvPr>
          <p:cNvSpPr>
            <a:spLocks xmlns:a="http://schemas.openxmlformats.org/drawingml/2006/main" noGrp="1"/>
          </p:cNvSpPr>
          <p:nvPr/>
        </p:nvSpPr>
        <p:spPr>
          <a:xfrm xmlns:a="http://schemas.openxmlformats.org/drawingml/2006/main">
            <a:off x="3886200" y="6581775"/>
            <a:ext cx="23241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88766B"/>
                </a:solidFill>
                <a:latin typeface="Arial"/>
                <a:ea typeface="Arial"/>
                <a:cs typeface="Arial"/>
              </a:defRPr>
            </a:pPr>
            <a:r>
              <a:rPr sz="1650" b="0">
                <a:solidFill>
                  <a:srgbClr val="88766B"/>
                </a:solidFill>
                <a:latin typeface="Arial"/>
                <a:ea typeface="Arial"/>
                <a:cs typeface="Arial"/>
              </a:rPr>
              <a:t>Knowledge vectors</a:t>
            </a:r>
          </a:p>
        </p:txBody>
      </p:sp>
      <p:cxnSp>
        <p:nvCxnSpPr>
          <p:cNvPr id="110" name=""/>
          <p:cNvCxnSpPr>
            <a:stCxn xmlns:a="http://schemas.openxmlformats.org/drawingml/2006/main" id="24" idx="1"/>
            <a:endCxn xmlns:a="http://schemas.openxmlformats.org/drawingml/2006/main" id="28" idx="3"/>
          </p:cNvCxnSpPr>
          <p:nvPr/>
        </p:nvCxnSpPr>
        <p:spPr>
          <a:xfrm xmlns:a="http://schemas.openxmlformats.org/drawingml/2006/main" flipH="1">
            <a:off x="6429375" y="6548438"/>
            <a:ext cx="762000" cy="0"/>
          </a:xfrm>
          <a:prstGeom xmlns:a="http://schemas.openxmlformats.org/drawingml/2006/main" prst="straightConnector1">
            <a:avLst/>
          </a:prstGeom>
          <a:ln xmlns:a="http://schemas.openxmlformats.org/drawingml/2006/main" w="28575">
            <a:solidFill>
              <a:srgbClr val="00897B"/>
            </a:solidFill>
            <a:prstDash val="solid"/>
            <a:tailEnd type="triangle" w="med" len="med"/>
          </a:ln>
        </p:spPr>
      </p:cxnSp>
      <p:sp>
        <p:nvSpPr>
          <p:cNvPr id="32" name="">
            <a:extLst xmlns:a="http://schemas.openxmlformats.org/drawingml/2006/main">
              <a:ext uri="{FF2B5EF4-FFF2-40B4-BE49-F238E27FC236}">
                <a16:creationId xmlns:a16="http://schemas.microsoft.com/office/drawing/2014/main" id="{4D6ACE6D-C1D6-49EE-9B8D-6D048867CC97}"/>
              </a:ext>
            </a:extLst>
          </p:cNvPr>
          <p:cNvSpPr>
            <a:spLocks xmlns:a="http://schemas.openxmlformats.org/drawingml/2006/main" noGrp="1"/>
          </p:cNvSpPr>
          <p:nvPr/>
        </p:nvSpPr>
        <p:spPr>
          <a:xfrm xmlns:a="http://schemas.openxmlformats.org/drawingml/2006/main">
            <a:off x="7191375" y="7620000"/>
            <a:ext cx="3714750" cy="12382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33" name="">
            <a:extLst xmlns:a="http://schemas.openxmlformats.org/drawingml/2006/main">
              <a:ext uri="{FF2B5EF4-FFF2-40B4-BE49-F238E27FC236}">
                <a16:creationId xmlns:a16="http://schemas.microsoft.com/office/drawing/2014/main" id="{1DB8DBC0-89A2-44C3-878F-51143E8AD75D}"/>
              </a:ext>
            </a:extLst>
          </p:cNvPr>
          <p:cNvSpPr>
            <a:spLocks xmlns:a="http://schemas.openxmlformats.org/drawingml/2006/main" noGrp="1"/>
          </p:cNvSpPr>
          <p:nvPr/>
        </p:nvSpPr>
        <p:spPr>
          <a:xfrm xmlns:a="http://schemas.openxmlformats.org/drawingml/2006/main">
            <a:off x="7410450" y="7829550"/>
            <a:ext cx="3276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Repositories</a:t>
            </a:r>
          </a:p>
        </p:txBody>
      </p:sp>
      <p:sp>
        <p:nvSpPr>
          <p:cNvPr id="34" name="">
            <a:extLst xmlns:a="http://schemas.openxmlformats.org/drawingml/2006/main">
              <a:ext uri="{FF2B5EF4-FFF2-40B4-BE49-F238E27FC236}">
                <a16:creationId xmlns:a16="http://schemas.microsoft.com/office/drawing/2014/main" id="{2C06B1CB-582F-454A-8F7C-92211B36742F}"/>
              </a:ext>
            </a:extLst>
          </p:cNvPr>
          <p:cNvSpPr>
            <a:spLocks xmlns:a="http://schemas.openxmlformats.org/drawingml/2006/main" noGrp="1"/>
          </p:cNvSpPr>
          <p:nvPr/>
        </p:nvSpPr>
        <p:spPr>
          <a:xfrm xmlns:a="http://schemas.openxmlformats.org/drawingml/2006/main">
            <a:off x="7410450" y="8296275"/>
            <a:ext cx="3276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88766B"/>
                </a:solidFill>
                <a:latin typeface="Arial"/>
                <a:ea typeface="Arial"/>
                <a:cs typeface="Arial"/>
              </a:defRPr>
            </a:pPr>
            <a:r>
              <a:rPr sz="1650" b="0">
                <a:solidFill>
                  <a:srgbClr val="88766B"/>
                </a:solidFill>
                <a:latin typeface="Arial"/>
                <a:ea typeface="Arial"/>
                <a:cs typeface="Arial"/>
              </a:rPr>
              <a:t>SQLModel data access</a:t>
            </a:r>
          </a:p>
        </p:txBody>
      </p:sp>
      <p:cxnSp>
        <p:nvCxnSpPr>
          <p:cNvPr id="114" name=""/>
          <p:cNvCxnSpPr>
            <a:stCxn xmlns:a="http://schemas.openxmlformats.org/drawingml/2006/main" id="24" idx="2"/>
            <a:endCxn xmlns:a="http://schemas.openxmlformats.org/drawingml/2006/main" id="32" idx="0"/>
          </p:cNvCxnSpPr>
          <p:nvPr/>
        </p:nvCxnSpPr>
        <p:spPr>
          <a:xfrm xmlns:a="http://schemas.openxmlformats.org/drawingml/2006/main">
            <a:off x="9048750" y="7191375"/>
            <a:ext cx="0" cy="428625"/>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36" name="">
            <a:extLst xmlns:a="http://schemas.openxmlformats.org/drawingml/2006/main">
              <a:ext uri="{FF2B5EF4-FFF2-40B4-BE49-F238E27FC236}">
                <a16:creationId xmlns:a16="http://schemas.microsoft.com/office/drawing/2014/main" id="{46DF7EE2-1EC8-46AA-A13A-9C1ED0F95E84}"/>
              </a:ext>
            </a:extLst>
          </p:cNvPr>
          <p:cNvSpPr>
            <a:spLocks xmlns:a="http://schemas.openxmlformats.org/drawingml/2006/main" noGrp="1"/>
          </p:cNvSpPr>
          <p:nvPr/>
        </p:nvSpPr>
        <p:spPr>
          <a:xfrm xmlns:a="http://schemas.openxmlformats.org/drawingml/2006/main">
            <a:off x="3667125" y="7620000"/>
            <a:ext cx="2762250" cy="12382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37" name="">
            <a:extLst xmlns:a="http://schemas.openxmlformats.org/drawingml/2006/main">
              <a:ext uri="{FF2B5EF4-FFF2-40B4-BE49-F238E27FC236}">
                <a16:creationId xmlns:a16="http://schemas.microsoft.com/office/drawing/2014/main" id="{4DEE7200-2069-49CD-83EF-F1643A047AAB}"/>
              </a:ext>
            </a:extLst>
          </p:cNvPr>
          <p:cNvSpPr>
            <a:spLocks xmlns:a="http://schemas.openxmlformats.org/drawingml/2006/main" noGrp="1"/>
          </p:cNvSpPr>
          <p:nvPr/>
        </p:nvSpPr>
        <p:spPr>
          <a:xfrm xmlns:a="http://schemas.openxmlformats.org/drawingml/2006/main">
            <a:off x="3886200" y="7829550"/>
            <a:ext cx="2324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SQLite</a:t>
            </a:r>
          </a:p>
        </p:txBody>
      </p:sp>
      <p:sp>
        <p:nvSpPr>
          <p:cNvPr id="38" name="">
            <a:extLst xmlns:a="http://schemas.openxmlformats.org/drawingml/2006/main">
              <a:ext uri="{FF2B5EF4-FFF2-40B4-BE49-F238E27FC236}">
                <a16:creationId xmlns:a16="http://schemas.microsoft.com/office/drawing/2014/main" id="{6166F927-B8A6-4E92-95DE-98EB3313614C}"/>
              </a:ext>
            </a:extLst>
          </p:cNvPr>
          <p:cNvSpPr>
            <a:spLocks xmlns:a="http://schemas.openxmlformats.org/drawingml/2006/main" noGrp="1"/>
          </p:cNvSpPr>
          <p:nvPr/>
        </p:nvSpPr>
        <p:spPr>
          <a:xfrm xmlns:a="http://schemas.openxmlformats.org/drawingml/2006/main">
            <a:off x="3886200" y="8296275"/>
            <a:ext cx="23241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88766B"/>
                </a:solidFill>
                <a:latin typeface="Arial"/>
                <a:ea typeface="Arial"/>
                <a:cs typeface="Arial"/>
              </a:defRPr>
            </a:pPr>
            <a:r>
              <a:rPr sz="1650" b="0">
                <a:solidFill>
                  <a:srgbClr val="88766B"/>
                </a:solidFill>
                <a:latin typeface="Arial"/>
                <a:ea typeface="Arial"/>
                <a:cs typeface="Arial"/>
              </a:rPr>
              <a:t>Operational records</a:t>
            </a:r>
          </a:p>
        </p:txBody>
      </p:sp>
      <p:cxnSp>
        <p:nvCxnSpPr>
          <p:cNvPr id="118" name=""/>
          <p:cNvCxnSpPr>
            <a:stCxn xmlns:a="http://schemas.openxmlformats.org/drawingml/2006/main" id="32" idx="1"/>
            <a:endCxn xmlns:a="http://schemas.openxmlformats.org/drawingml/2006/main" id="36" idx="3"/>
          </p:cNvCxnSpPr>
          <p:nvPr/>
        </p:nvCxnSpPr>
        <p:spPr>
          <a:xfrm xmlns:a="http://schemas.openxmlformats.org/drawingml/2006/main" flipH="1">
            <a:off x="6429375" y="8239125"/>
            <a:ext cx="7620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40" name="">
            <a:extLst xmlns:a="http://schemas.openxmlformats.org/drawingml/2006/main">
              <a:ext uri="{FF2B5EF4-FFF2-40B4-BE49-F238E27FC236}">
                <a16:creationId xmlns:a16="http://schemas.microsoft.com/office/drawing/2014/main" id="{8D77E1D4-1803-4FE9-BE51-D07D7BAD9356}"/>
              </a:ext>
            </a:extLst>
          </p:cNvPr>
          <p:cNvSpPr>
            <a:spLocks xmlns:a="http://schemas.openxmlformats.org/drawingml/2006/main" noGrp="1"/>
          </p:cNvSpPr>
          <p:nvPr/>
        </p:nvSpPr>
        <p:spPr>
          <a:xfrm xmlns:a="http://schemas.openxmlformats.org/drawingml/2006/main">
            <a:off x="571500" y="5905500"/>
            <a:ext cx="2619375" cy="18097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120" name=""/>
          <p:cNvPicPr>
            <a:picLocks xmlns:a="http://schemas.openxmlformats.org/drawingml/2006/main" noChangeAspect="1"/>
          </p:cNvPicPr>
          <p:nvPr/>
        </p:nvPicPr>
        <p:blipFill>
          <a:blip xmlns:r="http://schemas.openxmlformats.org/officeDocument/2006/relationships" xmlns:a="http://schemas.openxmlformats.org/drawingml/2006/main" r:embed="R93a7a45aaa8c4fbe"/>
          <a:stretch xmlns:a="http://schemas.openxmlformats.org/drawingml/2006/main"/>
        </p:blipFill>
        <p:spPr>
          <a:xfrm xmlns:a="http://schemas.openxmlformats.org/drawingml/2006/main">
            <a:off x="762000" y="6096000"/>
            <a:ext cx="609600" cy="609600"/>
          </a:xfrm>
          <a:prstGeom xmlns:a="http://schemas.openxmlformats.org/drawingml/2006/main" prst="rect">
            <a:avLst/>
          </a:prstGeom>
        </p:spPr>
      </p:pic>
      <p:sp>
        <p:nvSpPr>
          <p:cNvPr id="42" name="">
            <a:extLst xmlns:a="http://schemas.openxmlformats.org/drawingml/2006/main">
              <a:ext uri="{FF2B5EF4-FFF2-40B4-BE49-F238E27FC236}">
                <a16:creationId xmlns:a16="http://schemas.microsoft.com/office/drawing/2014/main" id="{E2AA20E6-9D2A-4064-AC9F-8D80B64345E0}"/>
              </a:ext>
            </a:extLst>
          </p:cNvPr>
          <p:cNvSpPr>
            <a:spLocks xmlns:a="http://schemas.openxmlformats.org/drawingml/2006/main" noGrp="1"/>
          </p:cNvSpPr>
          <p:nvPr/>
        </p:nvSpPr>
        <p:spPr>
          <a:xfrm xmlns:a="http://schemas.openxmlformats.org/drawingml/2006/main">
            <a:off x="1514475" y="6115050"/>
            <a:ext cx="14573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4231D"/>
                </a:solidFill>
                <a:latin typeface="Arial"/>
                <a:ea typeface="Arial"/>
                <a:cs typeface="Arial"/>
              </a:defRPr>
            </a:pPr>
            <a:r>
              <a:rPr sz="2250" b="1">
                <a:solidFill>
                  <a:srgbClr val="34231D"/>
                </a:solidFill>
                <a:latin typeface="Arial"/>
                <a:ea typeface="Arial"/>
                <a:cs typeface="Arial"/>
              </a:rPr>
              <a:t>Chime SDK</a:t>
            </a:r>
          </a:p>
        </p:txBody>
      </p:sp>
      <p:sp>
        <p:nvSpPr>
          <p:cNvPr id="43" name="">
            <a:extLst xmlns:a="http://schemas.openxmlformats.org/drawingml/2006/main">
              <a:ext uri="{FF2B5EF4-FFF2-40B4-BE49-F238E27FC236}">
                <a16:creationId xmlns:a16="http://schemas.microsoft.com/office/drawing/2014/main" id="{453B4C58-1992-419A-AF47-CB0A380770C9}"/>
              </a:ext>
            </a:extLst>
          </p:cNvPr>
          <p:cNvSpPr>
            <a:spLocks xmlns:a="http://schemas.openxmlformats.org/drawingml/2006/main" noGrp="1"/>
          </p:cNvSpPr>
          <p:nvPr/>
        </p:nvSpPr>
        <p:spPr>
          <a:xfrm xmlns:a="http://schemas.openxmlformats.org/drawingml/2006/main">
            <a:off x="790575" y="6953250"/>
            <a:ext cx="21812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Browser meeting</a:t>
            </a:r>
          </a:p>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Backend creates session</a:t>
            </a:r>
          </a:p>
        </p:txBody>
      </p:sp>
      <p:cxnSp>
        <p:nvCxnSpPr>
          <p:cNvPr id="123" name=""/>
          <p:cNvCxnSpPr>
            <a:stCxn xmlns:a="http://schemas.openxmlformats.org/drawingml/2006/main" id="9" idx="2"/>
            <a:endCxn xmlns:a="http://schemas.openxmlformats.org/drawingml/2006/main" id="40" idx="0"/>
          </p:cNvCxnSpPr>
          <p:nvPr/>
        </p:nvCxnSpPr>
        <p:spPr>
          <a:xfrm xmlns:a="http://schemas.openxmlformats.org/drawingml/2006/main">
            <a:off x="1881188" y="5381625"/>
            <a:ext cx="0" cy="523875"/>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45" name="">
            <a:extLst xmlns:a="http://schemas.openxmlformats.org/drawingml/2006/main">
              <a:ext uri="{FF2B5EF4-FFF2-40B4-BE49-F238E27FC236}">
                <a16:creationId xmlns:a16="http://schemas.microsoft.com/office/drawing/2014/main" id="{6F807F80-9A2C-4FE7-8D36-6159E25D7229}"/>
              </a:ext>
            </a:extLst>
          </p:cNvPr>
          <p:cNvSpPr>
            <a:spLocks xmlns:a="http://schemas.openxmlformats.org/drawingml/2006/main" noGrp="1"/>
          </p:cNvSpPr>
          <p:nvPr/>
        </p:nvSpPr>
        <p:spPr>
          <a:xfrm xmlns:a="http://schemas.openxmlformats.org/drawingml/2006/main">
            <a:off x="12573000" y="3286125"/>
            <a:ext cx="5143500" cy="100012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125" name=""/>
          <p:cNvPicPr>
            <a:picLocks xmlns:a="http://schemas.openxmlformats.org/drawingml/2006/main" noChangeAspect="1"/>
          </p:cNvPicPr>
          <p:nvPr/>
        </p:nvPicPr>
        <p:blipFill>
          <a:blip xmlns:r="http://schemas.openxmlformats.org/officeDocument/2006/relationships" xmlns:a="http://schemas.openxmlformats.org/drawingml/2006/main" r:embed="Rbf3d07bf384c42c8"/>
          <a:stretch xmlns:a="http://schemas.openxmlformats.org/drawingml/2006/main"/>
        </p:blipFill>
        <p:spPr>
          <a:xfrm xmlns:a="http://schemas.openxmlformats.org/drawingml/2006/main">
            <a:off x="12763500" y="3476625"/>
            <a:ext cx="552450" cy="552450"/>
          </a:xfrm>
          <a:prstGeom xmlns:a="http://schemas.openxmlformats.org/drawingml/2006/main" prst="rect">
            <a:avLst/>
          </a:prstGeom>
        </p:spPr>
      </p:pic>
      <p:sp>
        <p:nvSpPr>
          <p:cNvPr id="47" name="">
            <a:extLst xmlns:a="http://schemas.openxmlformats.org/drawingml/2006/main">
              <a:ext uri="{FF2B5EF4-FFF2-40B4-BE49-F238E27FC236}">
                <a16:creationId xmlns:a16="http://schemas.microsoft.com/office/drawing/2014/main" id="{146D68B3-DAD4-4709-A2E8-6D80B2AC0D78}"/>
              </a:ext>
            </a:extLst>
          </p:cNvPr>
          <p:cNvSpPr>
            <a:spLocks xmlns:a="http://schemas.openxmlformats.org/drawingml/2006/main" noGrp="1"/>
          </p:cNvSpPr>
          <p:nvPr/>
        </p:nvSpPr>
        <p:spPr>
          <a:xfrm xmlns:a="http://schemas.openxmlformats.org/drawingml/2006/main">
            <a:off x="13515975" y="3495675"/>
            <a:ext cx="3981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Bedrock</a:t>
            </a:r>
          </a:p>
        </p:txBody>
      </p:sp>
      <p:sp>
        <p:nvSpPr>
          <p:cNvPr id="48" name="">
            <a:extLst xmlns:a="http://schemas.openxmlformats.org/drawingml/2006/main">
              <a:ext uri="{FF2B5EF4-FFF2-40B4-BE49-F238E27FC236}">
                <a16:creationId xmlns:a16="http://schemas.microsoft.com/office/drawing/2014/main" id="{1F1F7C38-B7AC-4357-B3BE-E49B69D7E0AE}"/>
              </a:ext>
            </a:extLst>
          </p:cNvPr>
          <p:cNvSpPr>
            <a:spLocks xmlns:a="http://schemas.openxmlformats.org/drawingml/2006/main" noGrp="1"/>
          </p:cNvSpPr>
          <p:nvPr/>
        </p:nvSpPr>
        <p:spPr>
          <a:xfrm xmlns:a="http://schemas.openxmlformats.org/drawingml/2006/main">
            <a:off x="12573000" y="4419600"/>
            <a:ext cx="5143500" cy="100012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128" name=""/>
          <p:cNvPicPr>
            <a:picLocks xmlns:a="http://schemas.openxmlformats.org/drawingml/2006/main" noChangeAspect="1"/>
          </p:cNvPicPr>
          <p:nvPr/>
        </p:nvPicPr>
        <p:blipFill>
          <a:blip xmlns:r="http://schemas.openxmlformats.org/officeDocument/2006/relationships" xmlns:a="http://schemas.openxmlformats.org/drawingml/2006/main" r:embed="R2d03d3cbed0e4d62"/>
          <a:stretch xmlns:a="http://schemas.openxmlformats.org/drawingml/2006/main"/>
        </p:blipFill>
        <p:spPr>
          <a:xfrm xmlns:a="http://schemas.openxmlformats.org/drawingml/2006/main">
            <a:off x="12763500" y="4610100"/>
            <a:ext cx="552450" cy="552450"/>
          </a:xfrm>
          <a:prstGeom xmlns:a="http://schemas.openxmlformats.org/drawingml/2006/main" prst="rect">
            <a:avLst/>
          </a:prstGeom>
        </p:spPr>
      </p:pic>
      <p:sp>
        <p:nvSpPr>
          <p:cNvPr id="50" name="">
            <a:extLst xmlns:a="http://schemas.openxmlformats.org/drawingml/2006/main">
              <a:ext uri="{FF2B5EF4-FFF2-40B4-BE49-F238E27FC236}">
                <a16:creationId xmlns:a16="http://schemas.microsoft.com/office/drawing/2014/main" id="{7E54AA29-07F0-443B-899B-501D2E270273}"/>
              </a:ext>
            </a:extLst>
          </p:cNvPr>
          <p:cNvSpPr>
            <a:spLocks xmlns:a="http://schemas.openxmlformats.org/drawingml/2006/main" noGrp="1"/>
          </p:cNvSpPr>
          <p:nvPr/>
        </p:nvSpPr>
        <p:spPr>
          <a:xfrm xmlns:a="http://schemas.openxmlformats.org/drawingml/2006/main">
            <a:off x="13515975" y="4629150"/>
            <a:ext cx="3981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Amazon S3</a:t>
            </a:r>
          </a:p>
        </p:txBody>
      </p:sp>
      <p:sp>
        <p:nvSpPr>
          <p:cNvPr id="51" name="">
            <a:extLst xmlns:a="http://schemas.openxmlformats.org/drawingml/2006/main">
              <a:ext uri="{FF2B5EF4-FFF2-40B4-BE49-F238E27FC236}">
                <a16:creationId xmlns:a16="http://schemas.microsoft.com/office/drawing/2014/main" id="{0D7119A4-837F-4264-9CED-99EE4523EAEB}"/>
              </a:ext>
            </a:extLst>
          </p:cNvPr>
          <p:cNvSpPr>
            <a:spLocks xmlns:a="http://schemas.openxmlformats.org/drawingml/2006/main" noGrp="1"/>
          </p:cNvSpPr>
          <p:nvPr/>
        </p:nvSpPr>
        <p:spPr>
          <a:xfrm xmlns:a="http://schemas.openxmlformats.org/drawingml/2006/main">
            <a:off x="12573000" y="5553075"/>
            <a:ext cx="5143500" cy="100012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131" name=""/>
          <p:cNvPicPr>
            <a:picLocks xmlns:a="http://schemas.openxmlformats.org/drawingml/2006/main" noChangeAspect="1"/>
          </p:cNvPicPr>
          <p:nvPr/>
        </p:nvPicPr>
        <p:blipFill>
          <a:blip xmlns:r="http://schemas.openxmlformats.org/officeDocument/2006/relationships" xmlns:a="http://schemas.openxmlformats.org/drawingml/2006/main" r:embed="R7bfe47f5559b495e"/>
          <a:stretch xmlns:a="http://schemas.openxmlformats.org/drawingml/2006/main"/>
        </p:blipFill>
        <p:spPr>
          <a:xfrm xmlns:a="http://schemas.openxmlformats.org/drawingml/2006/main">
            <a:off x="12763500" y="5743575"/>
            <a:ext cx="552450" cy="552450"/>
          </a:xfrm>
          <a:prstGeom xmlns:a="http://schemas.openxmlformats.org/drawingml/2006/main" prst="rect">
            <a:avLst/>
          </a:prstGeom>
        </p:spPr>
      </p:pic>
      <p:sp>
        <p:nvSpPr>
          <p:cNvPr id="53" name="">
            <a:extLst xmlns:a="http://schemas.openxmlformats.org/drawingml/2006/main">
              <a:ext uri="{FF2B5EF4-FFF2-40B4-BE49-F238E27FC236}">
                <a16:creationId xmlns:a16="http://schemas.microsoft.com/office/drawing/2014/main" id="{060EE97C-9090-476F-9104-0DCD9F65F44B}"/>
              </a:ext>
            </a:extLst>
          </p:cNvPr>
          <p:cNvSpPr>
            <a:spLocks xmlns:a="http://schemas.openxmlformats.org/drawingml/2006/main" noGrp="1"/>
          </p:cNvSpPr>
          <p:nvPr/>
        </p:nvSpPr>
        <p:spPr>
          <a:xfrm xmlns:a="http://schemas.openxmlformats.org/drawingml/2006/main">
            <a:off x="13515975" y="5762625"/>
            <a:ext cx="3981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Amazon Textract</a:t>
            </a:r>
          </a:p>
        </p:txBody>
      </p:sp>
      <p:sp>
        <p:nvSpPr>
          <p:cNvPr id="54" name="">
            <a:extLst xmlns:a="http://schemas.openxmlformats.org/drawingml/2006/main">
              <a:ext uri="{FF2B5EF4-FFF2-40B4-BE49-F238E27FC236}">
                <a16:creationId xmlns:a16="http://schemas.microsoft.com/office/drawing/2014/main" id="{6E5A45EF-C350-4E3E-83D7-4C185DDD156C}"/>
              </a:ext>
            </a:extLst>
          </p:cNvPr>
          <p:cNvSpPr>
            <a:spLocks xmlns:a="http://schemas.openxmlformats.org/drawingml/2006/main" noGrp="1"/>
          </p:cNvSpPr>
          <p:nvPr/>
        </p:nvSpPr>
        <p:spPr>
          <a:xfrm xmlns:a="http://schemas.openxmlformats.org/drawingml/2006/main">
            <a:off x="12573000" y="6686550"/>
            <a:ext cx="5143500" cy="100012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134" name=""/>
          <p:cNvPicPr>
            <a:picLocks xmlns:a="http://schemas.openxmlformats.org/drawingml/2006/main" noChangeAspect="1"/>
          </p:cNvPicPr>
          <p:nvPr/>
        </p:nvPicPr>
        <p:blipFill>
          <a:blip xmlns:r="http://schemas.openxmlformats.org/officeDocument/2006/relationships" xmlns:a="http://schemas.openxmlformats.org/drawingml/2006/main" r:embed="R22bbe6889eff465b"/>
          <a:stretch xmlns:a="http://schemas.openxmlformats.org/drawingml/2006/main"/>
        </p:blipFill>
        <p:spPr>
          <a:xfrm xmlns:a="http://schemas.openxmlformats.org/drawingml/2006/main">
            <a:off x="12763500" y="6877050"/>
            <a:ext cx="552450" cy="552450"/>
          </a:xfrm>
          <a:prstGeom xmlns:a="http://schemas.openxmlformats.org/drawingml/2006/main" prst="rect">
            <a:avLst/>
          </a:prstGeom>
        </p:spPr>
      </p:pic>
      <p:sp>
        <p:nvSpPr>
          <p:cNvPr id="56" name="">
            <a:extLst xmlns:a="http://schemas.openxmlformats.org/drawingml/2006/main">
              <a:ext uri="{FF2B5EF4-FFF2-40B4-BE49-F238E27FC236}">
                <a16:creationId xmlns:a16="http://schemas.microsoft.com/office/drawing/2014/main" id="{E90ABF15-D0AB-47FC-88AB-113D12C0B2F7}"/>
              </a:ext>
            </a:extLst>
          </p:cNvPr>
          <p:cNvSpPr>
            <a:spLocks xmlns:a="http://schemas.openxmlformats.org/drawingml/2006/main" noGrp="1"/>
          </p:cNvSpPr>
          <p:nvPr/>
        </p:nvSpPr>
        <p:spPr>
          <a:xfrm xmlns:a="http://schemas.openxmlformats.org/drawingml/2006/main">
            <a:off x="13515975" y="6896100"/>
            <a:ext cx="3981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Amazon Transcribe</a:t>
            </a:r>
          </a:p>
        </p:txBody>
      </p:sp>
      <p:sp>
        <p:nvSpPr>
          <p:cNvPr id="57" name="">
            <a:extLst xmlns:a="http://schemas.openxmlformats.org/drawingml/2006/main">
              <a:ext uri="{FF2B5EF4-FFF2-40B4-BE49-F238E27FC236}">
                <a16:creationId xmlns:a16="http://schemas.microsoft.com/office/drawing/2014/main" id="{16D66243-45B6-4423-8A54-8025E984B77F}"/>
              </a:ext>
            </a:extLst>
          </p:cNvPr>
          <p:cNvSpPr>
            <a:spLocks xmlns:a="http://schemas.openxmlformats.org/drawingml/2006/main" noGrp="1"/>
          </p:cNvSpPr>
          <p:nvPr/>
        </p:nvSpPr>
        <p:spPr>
          <a:xfrm xmlns:a="http://schemas.openxmlformats.org/drawingml/2006/main">
            <a:off x="12573000" y="7820025"/>
            <a:ext cx="5143500" cy="100012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137" name=""/>
          <p:cNvPicPr>
            <a:picLocks xmlns:a="http://schemas.openxmlformats.org/drawingml/2006/main" noChangeAspect="1"/>
          </p:cNvPicPr>
          <p:nvPr/>
        </p:nvPicPr>
        <p:blipFill>
          <a:blip xmlns:r="http://schemas.openxmlformats.org/officeDocument/2006/relationships" xmlns:a="http://schemas.openxmlformats.org/drawingml/2006/main" r:embed="R146b2a7ab6aa462e"/>
          <a:stretch xmlns:a="http://schemas.openxmlformats.org/drawingml/2006/main"/>
        </p:blipFill>
        <p:spPr>
          <a:xfrm xmlns:a="http://schemas.openxmlformats.org/drawingml/2006/main">
            <a:off x="12763500" y="8010525"/>
            <a:ext cx="552450" cy="552450"/>
          </a:xfrm>
          <a:prstGeom xmlns:a="http://schemas.openxmlformats.org/drawingml/2006/main" prst="rect">
            <a:avLst/>
          </a:prstGeom>
        </p:spPr>
      </p:pic>
      <p:sp>
        <p:nvSpPr>
          <p:cNvPr id="59" name="">
            <a:extLst xmlns:a="http://schemas.openxmlformats.org/drawingml/2006/main">
              <a:ext uri="{FF2B5EF4-FFF2-40B4-BE49-F238E27FC236}">
                <a16:creationId xmlns:a16="http://schemas.microsoft.com/office/drawing/2014/main" id="{2CAB4A55-3379-451F-B741-EAFBEA075478}"/>
              </a:ext>
            </a:extLst>
          </p:cNvPr>
          <p:cNvSpPr>
            <a:spLocks xmlns:a="http://schemas.openxmlformats.org/drawingml/2006/main" noGrp="1"/>
          </p:cNvSpPr>
          <p:nvPr/>
        </p:nvSpPr>
        <p:spPr>
          <a:xfrm xmlns:a="http://schemas.openxmlformats.org/drawingml/2006/main">
            <a:off x="13515975" y="8029575"/>
            <a:ext cx="3981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Amazon Polly</a:t>
            </a:r>
          </a:p>
        </p:txBody>
      </p:sp>
      <p:sp>
        <p:nvSpPr>
          <p:cNvPr id="60" name="">
            <a:extLst xmlns:a="http://schemas.openxmlformats.org/drawingml/2006/main">
              <a:ext uri="{FF2B5EF4-FFF2-40B4-BE49-F238E27FC236}">
                <a16:creationId xmlns:a16="http://schemas.microsoft.com/office/drawing/2014/main" id="{29C2AEAB-1E21-42D7-97F6-9370C39A85D3}"/>
              </a:ext>
            </a:extLst>
          </p:cNvPr>
          <p:cNvSpPr>
            <a:spLocks xmlns:a="http://schemas.openxmlformats.org/drawingml/2006/main" noGrp="1"/>
          </p:cNvSpPr>
          <p:nvPr/>
        </p:nvSpPr>
        <p:spPr>
          <a:xfrm xmlns:a="http://schemas.openxmlformats.org/drawingml/2006/main">
            <a:off x="13515975" y="3876675"/>
            <a:ext cx="39909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88766B"/>
                </a:solidFill>
                <a:latin typeface="Arial"/>
                <a:ea typeface="Arial"/>
                <a:cs typeface="Arial"/>
              </a:defRPr>
            </a:pPr>
            <a:r>
              <a:rPr sz="1500" b="0">
                <a:solidFill>
                  <a:srgbClr val="88766B"/>
                </a:solidFill>
                <a:latin typeface="Arial"/>
                <a:ea typeface="Arial"/>
                <a:cs typeface="Arial"/>
              </a:rPr>
              <a:t>GPT-OSS reasoning + Titan embeddings</a:t>
            </a:r>
          </a:p>
        </p:txBody>
      </p:sp>
      <p:sp>
        <p:nvSpPr>
          <p:cNvPr id="61" name="">
            <a:extLst xmlns:a="http://schemas.openxmlformats.org/drawingml/2006/main">
              <a:ext uri="{FF2B5EF4-FFF2-40B4-BE49-F238E27FC236}">
                <a16:creationId xmlns:a16="http://schemas.microsoft.com/office/drawing/2014/main" id="{8E4341EF-0669-47E7-A05E-30BDBEB9480C}"/>
              </a:ext>
            </a:extLst>
          </p:cNvPr>
          <p:cNvSpPr>
            <a:spLocks xmlns:a="http://schemas.openxmlformats.org/drawingml/2006/main" noGrp="1"/>
          </p:cNvSpPr>
          <p:nvPr/>
        </p:nvSpPr>
        <p:spPr>
          <a:xfrm xmlns:a="http://schemas.openxmlformats.org/drawingml/2006/main">
            <a:off x="13515975" y="5010150"/>
            <a:ext cx="39909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88766B"/>
                </a:solidFill>
                <a:latin typeface="Arial"/>
                <a:ea typeface="Arial"/>
                <a:cs typeface="Arial"/>
              </a:defRPr>
            </a:pPr>
            <a:r>
              <a:rPr sz="1500" b="0">
                <a:solidFill>
                  <a:srgbClr val="88766B"/>
                </a:solidFill>
                <a:latin typeface="Arial"/>
                <a:ea typeface="Arial"/>
                <a:cs typeface="Arial"/>
              </a:rPr>
              <a:t>PDFs, menu images, call recordings</a:t>
            </a:r>
          </a:p>
        </p:txBody>
      </p:sp>
      <p:sp>
        <p:nvSpPr>
          <p:cNvPr id="62" name="">
            <a:extLst xmlns:a="http://schemas.openxmlformats.org/drawingml/2006/main">
              <a:ext uri="{FF2B5EF4-FFF2-40B4-BE49-F238E27FC236}">
                <a16:creationId xmlns:a16="http://schemas.microsoft.com/office/drawing/2014/main" id="{1F7A60E0-A7EB-4F9C-A5C8-AEE1DE4A0931}"/>
              </a:ext>
            </a:extLst>
          </p:cNvPr>
          <p:cNvSpPr>
            <a:spLocks xmlns:a="http://schemas.openxmlformats.org/drawingml/2006/main" noGrp="1"/>
          </p:cNvSpPr>
          <p:nvPr/>
        </p:nvSpPr>
        <p:spPr>
          <a:xfrm xmlns:a="http://schemas.openxmlformats.org/drawingml/2006/main">
            <a:off x="13515975" y="6143625"/>
            <a:ext cx="39909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88766B"/>
                </a:solidFill>
                <a:latin typeface="Arial"/>
                <a:ea typeface="Arial"/>
                <a:cs typeface="Arial"/>
              </a:defRPr>
            </a:pPr>
            <a:r>
              <a:rPr sz="1500" b="0">
                <a:solidFill>
                  <a:srgbClr val="88766B"/>
                </a:solidFill>
                <a:latin typeface="Arial"/>
                <a:ea typeface="Arial"/>
                <a:cs typeface="Arial"/>
              </a:rPr>
              <a:t>PDF text extraction</a:t>
            </a:r>
          </a:p>
        </p:txBody>
      </p:sp>
      <p:sp>
        <p:nvSpPr>
          <p:cNvPr id="63" name="">
            <a:extLst xmlns:a="http://schemas.openxmlformats.org/drawingml/2006/main">
              <a:ext uri="{FF2B5EF4-FFF2-40B4-BE49-F238E27FC236}">
                <a16:creationId xmlns:a16="http://schemas.microsoft.com/office/drawing/2014/main" id="{ACCA7FC8-5086-46EB-A260-17F6142561FB}"/>
              </a:ext>
            </a:extLst>
          </p:cNvPr>
          <p:cNvSpPr>
            <a:spLocks xmlns:a="http://schemas.openxmlformats.org/drawingml/2006/main" noGrp="1"/>
          </p:cNvSpPr>
          <p:nvPr/>
        </p:nvSpPr>
        <p:spPr>
          <a:xfrm xmlns:a="http://schemas.openxmlformats.org/drawingml/2006/main">
            <a:off x="13515975" y="7277100"/>
            <a:ext cx="39909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88766B"/>
                </a:solidFill>
                <a:latin typeface="Arial"/>
                <a:ea typeface="Arial"/>
                <a:cs typeface="Arial"/>
              </a:defRPr>
            </a:pPr>
            <a:r>
              <a:rPr sz="1500" b="0">
                <a:solidFill>
                  <a:srgbClr val="88766B"/>
                </a:solidFill>
                <a:latin typeface="Arial"/>
                <a:ea typeface="Arial"/>
                <a:cs typeface="Arial"/>
              </a:rPr>
              <a:t>Uploaded speech turns to text</a:t>
            </a:r>
          </a:p>
        </p:txBody>
      </p:sp>
      <p:sp>
        <p:nvSpPr>
          <p:cNvPr id="64" name="">
            <a:extLst xmlns:a="http://schemas.openxmlformats.org/drawingml/2006/main">
              <a:ext uri="{FF2B5EF4-FFF2-40B4-BE49-F238E27FC236}">
                <a16:creationId xmlns:a16="http://schemas.microsoft.com/office/drawing/2014/main" id="{4BD4E23E-A6EF-4484-9063-10CA8A362862}"/>
              </a:ext>
            </a:extLst>
          </p:cNvPr>
          <p:cNvSpPr>
            <a:spLocks xmlns:a="http://schemas.openxmlformats.org/drawingml/2006/main" noGrp="1"/>
          </p:cNvSpPr>
          <p:nvPr/>
        </p:nvSpPr>
        <p:spPr>
          <a:xfrm xmlns:a="http://schemas.openxmlformats.org/drawingml/2006/main">
            <a:off x="13515975" y="8410575"/>
            <a:ext cx="39909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88766B"/>
                </a:solidFill>
                <a:latin typeface="Arial"/>
                <a:ea typeface="Arial"/>
                <a:cs typeface="Arial"/>
              </a:defRPr>
            </a:pPr>
            <a:r>
              <a:rPr sz="1500" b="0">
                <a:solidFill>
                  <a:srgbClr val="88766B"/>
                </a:solidFill>
                <a:latin typeface="Arial"/>
                <a:ea typeface="Arial"/>
                <a:cs typeface="Arial"/>
              </a:rPr>
              <a:t>Neural voice synthesis</a:t>
            </a:r>
          </a:p>
        </p:txBody>
      </p:sp>
      <p:sp>
        <p:nvSpPr>
          <p:cNvPr id="65" name="">
            <a:extLst xmlns:a="http://schemas.openxmlformats.org/drawingml/2006/main">
              <a:ext uri="{FF2B5EF4-FFF2-40B4-BE49-F238E27FC236}">
                <a16:creationId xmlns:a16="http://schemas.microsoft.com/office/drawing/2014/main" id="{BE400293-C051-4F25-9D12-4261E2194BB1}"/>
              </a:ext>
            </a:extLst>
          </p:cNvPr>
          <p:cNvSpPr>
            <a:spLocks xmlns:a="http://schemas.openxmlformats.org/drawingml/2006/main" noGrp="1"/>
          </p:cNvSpPr>
          <p:nvPr/>
        </p:nvSpPr>
        <p:spPr>
          <a:xfrm xmlns:a="http://schemas.openxmlformats.org/drawingml/2006/main">
            <a:off x="11715750" y="3781425"/>
            <a:ext cx="19050" cy="4533900"/>
          </a:xfrm>
          <a:prstGeom xmlns:a="http://schemas.openxmlformats.org/drawingml/2006/main" prst="rect">
            <a:avLst/>
          </a:prstGeom>
          <a:solidFill xmlns:a="http://schemas.openxmlformats.org/drawingml/2006/main">
            <a:srgbClr val="C9502F"/>
          </a:solidFill>
          <a:ln xmlns:a="http://schemas.openxmlformats.org/drawingml/2006/main" w="19050">
            <a:solidFill>
              <a:srgbClr val="C9502F"/>
            </a:solidFill>
            <a:prstDash val="solid"/>
          </a:ln>
        </p:spPr>
      </p:sp>
      <p:cxnSp>
        <p:nvCxnSpPr>
          <p:cNvPr id="145" name=""/>
          <p:cNvCxnSpPr>
            <a:stCxn xmlns:a="http://schemas.openxmlformats.org/drawingml/2006/main" id="17" idx="3"/>
            <a:endCxn xmlns:a="http://schemas.openxmlformats.org/drawingml/2006/main" id="65" idx="1"/>
          </p:cNvCxnSpPr>
          <p:nvPr/>
        </p:nvCxnSpPr>
        <p:spPr>
          <a:xfrm xmlns:a="http://schemas.openxmlformats.org/drawingml/2006/main">
            <a:off x="10906125" y="4357688"/>
            <a:ext cx="809625" cy="1690688"/>
          </a:xfrm>
          <a:prstGeom xmlns:a="http://schemas.openxmlformats.org/drawingml/2006/main" prst="bentConnector3">
            <a:avLst>
              <a:gd name="adj1" fmla="val 50000"/>
            </a:avLst>
          </a:prstGeom>
          <a:ln xmlns:a="http://schemas.openxmlformats.org/drawingml/2006/main" w="28575">
            <a:solidFill>
              <a:srgbClr val="C9502F"/>
            </a:solidFill>
            <a:prstDash val="solid"/>
            <a:tailEnd type="triangle" w="med" len="med"/>
          </a:ln>
        </p:spPr>
      </p:cxnSp>
      <p:cxnSp>
        <p:nvCxnSpPr>
          <p:cNvPr id="146" name=""/>
          <p:cNvCxnSpPr>
            <a:stCxn xmlns:a="http://schemas.openxmlformats.org/drawingml/2006/main" id="65" idx="3"/>
            <a:endCxn xmlns:a="http://schemas.openxmlformats.org/drawingml/2006/main" id="45" idx="1"/>
          </p:cNvCxnSpPr>
          <p:nvPr/>
        </p:nvCxnSpPr>
        <p:spPr>
          <a:xfrm xmlns:a="http://schemas.openxmlformats.org/drawingml/2006/main" flipV="1">
            <a:off x="11734800" y="3786188"/>
            <a:ext cx="838200" cy="2262188"/>
          </a:xfrm>
          <a:prstGeom xmlns:a="http://schemas.openxmlformats.org/drawingml/2006/main" prst="bentConnector3">
            <a:avLst>
              <a:gd name="adj1" fmla="val 50000"/>
            </a:avLst>
          </a:prstGeom>
          <a:ln xmlns:a="http://schemas.openxmlformats.org/drawingml/2006/main" w="28575">
            <a:solidFill>
              <a:srgbClr val="C9502F"/>
            </a:solidFill>
            <a:prstDash val="solid"/>
            <a:tailEnd type="triangle" w="med" len="med"/>
          </a:ln>
        </p:spPr>
      </p:cxnSp>
      <p:cxnSp>
        <p:nvCxnSpPr>
          <p:cNvPr id="147" name=""/>
          <p:cNvCxnSpPr>
            <a:stCxn xmlns:a="http://schemas.openxmlformats.org/drawingml/2006/main" id="65" idx="3"/>
            <a:endCxn xmlns:a="http://schemas.openxmlformats.org/drawingml/2006/main" id="48" idx="1"/>
          </p:cNvCxnSpPr>
          <p:nvPr/>
        </p:nvCxnSpPr>
        <p:spPr>
          <a:xfrm xmlns:a="http://schemas.openxmlformats.org/drawingml/2006/main" flipV="1">
            <a:off x="11734800" y="4919663"/>
            <a:ext cx="838200" cy="1128713"/>
          </a:xfrm>
          <a:prstGeom xmlns:a="http://schemas.openxmlformats.org/drawingml/2006/main" prst="bentConnector3">
            <a:avLst>
              <a:gd name="adj1" fmla="val 50000"/>
            </a:avLst>
          </a:prstGeom>
          <a:ln xmlns:a="http://schemas.openxmlformats.org/drawingml/2006/main" w="28575">
            <a:solidFill>
              <a:srgbClr val="C9502F"/>
            </a:solidFill>
            <a:prstDash val="solid"/>
            <a:tailEnd type="triangle" w="med" len="med"/>
          </a:ln>
        </p:spPr>
      </p:cxnSp>
      <p:cxnSp>
        <p:nvCxnSpPr>
          <p:cNvPr id="148" name=""/>
          <p:cNvCxnSpPr>
            <a:stCxn xmlns:a="http://schemas.openxmlformats.org/drawingml/2006/main" id="65" idx="3"/>
            <a:endCxn xmlns:a="http://schemas.openxmlformats.org/drawingml/2006/main" id="51" idx="1"/>
          </p:cNvCxnSpPr>
          <p:nvPr/>
        </p:nvCxnSpPr>
        <p:spPr>
          <a:xfrm xmlns:a="http://schemas.openxmlformats.org/drawingml/2006/main">
            <a:off x="11734800" y="6048375"/>
            <a:ext cx="838200" cy="4763"/>
          </a:xfrm>
          <a:prstGeom xmlns:a="http://schemas.openxmlformats.org/drawingml/2006/main" prst="bentConnector3">
            <a:avLst>
              <a:gd name="adj1" fmla="val 50000"/>
            </a:avLst>
          </a:prstGeom>
          <a:ln xmlns:a="http://schemas.openxmlformats.org/drawingml/2006/main" w="28575">
            <a:solidFill>
              <a:srgbClr val="C9502F"/>
            </a:solidFill>
            <a:prstDash val="solid"/>
            <a:tailEnd type="triangle" w="med" len="med"/>
          </a:ln>
        </p:spPr>
      </p:cxnSp>
      <p:cxnSp>
        <p:nvCxnSpPr>
          <p:cNvPr id="149" name=""/>
          <p:cNvCxnSpPr>
            <a:stCxn xmlns:a="http://schemas.openxmlformats.org/drawingml/2006/main" id="65" idx="3"/>
            <a:endCxn xmlns:a="http://schemas.openxmlformats.org/drawingml/2006/main" id="54" idx="1"/>
          </p:cNvCxnSpPr>
          <p:nvPr/>
        </p:nvCxnSpPr>
        <p:spPr>
          <a:xfrm xmlns:a="http://schemas.openxmlformats.org/drawingml/2006/main">
            <a:off x="11734800" y="6048375"/>
            <a:ext cx="838200" cy="1138238"/>
          </a:xfrm>
          <a:prstGeom xmlns:a="http://schemas.openxmlformats.org/drawingml/2006/main" prst="bentConnector3">
            <a:avLst>
              <a:gd name="adj1" fmla="val 50000"/>
            </a:avLst>
          </a:prstGeom>
          <a:ln xmlns:a="http://schemas.openxmlformats.org/drawingml/2006/main" w="28575">
            <a:solidFill>
              <a:srgbClr val="C9502F"/>
            </a:solidFill>
            <a:prstDash val="solid"/>
            <a:tailEnd type="triangle" w="med" len="med"/>
          </a:ln>
        </p:spPr>
      </p:cxnSp>
      <p:cxnSp>
        <p:nvCxnSpPr>
          <p:cNvPr id="150" name=""/>
          <p:cNvCxnSpPr>
            <a:stCxn xmlns:a="http://schemas.openxmlformats.org/drawingml/2006/main" id="65" idx="3"/>
            <a:endCxn xmlns:a="http://schemas.openxmlformats.org/drawingml/2006/main" id="57" idx="1"/>
          </p:cNvCxnSpPr>
          <p:nvPr/>
        </p:nvCxnSpPr>
        <p:spPr>
          <a:xfrm xmlns:a="http://schemas.openxmlformats.org/drawingml/2006/main">
            <a:off x="11734800" y="6048375"/>
            <a:ext cx="838200" cy="2271713"/>
          </a:xfrm>
          <a:prstGeom xmlns:a="http://schemas.openxmlformats.org/drawingml/2006/main" prst="bentConnector3">
            <a:avLst>
              <a:gd name="adj1" fmla="val 50000"/>
            </a:avLst>
          </a:prstGeom>
          <a:ln xmlns:a="http://schemas.openxmlformats.org/drawingml/2006/main" w="28575">
            <a:solidFill>
              <a:srgbClr val="C9502F"/>
            </a:solidFill>
            <a:prstDash val="solid"/>
            <a:tailEnd type="triangle" w="med" len="med"/>
          </a:ln>
        </p:spPr>
      </p:cxnSp>
      <p:pic>
        <p:nvPicPr>
          <p:cNvPr id="151" name=""/>
          <p:cNvPicPr>
            <a:picLocks xmlns:a="http://schemas.openxmlformats.org/drawingml/2006/main" noChangeAspect="1"/>
          </p:cNvPicPr>
          <p:nvPr/>
        </p:nvPicPr>
        <p:blipFill>
          <a:blip xmlns:r="http://schemas.openxmlformats.org/officeDocument/2006/relationships" xmlns:a="http://schemas.openxmlformats.org/drawingml/2006/main" r:embed="R2a88cee02f494ade"/>
          <a:stretch xmlns:a="http://schemas.openxmlformats.org/drawingml/2006/main"/>
        </p:blipFill>
        <p:spPr>
          <a:xfrm xmlns:a="http://schemas.openxmlformats.org/drawingml/2006/main">
            <a:off x="571500" y="9286875"/>
            <a:ext cx="457200" cy="457200"/>
          </a:xfrm>
          <a:prstGeom xmlns:a="http://schemas.openxmlformats.org/drawingml/2006/main" prst="rect">
            <a:avLst/>
          </a:prstGeom>
        </p:spPr>
      </p:pic>
      <p:sp>
        <p:nvSpPr>
          <p:cNvPr id="73" name="">
            <a:extLst xmlns:a="http://schemas.openxmlformats.org/drawingml/2006/main">
              <a:ext uri="{FF2B5EF4-FFF2-40B4-BE49-F238E27FC236}">
                <a16:creationId xmlns:a16="http://schemas.microsoft.com/office/drawing/2014/main" id="{9A9D2BA3-6F21-4B85-8392-7C20C46B6BCD}"/>
              </a:ext>
            </a:extLst>
          </p:cNvPr>
          <p:cNvSpPr>
            <a:spLocks xmlns:a="http://schemas.openxmlformats.org/drawingml/2006/main" noGrp="1"/>
          </p:cNvSpPr>
          <p:nvPr/>
        </p:nvSpPr>
        <p:spPr>
          <a:xfrm xmlns:a="http://schemas.openxmlformats.org/drawingml/2006/main">
            <a:off x="1143000" y="9363075"/>
            <a:ext cx="342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88766B"/>
                </a:solidFill>
                <a:latin typeface="Arial"/>
                <a:ea typeface="Arial"/>
                <a:cs typeface="Arial"/>
              </a:defRPr>
            </a:pPr>
            <a:r>
              <a:rPr sz="1800" b="0">
                <a:solidFill>
                  <a:srgbClr val="88766B"/>
                </a:solidFill>
                <a:latin typeface="Arial"/>
                <a:ea typeface="Arial"/>
                <a:cs typeface="Arial"/>
              </a:rPr>
              <a:t>Guardrails: optional</a:t>
            </a:r>
          </a:p>
        </p:txBody>
      </p:sp>
      <p:pic>
        <p:nvPicPr>
          <p:cNvPr id="153" name=""/>
          <p:cNvPicPr>
            <a:picLocks xmlns:a="http://schemas.openxmlformats.org/drawingml/2006/main" noChangeAspect="1"/>
          </p:cNvPicPr>
          <p:nvPr/>
        </p:nvPicPr>
        <p:blipFill>
          <a:blip xmlns:r="http://schemas.openxmlformats.org/officeDocument/2006/relationships" xmlns:a="http://schemas.openxmlformats.org/drawingml/2006/main" r:embed="R8d536e08bd5248a8"/>
          <a:stretch xmlns:a="http://schemas.openxmlformats.org/drawingml/2006/main"/>
        </p:blipFill>
        <p:spPr>
          <a:xfrm xmlns:a="http://schemas.openxmlformats.org/drawingml/2006/main">
            <a:off x="4714875" y="9286875"/>
            <a:ext cx="457200" cy="457200"/>
          </a:xfrm>
          <a:prstGeom xmlns:a="http://schemas.openxmlformats.org/drawingml/2006/main" prst="rect">
            <a:avLst/>
          </a:prstGeom>
        </p:spPr>
      </p:pic>
      <p:sp>
        <p:nvSpPr>
          <p:cNvPr id="75" name="">
            <a:extLst xmlns:a="http://schemas.openxmlformats.org/drawingml/2006/main">
              <a:ext uri="{FF2B5EF4-FFF2-40B4-BE49-F238E27FC236}">
                <a16:creationId xmlns:a16="http://schemas.microsoft.com/office/drawing/2014/main" id="{E1AF3901-0C7E-41EA-991F-0570902568F3}"/>
              </a:ext>
            </a:extLst>
          </p:cNvPr>
          <p:cNvSpPr>
            <a:spLocks xmlns:a="http://schemas.openxmlformats.org/drawingml/2006/main" noGrp="1"/>
          </p:cNvSpPr>
          <p:nvPr/>
        </p:nvSpPr>
        <p:spPr>
          <a:xfrm xmlns:a="http://schemas.openxmlformats.org/drawingml/2006/main">
            <a:off x="5286375" y="9363075"/>
            <a:ext cx="342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805299"/>
                </a:solidFill>
                <a:latin typeface="Arial"/>
                <a:ea typeface="Arial"/>
                <a:cs typeface="Arial"/>
              </a:defRPr>
            </a:pPr>
            <a:r>
              <a:rPr sz="1800" b="0">
                <a:solidFill>
                  <a:srgbClr val="805299"/>
                </a:solidFill>
                <a:latin typeface="Arial"/>
                <a:ea typeface="Arial"/>
                <a:cs typeface="Arial"/>
              </a:rPr>
              <a:t>SageMaker: planned</a:t>
            </a:r>
          </a:p>
        </p:txBody>
      </p:sp>
      <p:pic>
        <p:nvPicPr>
          <p:cNvPr id="155" name=""/>
          <p:cNvPicPr>
            <a:picLocks xmlns:a="http://schemas.openxmlformats.org/drawingml/2006/main" noChangeAspect="1"/>
          </p:cNvPicPr>
          <p:nvPr/>
        </p:nvPicPr>
        <p:blipFill>
          <a:blip xmlns:r="http://schemas.openxmlformats.org/officeDocument/2006/relationships" xmlns:a="http://schemas.openxmlformats.org/drawingml/2006/main" r:embed="Red33c9243fa94b02"/>
          <a:stretch xmlns:a="http://schemas.openxmlformats.org/drawingml/2006/main"/>
        </p:blipFill>
        <p:spPr>
          <a:xfrm xmlns:a="http://schemas.openxmlformats.org/drawingml/2006/main">
            <a:off x="9096375" y="9286875"/>
            <a:ext cx="457200" cy="457200"/>
          </a:xfrm>
          <a:prstGeom xmlns:a="http://schemas.openxmlformats.org/drawingml/2006/main" prst="rect">
            <a:avLst/>
          </a:prstGeom>
        </p:spPr>
      </p:pic>
      <p:sp>
        <p:nvSpPr>
          <p:cNvPr id="77" name="">
            <a:extLst xmlns:a="http://schemas.openxmlformats.org/drawingml/2006/main">
              <a:ext uri="{FF2B5EF4-FFF2-40B4-BE49-F238E27FC236}">
                <a16:creationId xmlns:a16="http://schemas.microsoft.com/office/drawing/2014/main" id="{2A58E744-5432-4F9D-ADF1-E1403E609ADE}"/>
              </a:ext>
            </a:extLst>
          </p:cNvPr>
          <p:cNvSpPr>
            <a:spLocks xmlns:a="http://schemas.openxmlformats.org/drawingml/2006/main" noGrp="1"/>
          </p:cNvSpPr>
          <p:nvPr/>
        </p:nvSpPr>
        <p:spPr>
          <a:xfrm xmlns:a="http://schemas.openxmlformats.org/drawingml/2006/main">
            <a:off x="9667875" y="9363075"/>
            <a:ext cx="4191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88766B"/>
                </a:solidFill>
                <a:latin typeface="Arial"/>
                <a:ea typeface="Arial"/>
                <a:cs typeface="Arial"/>
              </a:defRPr>
            </a:pPr>
            <a:r>
              <a:rPr sz="1800" b="0">
                <a:solidFill>
                  <a:srgbClr val="88766B"/>
                </a:solidFill>
                <a:latin typeface="Arial"/>
                <a:ea typeface="Arial"/>
                <a:cs typeface="Arial"/>
              </a:rPr>
              <a:t>CloudWatch: helper only</a:t>
            </a:r>
          </a:p>
        </p:txBody>
      </p:sp>
      <p:pic>
        <p:nvPicPr>
          <p:cNvPr id="157" name=""/>
          <p:cNvPicPr>
            <a:picLocks xmlns:a="http://schemas.openxmlformats.org/drawingml/2006/main" noChangeAspect="1"/>
          </p:cNvPicPr>
          <p:nvPr/>
        </p:nvPicPr>
        <p:blipFill>
          <a:blip xmlns:r="http://schemas.openxmlformats.org/officeDocument/2006/relationships" xmlns:a="http://schemas.openxmlformats.org/drawingml/2006/main" r:embed="Rfd874cf7062b4164"/>
          <a:stretch xmlns:a="http://schemas.openxmlformats.org/drawingml/2006/main"/>
        </p:blipFill>
        <p:spPr>
          <a:xfrm xmlns:a="http://schemas.openxmlformats.org/drawingml/2006/main">
            <a:off x="14097000" y="9286875"/>
            <a:ext cx="457200" cy="457200"/>
          </a:xfrm>
          <a:prstGeom xmlns:a="http://schemas.openxmlformats.org/drawingml/2006/main" prst="rect">
            <a:avLst/>
          </a:prstGeom>
        </p:spPr>
      </p:pic>
      <p:sp>
        <p:nvSpPr>
          <p:cNvPr id="79" name="">
            <a:extLst xmlns:a="http://schemas.openxmlformats.org/drawingml/2006/main">
              <a:ext uri="{FF2B5EF4-FFF2-40B4-BE49-F238E27FC236}">
                <a16:creationId xmlns:a16="http://schemas.microsoft.com/office/drawing/2014/main" id="{A7D2831C-0D1E-4EDC-A17A-6B67727E00FC}"/>
              </a:ext>
            </a:extLst>
          </p:cNvPr>
          <p:cNvSpPr>
            <a:spLocks xmlns:a="http://schemas.openxmlformats.org/drawingml/2006/main" noGrp="1"/>
          </p:cNvSpPr>
          <p:nvPr/>
        </p:nvSpPr>
        <p:spPr>
          <a:xfrm xmlns:a="http://schemas.openxmlformats.org/drawingml/2006/main">
            <a:off x="14668500" y="9363075"/>
            <a:ext cx="323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88766B"/>
                </a:solidFill>
                <a:latin typeface="Arial"/>
                <a:ea typeface="Arial"/>
                <a:cs typeface="Arial"/>
              </a:defRPr>
            </a:pPr>
            <a:r>
              <a:rPr sz="1800" b="0">
                <a:solidFill>
                  <a:srgbClr val="88766B"/>
                </a:solidFill>
                <a:latin typeface="Arial"/>
                <a:ea typeface="Arial"/>
                <a:cs typeface="Arial"/>
              </a:rPr>
              <a:t>Secrets: helper only</a:t>
            </a:r>
          </a:p>
        </p:txBody>
      </p:sp>
    </p:spTree>
    <p:extLst>
      <p:ext uri="{BB962C8B-B14F-4D97-AF65-F5344CB8AC3E}">
        <p14:creationId xmlns:p14="http://schemas.microsoft.com/office/powerpoint/2010/main" val="11915357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2026-09-12T13:17:46.2710000Z</dcterms:created>
  <dcterms:modified xsi:type="dcterms:W3CDTF">2026-09-12T13:17:46.2710000Z</dcterms:modified>
</coreProperties>
</file>