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82bbe7f5d246f6" /><Relationship Type="http://schemas.openxmlformats.org/officeDocument/2006/relationships/extended-properties" Target="/docProps/app.xml" Id="Rfcfc59c952d94069" /><Relationship Type="http://schemas.openxmlformats.org/officeDocument/2006/relationships/officeDocument" Target="/ppt/presentation.xml" Id="R1ca7c23f289e495a" /></Relationships>
</file>

<file path=ppt/presentation.xml><?xml version="1.0" encoding="utf-8"?>
<p:presentation xmlns:p="http://schemas.openxmlformats.org/presentationml/2006/main">
  <p:sldMasterIdLst>
    <p:sldMasterId xmlns:r="http://schemas.openxmlformats.org/officeDocument/2006/relationships" id="2147483648" r:id="Rc5f57f2cb9a044cf"/>
  </p:sldMasterIdLst>
  <p:notesMasterIdLst>
    <p:notesMasterId xmlns:r="http://schemas.openxmlformats.org/officeDocument/2006/relationships" r:id="R7ad38c11fbec4ec9"/>
  </p:notesMasterIdLst>
  <p:sldIdLst>
    <p:sldId xmlns:r="http://schemas.openxmlformats.org/officeDocument/2006/relationships" id="256" r:id="Reb0d3d498e2f4a16"/>
    <p:sldId xmlns:r="http://schemas.openxmlformats.org/officeDocument/2006/relationships" id="257" r:id="R52d1c30bdb67472e"/>
    <p:sldId xmlns:r="http://schemas.openxmlformats.org/officeDocument/2006/relationships" id="258" r:id="R41005ac4ce7b43b3"/>
    <p:sldId xmlns:r="http://schemas.openxmlformats.org/officeDocument/2006/relationships" id="259" r:id="R038a824fd25d401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7acc2590f843a4" /><Relationship Type="http://schemas.openxmlformats.org/officeDocument/2006/relationships/slideMaster" Target="/ppt/slideMasters/slideMaster1.xml" Id="Rc5f57f2cb9a044cf" /><Relationship Type="http://schemas.openxmlformats.org/officeDocument/2006/relationships/notesMaster" Target="/ppt/notesMasters/notesMaster1.xml" Id="R7ad38c11fbec4ec9" /><Relationship Type="http://schemas.openxmlformats.org/officeDocument/2006/relationships/presProps" Target="/ppt/presProps.xml" Id="R303cd6d732204c2e" /><Relationship Type="http://schemas.openxmlformats.org/officeDocument/2006/relationships/tableStyles" Target="/ppt/tableStyles.xml" Id="R672bd3e3f8994c84" /><Relationship Type="http://schemas.openxmlformats.org/officeDocument/2006/relationships/slide" Target="/ppt/slides/slide1.xml" Id="Reb0d3d498e2f4a16" /><Relationship Type="http://schemas.openxmlformats.org/officeDocument/2006/relationships/slide" Target="/ppt/slides/slide2.xml" Id="R52d1c30bdb67472e" /><Relationship Type="http://schemas.openxmlformats.org/officeDocument/2006/relationships/slide" Target="/ppt/slides/slide3.xml" Id="R41005ac4ce7b43b3" /><Relationship Type="http://schemas.openxmlformats.org/officeDocument/2006/relationships/slide" Target="/ppt/slides/slide4.xml" Id="R038a824fd25d40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1e6e6796db46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9fa8608d91433b" /><Relationship Type="http://schemas.openxmlformats.org/officeDocument/2006/relationships/notesMaster" Target="/ppt/notesMasters/notesMaster1.xml" Id="R35ab53caecf64a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68ea0c0e4a4341" /><Relationship Type="http://schemas.openxmlformats.org/officeDocument/2006/relationships/notesMaster" Target="/ppt/notesMasters/notesMaster1.xml" Id="R3c7238549b5840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466f8a3a4f4cc0" /><Relationship Type="http://schemas.openxmlformats.org/officeDocument/2006/relationships/notesMaster" Target="/ppt/notesMasters/notesMaster1.xml" Id="R65f1cca7e7cb4e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42f466fd214506" /><Relationship Type="http://schemas.openxmlformats.org/officeDocument/2006/relationships/notesMaster" Target="/ppt/notesMasters/notesMaster1.xml" Id="R39205766c9c44f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pipeline prepares restaurant knowledge. FastAPI coordinates S3, Textract, text chunking, Titan embeddings and Qdrant. The search-knowledge tool later uses these stored chunks for retrieval-augmented generation. Background processing runs inside the FastAPI application.</a:t>
            </a:r>
          </a:p>
          <a:p xmlns:a="http://schemas.openxmlformats.org/drawingml/2006/main">
            <a:r>
              <a:t/>
            </a:r>
          </a:p>
          <a:p xmlns:a="http://schemas.openxmlformats.org/drawingml/2006/main">
            <a:r>
              <a:t>Source files: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meeting and attendee, and the browser joins that session. Separately, the browser captures completed microphone turns for the assistant. There is no direct Chime-to-Transcribe bridge. Audio uploads through Next.js to FastAPI, which uses Transcribe Streaming. The transcript returns to the browser and is submitted to Chat Service. Bedrock chooses tools, FastAPI executes them, and Bedrock generates the answer. The browser submits the cleaned answer to the speech endpoint. FastAPI invokes Polly, and the browser plays the MP3 response. Guardrails are optional on the Bedrock chat calls.</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knowledge tool uses RAG, which means retrieval-augmented generation. FastAPI embeds the query using Titan, searches Qdrant, and returns the four most relevant chunks to Bedrock as a tool result. The other tools use restaurant business services and the operational database. Drafts are separate from confirmation. The prompts ask for customer approval, while the service checks model-supplied confirmation flags and business conditions. The main chat path uses Bedrock tools and Python dispatch, not the separate prototype MCP adapter.</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feature. The current recommendations page shows static demo values. Training, inference and dashboard integration are not connected. Daily category demand does not establish the busiest hourly window or staffing needs without additional data and business rules. Forecasting is independent of the Bedrock conversation model.</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812194e22d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efb6027706456b" /><Relationship Type="http://schemas.openxmlformats.org/officeDocument/2006/relationships/slideLayout" Target="/ppt/slideLayouts/slideLayout1.xml" Id="R3a398370f9b54c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398370f9b54c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fb1b1be05e4a73" /><Relationship Type="http://schemas.openxmlformats.org/officeDocument/2006/relationships/image" Target="/ppt/media/image.png" Id="R4816d27aee6c459e" /><Relationship Type="http://schemas.openxmlformats.org/officeDocument/2006/relationships/image" Target="/ppt/media/image2.png" Id="R99c29d29843c4391" /><Relationship Type="http://schemas.openxmlformats.org/officeDocument/2006/relationships/image" Target="/ppt/media/image3.png" Id="Rbe86f3a13f3f4381" /><Relationship Type="http://schemas.openxmlformats.org/officeDocument/2006/relationships/image" Target="/ppt/media/image4.png" Id="R6e7533e0c71643e6" /><Relationship Type="http://schemas.openxmlformats.org/officeDocument/2006/relationships/image" Target="/ppt/media/image5.png" Id="R05f93511a5b24176" /><Relationship Type="http://schemas.openxmlformats.org/officeDocument/2006/relationships/image" Target="/ppt/media/image6.png" Id="R42e3cc0c9a2d4a83" /><Relationship Type="http://schemas.openxmlformats.org/officeDocument/2006/relationships/image" Target="/ppt/media/image7.png" Id="R80debdea32704a1a" /><Relationship Type="http://schemas.openxmlformats.org/officeDocument/2006/relationships/image" Target="/ppt/media/image8.png" Id="R552cd8d9b5c24821" /><Relationship Type="http://schemas.openxmlformats.org/officeDocument/2006/relationships/notesSlide" Target="/ppt/notesSlides/notesSlide1.xml" Id="Re40eb52ef85e4e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9c059eb7204c1e" /><Relationship Type="http://schemas.openxmlformats.org/officeDocument/2006/relationships/image" Target="/ppt/media/image9.png" Id="R36299105dd494293" /><Relationship Type="http://schemas.openxmlformats.org/officeDocument/2006/relationships/image" Target="/ppt/media/image10.png" Id="R30e08b8293d649fd" /><Relationship Type="http://schemas.openxmlformats.org/officeDocument/2006/relationships/image" Target="/ppt/media/image11.png" Id="R5144016349d54abc" /><Relationship Type="http://schemas.openxmlformats.org/officeDocument/2006/relationships/image" Target="/ppt/media/image12.png" Id="R61d6f0304be14cba" /><Relationship Type="http://schemas.openxmlformats.org/officeDocument/2006/relationships/image" Target="/ppt/media/image13.png" Id="R37991c1a6a0c48a1" /><Relationship Type="http://schemas.openxmlformats.org/officeDocument/2006/relationships/image" Target="/ppt/media/image14.png" Id="R829e255b627b4800" /><Relationship Type="http://schemas.openxmlformats.org/officeDocument/2006/relationships/image" Target="/ppt/media/image15.png" Id="R5502aa827c85447f" /><Relationship Type="http://schemas.openxmlformats.org/officeDocument/2006/relationships/image" Target="/ppt/media/image16.png" Id="R2bf3057a97bf4dc9" /><Relationship Type="http://schemas.openxmlformats.org/officeDocument/2006/relationships/image" Target="/ppt/media/image17.png" Id="R62abe1f926fd476d" /><Relationship Type="http://schemas.openxmlformats.org/officeDocument/2006/relationships/image" Target="/ppt/media/image18.png" Id="R0d82688624a44fff" /><Relationship Type="http://schemas.openxmlformats.org/officeDocument/2006/relationships/image" Target="/ppt/media/image19.png" Id="Ra699f6960a374dc5" /><Relationship Type="http://schemas.openxmlformats.org/officeDocument/2006/relationships/image" Target="/ppt/media/image20.png" Id="Rdfad7740fae84fb9" /><Relationship Type="http://schemas.openxmlformats.org/officeDocument/2006/relationships/notesSlide" Target="/ppt/notesSlides/notesSlide2.xml" Id="R53e91fdaa3ec4b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0833a6367746e5" /><Relationship Type="http://schemas.openxmlformats.org/officeDocument/2006/relationships/image" Target="/ppt/media/image21.png" Id="R49cb2c6ff207449e" /><Relationship Type="http://schemas.openxmlformats.org/officeDocument/2006/relationships/notesSlide" Target="/ppt/notesSlides/notesSlide3.xml" Id="Rebdc4842c1434b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b36cb60e484ede" /><Relationship Type="http://schemas.openxmlformats.org/officeDocument/2006/relationships/image" Target="/ppt/media/image22.png" Id="Rf3ef43279c5e4eb5" /><Relationship Type="http://schemas.openxmlformats.org/officeDocument/2006/relationships/image" Target="/ppt/media/image23.png" Id="R47ca3444e9e04262" /><Relationship Type="http://schemas.openxmlformats.org/officeDocument/2006/relationships/image" Target="/ppt/media/image24.png" Id="Ra934644ce6644276" /><Relationship Type="http://schemas.openxmlformats.org/officeDocument/2006/relationships/image" Target="/ppt/media/image25.png" Id="R737af717f3cf484f" /><Relationship Type="http://schemas.openxmlformats.org/officeDocument/2006/relationships/image" Target="/ppt/media/image26.png" Id="Ref411263dd1641a9" /><Relationship Type="http://schemas.openxmlformats.org/officeDocument/2006/relationships/image" Target="/ppt/media/image27.png" Id="Re499d94c02be4fe5" /><Relationship Type="http://schemas.openxmlformats.org/officeDocument/2006/relationships/notesSlide" Target="/ppt/notesSlides/notesSlide4.xml" Id="Re7c077f9129a4dca"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816d27aee6c459e"/>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28F74F-FCC8-4F7B-BDA1-3F7FD108532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FD47703C-6538-4368-ACCB-E2D28208A035}"/>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1. Knowledge base pipeline</a:t>
            </a:r>
          </a:p>
        </p:txBody>
      </p:sp>
      <p:sp>
        <p:nvSpPr>
          <p:cNvPr id="4" name="">
            <a:extLst xmlns:a="http://schemas.openxmlformats.org/drawingml/2006/main">
              <a:ext uri="{FF2B5EF4-FFF2-40B4-BE49-F238E27FC236}">
                <a16:creationId xmlns:a16="http://schemas.microsoft.com/office/drawing/2014/main" id="{6EFB7281-D90A-4ECD-9DD4-5236BBA18EA5}"/>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0B7397E-B7FE-4026-8BE8-413DD5E2FDE1}"/>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7F04E362-CFEE-4384-A748-DE3236287402}"/>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9c29d29843c4391"/>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8256FDE-160F-4AC8-B055-5DFF7F49370B}"/>
              </a:ext>
            </a:extLst>
          </p:cNvPr>
          <p:cNvSpPr>
            <a:spLocks xmlns:a="http://schemas.openxmlformats.org/drawingml/2006/main" noGrp="1"/>
          </p:cNvSpPr>
          <p:nvPr/>
        </p:nvSpPr>
        <p:spPr>
          <a:xfrm xmlns:a="http://schemas.openxmlformats.org/drawingml/2006/main">
            <a:off x="80962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Upload restaurant PDF</a:t>
            </a:r>
          </a:p>
        </p:txBody>
      </p:sp>
      <p:sp>
        <p:nvSpPr>
          <p:cNvPr id="9" name="">
            <a:extLst xmlns:a="http://schemas.openxmlformats.org/drawingml/2006/main">
              <a:ext uri="{FF2B5EF4-FFF2-40B4-BE49-F238E27FC236}">
                <a16:creationId xmlns:a16="http://schemas.microsoft.com/office/drawing/2014/main" id="{29C6FD8E-ABC5-4F6C-9D53-C07B94EAFE8D}"/>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510FEF7B-DFF1-4BF6-882D-0E7E01E47BA9}"/>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e86f3a13f3f4381"/>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E4871DF-608B-48ED-BFC5-3002F7B22B64}"/>
              </a:ext>
            </a:extLst>
          </p:cNvPr>
          <p:cNvSpPr>
            <a:spLocks xmlns:a="http://schemas.openxmlformats.org/drawingml/2006/main" noGrp="1"/>
          </p:cNvSpPr>
          <p:nvPr/>
        </p:nvSpPr>
        <p:spPr>
          <a:xfrm xmlns:a="http://schemas.openxmlformats.org/drawingml/2006/main">
            <a:off x="7048500"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PDF in S3</a:t>
            </a:r>
          </a:p>
        </p:txBody>
      </p:sp>
      <p:sp>
        <p:nvSpPr>
          <p:cNvPr id="13" name="">
            <a:extLst xmlns:a="http://schemas.openxmlformats.org/drawingml/2006/main">
              <a:ext uri="{FF2B5EF4-FFF2-40B4-BE49-F238E27FC236}">
                <a16:creationId xmlns:a16="http://schemas.microsoft.com/office/drawing/2014/main" id="{EBFDE27D-1D00-4C0F-AEA1-CD7B11DDE9B4}"/>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15D496FB-C42F-403E-918D-A0BF2DC247EC}"/>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e7533e0c71643e6"/>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288C396-2473-4C2F-9703-188758813D20}"/>
              </a:ext>
            </a:extLst>
          </p:cNvPr>
          <p:cNvSpPr>
            <a:spLocks xmlns:a="http://schemas.openxmlformats.org/drawingml/2006/main" noGrp="1"/>
          </p:cNvSpPr>
          <p:nvPr/>
        </p:nvSpPr>
        <p:spPr>
          <a:xfrm xmlns:a="http://schemas.openxmlformats.org/drawingml/2006/main">
            <a:off x="1328737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Textract reads the PDF</a:t>
            </a:r>
          </a:p>
        </p:txBody>
      </p:sp>
      <p:sp>
        <p:nvSpPr>
          <p:cNvPr id="17" name="">
            <a:extLst xmlns:a="http://schemas.openxmlformats.org/drawingml/2006/main">
              <a:ext uri="{FF2B5EF4-FFF2-40B4-BE49-F238E27FC236}">
                <a16:creationId xmlns:a16="http://schemas.microsoft.com/office/drawing/2014/main" id="{3B650F7E-B20A-4245-B289-97CB1BBECD98}"/>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B593F215-9944-48FB-8B62-A811021EDF74}"/>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AE3647A9-13C3-41BF-80BF-E6475C13BC46}"/>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05f93511a5b24176"/>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B362263-7776-46D1-9846-2749F4D8987E}"/>
              </a:ext>
            </a:extLst>
          </p:cNvPr>
          <p:cNvSpPr>
            <a:spLocks xmlns:a="http://schemas.openxmlformats.org/drawingml/2006/main" noGrp="1"/>
          </p:cNvSpPr>
          <p:nvPr/>
        </p:nvSpPr>
        <p:spPr>
          <a:xfrm xmlns:a="http://schemas.openxmlformats.org/drawingml/2006/main">
            <a:off x="1328737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Split text into chunks</a:t>
            </a:r>
          </a:p>
        </p:txBody>
      </p:sp>
      <p:sp>
        <p:nvSpPr>
          <p:cNvPr id="22" name="">
            <a:extLst xmlns:a="http://schemas.openxmlformats.org/drawingml/2006/main">
              <a:ext uri="{FF2B5EF4-FFF2-40B4-BE49-F238E27FC236}">
                <a16:creationId xmlns:a16="http://schemas.microsoft.com/office/drawing/2014/main" id="{499E22C2-25F1-4E82-9686-22B7A5F1FF8F}"/>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5DCF1191-B9A3-4051-B19C-29E48BF8D30D}"/>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42e3cc0c9a2d4a83"/>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8BFCD6D5-3955-4586-81A7-7FA7ADFF2139}"/>
              </a:ext>
            </a:extLst>
          </p:cNvPr>
          <p:cNvSpPr>
            <a:spLocks xmlns:a="http://schemas.openxmlformats.org/drawingml/2006/main" noGrp="1"/>
          </p:cNvSpPr>
          <p:nvPr/>
        </p:nvSpPr>
        <p:spPr>
          <a:xfrm xmlns:a="http://schemas.openxmlformats.org/drawingml/2006/main">
            <a:off x="7048500"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Amazon Titan</a:t>
            </a:r>
          </a:p>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Text Embeddings V2</a:t>
            </a:r>
          </a:p>
        </p:txBody>
      </p:sp>
      <p:sp>
        <p:nvSpPr>
          <p:cNvPr id="26" name="">
            <a:extLst xmlns:a="http://schemas.openxmlformats.org/drawingml/2006/main">
              <a:ext uri="{FF2B5EF4-FFF2-40B4-BE49-F238E27FC236}">
                <a16:creationId xmlns:a16="http://schemas.microsoft.com/office/drawing/2014/main" id="{CF9C53D2-AFD9-4E90-B37C-5F6C31DF7B8F}"/>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816D4ACD-C081-4812-8DA1-E41D8C3D6AF3}"/>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80debdea32704a1a"/>
          <a:stretch xmlns:a="http://schemas.openxmlformats.org/drawingml/2006/main"/>
        </p:blipFill>
        <p:spPr>
          <a:xfrm xmlns:a="http://schemas.openxmlformats.org/drawingml/2006/main">
            <a:off x="1600200" y="6769894"/>
            <a:ext cx="2238375" cy="595313"/>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552cd8d9b5c24821"/>
          <a:stretch xmlns:a="http://schemas.openxmlformats.org/drawingml/2006/main"/>
        </p:blipFill>
        <p:spPr>
          <a:xfrm xmlns:a="http://schemas.openxmlformats.org/drawingml/2006/main">
            <a:off x="4029075" y="6767232"/>
            <a:ext cx="762000" cy="60063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7C6CC1E7-BB85-49C2-ACB9-F4EE30F68EC7}"/>
              </a:ext>
            </a:extLst>
          </p:cNvPr>
          <p:cNvSpPr>
            <a:spLocks xmlns:a="http://schemas.openxmlformats.org/drawingml/2006/main" noGrp="1"/>
          </p:cNvSpPr>
          <p:nvPr/>
        </p:nvSpPr>
        <p:spPr>
          <a:xfrm xmlns:a="http://schemas.openxmlformats.org/drawingml/2006/main">
            <a:off x="80962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embeddings</a:t>
            </a:r>
          </a:p>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in Qdrant</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083003677"/>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6299105dd494293"/>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873A6A-484E-4E4A-939D-1523BA744B2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1F0AD2E6-4F0F-4A26-BF55-BDCC32296D65}"/>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2. Complete voice conversation</a:t>
            </a:r>
          </a:p>
        </p:txBody>
      </p:sp>
      <p:sp>
        <p:nvSpPr>
          <p:cNvPr id="4" name="">
            <a:extLst xmlns:a="http://schemas.openxmlformats.org/drawingml/2006/main">
              <a:ext uri="{FF2B5EF4-FFF2-40B4-BE49-F238E27FC236}">
                <a16:creationId xmlns:a16="http://schemas.microsoft.com/office/drawing/2014/main" id="{30580D0E-31E4-46C8-B092-2594BD23A384}"/>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0E2AEFD-0D89-4FE4-AF20-ABC849F842A7}"/>
              </a:ext>
            </a:extLst>
          </p:cNvPr>
          <p:cNvSpPr>
            <a:spLocks xmlns:a="http://schemas.openxmlformats.org/drawingml/2006/main" noGrp="1"/>
          </p:cNvSpPr>
          <p:nvPr/>
        </p:nvSpPr>
        <p:spPr>
          <a:xfrm xmlns:a="http://schemas.openxmlformats.org/drawingml/2006/main">
            <a:off x="57150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13201F74-B8F4-4B80-AF88-608ACCE5E23C}"/>
              </a:ext>
            </a:extLst>
          </p:cNvPr>
          <p:cNvSpPr>
            <a:spLocks xmlns:a="http://schemas.openxmlformats.org/drawingml/2006/main" noGrp="1"/>
          </p:cNvSpPr>
          <p:nvPr/>
        </p:nvSpPr>
        <p:spPr>
          <a:xfrm xmlns:a="http://schemas.openxmlformats.org/drawingml/2006/main">
            <a:off x="762000" y="25717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30e08b8293d649fd"/>
          <a:stretch xmlns:a="http://schemas.openxmlformats.org/drawingml/2006/main"/>
        </p:blipFill>
        <p:spPr>
          <a:xfrm xmlns:a="http://schemas.openxmlformats.org/drawingml/2006/main">
            <a:off x="762000" y="257175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FA7FE63-E158-441D-98FD-CF0BF45BE693}"/>
              </a:ext>
            </a:extLst>
          </p:cNvPr>
          <p:cNvSpPr>
            <a:spLocks xmlns:a="http://schemas.openxmlformats.org/drawingml/2006/main" noGrp="1"/>
          </p:cNvSpPr>
          <p:nvPr/>
        </p:nvSpPr>
        <p:spPr>
          <a:xfrm xmlns:a="http://schemas.openxmlformats.org/drawingml/2006/main">
            <a:off x="151447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FastAPI creates session</a:t>
            </a:r>
          </a:p>
        </p:txBody>
      </p:sp>
      <p:sp>
        <p:nvSpPr>
          <p:cNvPr id="9" name="">
            <a:extLst xmlns:a="http://schemas.openxmlformats.org/drawingml/2006/main">
              <a:ext uri="{FF2B5EF4-FFF2-40B4-BE49-F238E27FC236}">
                <a16:creationId xmlns:a16="http://schemas.microsoft.com/office/drawing/2014/main" id="{D3567CCD-BBB6-42FB-9773-1FDF2A9F00CB}"/>
              </a:ext>
            </a:extLst>
          </p:cNvPr>
          <p:cNvSpPr>
            <a:spLocks xmlns:a="http://schemas.openxmlformats.org/drawingml/2006/main" noGrp="1"/>
          </p:cNvSpPr>
          <p:nvPr/>
        </p:nvSpPr>
        <p:spPr>
          <a:xfrm xmlns:a="http://schemas.openxmlformats.org/drawingml/2006/main">
            <a:off x="676275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144016349d54abc"/>
          <a:stretch xmlns:a="http://schemas.openxmlformats.org/drawingml/2006/main"/>
        </p:blipFill>
        <p:spPr>
          <a:xfrm xmlns:a="http://schemas.openxmlformats.org/drawingml/2006/main">
            <a:off x="6953250" y="2571750"/>
            <a:ext cx="552450" cy="552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633296A-85E0-4CC5-9869-C9418AE1BD92}"/>
              </a:ext>
            </a:extLst>
          </p:cNvPr>
          <p:cNvSpPr>
            <a:spLocks xmlns:a="http://schemas.openxmlformats.org/drawingml/2006/main" noGrp="1"/>
          </p:cNvSpPr>
          <p:nvPr/>
        </p:nvSpPr>
        <p:spPr>
          <a:xfrm xmlns:a="http://schemas.openxmlformats.org/drawingml/2006/main">
            <a:off x="770572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Chime SDK</a:t>
            </a:r>
          </a:p>
        </p:txBody>
      </p:sp>
      <p:sp>
        <p:nvSpPr>
          <p:cNvPr id="12" name="">
            <a:extLst xmlns:a="http://schemas.openxmlformats.org/drawingml/2006/main">
              <a:ext uri="{FF2B5EF4-FFF2-40B4-BE49-F238E27FC236}">
                <a16:creationId xmlns:a16="http://schemas.microsoft.com/office/drawing/2014/main" id="{8D55CF3B-DDA7-40BF-9E66-6B4887576C25}"/>
              </a:ext>
            </a:extLst>
          </p:cNvPr>
          <p:cNvSpPr>
            <a:spLocks xmlns:a="http://schemas.openxmlformats.org/drawingml/2006/main" noGrp="1"/>
          </p:cNvSpPr>
          <p:nvPr/>
        </p:nvSpPr>
        <p:spPr>
          <a:xfrm xmlns:a="http://schemas.openxmlformats.org/drawingml/2006/main">
            <a:off x="12954000" y="2381250"/>
            <a:ext cx="47625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61d6f0304be14cba"/>
          <a:stretch xmlns:a="http://schemas.openxmlformats.org/drawingml/2006/main"/>
        </p:blipFill>
        <p:spPr>
          <a:xfrm xmlns:a="http://schemas.openxmlformats.org/drawingml/2006/main">
            <a:off x="13144500" y="2571750"/>
            <a:ext cx="552450" cy="552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E55E433-A854-47A5-8F81-58A78857BA19}"/>
              </a:ext>
            </a:extLst>
          </p:cNvPr>
          <p:cNvSpPr>
            <a:spLocks xmlns:a="http://schemas.openxmlformats.org/drawingml/2006/main" noGrp="1"/>
          </p:cNvSpPr>
          <p:nvPr/>
        </p:nvSpPr>
        <p:spPr>
          <a:xfrm xmlns:a="http://schemas.openxmlformats.org/drawingml/2006/main">
            <a:off x="13896975" y="2590800"/>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Browser joins meeting</a:t>
            </a:r>
          </a:p>
        </p:txBody>
      </p:sp>
      <p:cxnSp>
        <p:nvCxnSpPr>
          <p:cNvPr id="73" name=""/>
          <p:cNvCxnSpPr>
            <a:stCxn xmlns:a="http://schemas.openxmlformats.org/drawingml/2006/main" id="5" idx="3"/>
            <a:endCxn xmlns:a="http://schemas.openxmlformats.org/drawingml/2006/main" id="9" idx="1"/>
          </p:cNvCxnSpPr>
          <p:nvPr/>
        </p:nvCxnSpPr>
        <p:spPr>
          <a:xfrm xmlns:a="http://schemas.openxmlformats.org/drawingml/2006/main">
            <a:off x="514350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4" name=""/>
          <p:cNvCxnSpPr>
            <a:stCxn xmlns:a="http://schemas.openxmlformats.org/drawingml/2006/main" id="9" idx="3"/>
            <a:endCxn xmlns:a="http://schemas.openxmlformats.org/drawingml/2006/main" id="12" idx="1"/>
          </p:cNvCxnSpPr>
          <p:nvPr/>
        </p:nvCxnSpPr>
        <p:spPr>
          <a:xfrm xmlns:a="http://schemas.openxmlformats.org/drawingml/2006/main">
            <a:off x="1133475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745A17A0-A0DC-4D03-87F6-F8676EE5A123}"/>
              </a:ext>
            </a:extLst>
          </p:cNvPr>
          <p:cNvSpPr>
            <a:spLocks xmlns:a="http://schemas.openxmlformats.org/drawingml/2006/main" noGrp="1"/>
          </p:cNvSpPr>
          <p:nvPr/>
        </p:nvSpPr>
        <p:spPr>
          <a:xfrm xmlns:a="http://schemas.openxmlformats.org/drawingml/2006/main">
            <a:off x="57150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25FE3760-3EE2-463A-B5C2-8A9CD9494B22}"/>
              </a:ext>
            </a:extLst>
          </p:cNvPr>
          <p:cNvSpPr>
            <a:spLocks xmlns:a="http://schemas.openxmlformats.org/drawingml/2006/main" noGrp="1"/>
          </p:cNvSpPr>
          <p:nvPr/>
        </p:nvSpPr>
        <p:spPr>
          <a:xfrm xmlns:a="http://schemas.openxmlformats.org/drawingml/2006/main">
            <a:off x="76200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01</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37991c1a6a0c48a1"/>
          <a:stretch xmlns:a="http://schemas.openxmlformats.org/drawingml/2006/main"/>
        </p:blipFill>
        <p:spPr>
          <a:xfrm xmlns:a="http://schemas.openxmlformats.org/drawingml/2006/main">
            <a:off x="1981200" y="4391025"/>
            <a:ext cx="762000" cy="762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C0680AA-8BB6-466D-BF87-F84CC4041FCB}"/>
              </a:ext>
            </a:extLst>
          </p:cNvPr>
          <p:cNvSpPr>
            <a:spLocks xmlns:a="http://schemas.openxmlformats.org/drawingml/2006/main" noGrp="1"/>
          </p:cNvSpPr>
          <p:nvPr/>
        </p:nvSpPr>
        <p:spPr>
          <a:xfrm xmlns:a="http://schemas.openxmlformats.org/drawingml/2006/main">
            <a:off x="76200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speaks</a:t>
            </a:r>
          </a:p>
        </p:txBody>
      </p:sp>
      <p:sp>
        <p:nvSpPr>
          <p:cNvPr id="21" name="">
            <a:extLst xmlns:a="http://schemas.openxmlformats.org/drawingml/2006/main">
              <a:ext uri="{FF2B5EF4-FFF2-40B4-BE49-F238E27FC236}">
                <a16:creationId xmlns:a16="http://schemas.microsoft.com/office/drawing/2014/main" id="{B82B9E74-A7E5-4216-A642-0B1EA8DD7F7B}"/>
              </a:ext>
            </a:extLst>
          </p:cNvPr>
          <p:cNvSpPr>
            <a:spLocks xmlns:a="http://schemas.openxmlformats.org/drawingml/2006/main" noGrp="1"/>
          </p:cNvSpPr>
          <p:nvPr/>
        </p:nvSpPr>
        <p:spPr>
          <a:xfrm xmlns:a="http://schemas.openxmlformats.org/drawingml/2006/main">
            <a:off x="509587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2" name="">
            <a:extLst xmlns:a="http://schemas.openxmlformats.org/drawingml/2006/main">
              <a:ext uri="{FF2B5EF4-FFF2-40B4-BE49-F238E27FC236}">
                <a16:creationId xmlns:a16="http://schemas.microsoft.com/office/drawing/2014/main" id="{6BE864AE-1BF8-4479-BEEB-6E70D5B7A262}"/>
              </a:ext>
            </a:extLst>
          </p:cNvPr>
          <p:cNvSpPr>
            <a:spLocks xmlns:a="http://schemas.openxmlformats.org/drawingml/2006/main" noGrp="1"/>
          </p:cNvSpPr>
          <p:nvPr/>
        </p:nvSpPr>
        <p:spPr>
          <a:xfrm xmlns:a="http://schemas.openxmlformats.org/drawingml/2006/main">
            <a:off x="528637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F138F736-CF2C-40D6-9535-9BFFBF9F9CD2}"/>
              </a:ext>
            </a:extLst>
          </p:cNvPr>
          <p:cNvSpPr>
            <a:spLocks xmlns:a="http://schemas.openxmlformats.org/drawingml/2006/main" noGrp="1"/>
          </p:cNvSpPr>
          <p:nvPr/>
        </p:nvSpPr>
        <p:spPr>
          <a:xfrm xmlns:a="http://schemas.openxmlformats.org/drawingml/2006/main">
            <a:off x="6505575" y="439102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829e255b627b4800"/>
          <a:stretch xmlns:a="http://schemas.openxmlformats.org/drawingml/2006/main"/>
        </p:blipFill>
        <p:spPr>
          <a:xfrm xmlns:a="http://schemas.openxmlformats.org/drawingml/2006/main">
            <a:off x="6505575" y="4391025"/>
            <a:ext cx="762000" cy="762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9C621D4-0903-4062-89AA-B242951620E8}"/>
              </a:ext>
            </a:extLst>
          </p:cNvPr>
          <p:cNvSpPr>
            <a:spLocks xmlns:a="http://schemas.openxmlformats.org/drawingml/2006/main" noGrp="1"/>
          </p:cNvSpPr>
          <p:nvPr/>
        </p:nvSpPr>
        <p:spPr>
          <a:xfrm xmlns:a="http://schemas.openxmlformats.org/drawingml/2006/main">
            <a:off x="528637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Upload to FastAPI</a:t>
            </a:r>
          </a:p>
        </p:txBody>
      </p:sp>
      <p:sp>
        <p:nvSpPr>
          <p:cNvPr id="26" name="">
            <a:extLst xmlns:a="http://schemas.openxmlformats.org/drawingml/2006/main">
              <a:ext uri="{FF2B5EF4-FFF2-40B4-BE49-F238E27FC236}">
                <a16:creationId xmlns:a16="http://schemas.microsoft.com/office/drawing/2014/main" id="{C68621C4-57CA-4922-A87D-499FA315A7FB}"/>
              </a:ext>
            </a:extLst>
          </p:cNvPr>
          <p:cNvSpPr>
            <a:spLocks xmlns:a="http://schemas.openxmlformats.org/drawingml/2006/main" noGrp="1"/>
          </p:cNvSpPr>
          <p:nvPr/>
        </p:nvSpPr>
        <p:spPr>
          <a:xfrm xmlns:a="http://schemas.openxmlformats.org/drawingml/2006/main">
            <a:off x="962025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038D0CF0-DBF8-4C65-8AE1-35621A60D1A4}"/>
              </a:ext>
            </a:extLst>
          </p:cNvPr>
          <p:cNvSpPr>
            <a:spLocks xmlns:a="http://schemas.openxmlformats.org/drawingml/2006/main" noGrp="1"/>
          </p:cNvSpPr>
          <p:nvPr/>
        </p:nvSpPr>
        <p:spPr>
          <a:xfrm xmlns:a="http://schemas.openxmlformats.org/drawingml/2006/main">
            <a:off x="981075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03</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5502aa827c85447f"/>
          <a:stretch xmlns:a="http://schemas.openxmlformats.org/drawingml/2006/main"/>
        </p:blipFill>
        <p:spPr>
          <a:xfrm xmlns:a="http://schemas.openxmlformats.org/drawingml/2006/main">
            <a:off x="11029950" y="4391025"/>
            <a:ext cx="762000" cy="7620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5CFC822-0330-4BCF-BFB3-025524F3E0AC}"/>
              </a:ext>
            </a:extLst>
          </p:cNvPr>
          <p:cNvSpPr>
            <a:spLocks xmlns:a="http://schemas.openxmlformats.org/drawingml/2006/main" noGrp="1"/>
          </p:cNvSpPr>
          <p:nvPr/>
        </p:nvSpPr>
        <p:spPr>
          <a:xfrm xmlns:a="http://schemas.openxmlformats.org/drawingml/2006/main">
            <a:off x="981075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Transcribe to text</a:t>
            </a:r>
          </a:p>
        </p:txBody>
      </p:sp>
      <p:sp>
        <p:nvSpPr>
          <p:cNvPr id="30" name="">
            <a:extLst xmlns:a="http://schemas.openxmlformats.org/drawingml/2006/main">
              <a:ext uri="{FF2B5EF4-FFF2-40B4-BE49-F238E27FC236}">
                <a16:creationId xmlns:a16="http://schemas.microsoft.com/office/drawing/2014/main" id="{D5DC4101-7BDD-41E1-A5FD-0E3CD08FA943}"/>
              </a:ext>
            </a:extLst>
          </p:cNvPr>
          <p:cNvSpPr>
            <a:spLocks xmlns:a="http://schemas.openxmlformats.org/drawingml/2006/main" noGrp="1"/>
          </p:cNvSpPr>
          <p:nvPr/>
        </p:nvSpPr>
        <p:spPr>
          <a:xfrm xmlns:a="http://schemas.openxmlformats.org/drawingml/2006/main">
            <a:off x="1414462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1" name="">
            <a:extLst xmlns:a="http://schemas.openxmlformats.org/drawingml/2006/main">
              <a:ext uri="{FF2B5EF4-FFF2-40B4-BE49-F238E27FC236}">
                <a16:creationId xmlns:a16="http://schemas.microsoft.com/office/drawing/2014/main" id="{48A57941-C4B0-4033-A36D-F9EB13D60D1C}"/>
              </a:ext>
            </a:extLst>
          </p:cNvPr>
          <p:cNvSpPr>
            <a:spLocks xmlns:a="http://schemas.openxmlformats.org/drawingml/2006/main" noGrp="1"/>
          </p:cNvSpPr>
          <p:nvPr/>
        </p:nvSpPr>
        <p:spPr>
          <a:xfrm xmlns:a="http://schemas.openxmlformats.org/drawingml/2006/main">
            <a:off x="1433512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04</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2bf3057a97bf4dc9"/>
          <a:stretch xmlns:a="http://schemas.openxmlformats.org/drawingml/2006/main"/>
        </p:blipFill>
        <p:spPr>
          <a:xfrm xmlns:a="http://schemas.openxmlformats.org/drawingml/2006/main">
            <a:off x="15554325" y="4391025"/>
            <a:ext cx="762000" cy="7620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8A94E6E6-6B18-4984-8548-D3EB2EE78972}"/>
              </a:ext>
            </a:extLst>
          </p:cNvPr>
          <p:cNvSpPr>
            <a:spLocks xmlns:a="http://schemas.openxmlformats.org/drawingml/2006/main" noGrp="1"/>
          </p:cNvSpPr>
          <p:nvPr/>
        </p:nvSpPr>
        <p:spPr>
          <a:xfrm xmlns:a="http://schemas.openxmlformats.org/drawingml/2006/main">
            <a:off x="1433512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Send transcript to chat</a:t>
            </a:r>
          </a:p>
        </p:txBody>
      </p:sp>
      <p:sp>
        <p:nvSpPr>
          <p:cNvPr id="34" name="">
            <a:extLst xmlns:a="http://schemas.openxmlformats.org/drawingml/2006/main">
              <a:ext uri="{FF2B5EF4-FFF2-40B4-BE49-F238E27FC236}">
                <a16:creationId xmlns:a16="http://schemas.microsoft.com/office/drawing/2014/main" id="{A1B88F19-FF29-4431-95B8-2C8070583536}"/>
              </a:ext>
            </a:extLst>
          </p:cNvPr>
          <p:cNvSpPr>
            <a:spLocks xmlns:a="http://schemas.openxmlformats.org/drawingml/2006/main" noGrp="1"/>
          </p:cNvSpPr>
          <p:nvPr/>
        </p:nvSpPr>
        <p:spPr>
          <a:xfrm xmlns:a="http://schemas.openxmlformats.org/drawingml/2006/main">
            <a:off x="1414462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5" name="">
            <a:extLst xmlns:a="http://schemas.openxmlformats.org/drawingml/2006/main">
              <a:ext uri="{FF2B5EF4-FFF2-40B4-BE49-F238E27FC236}">
                <a16:creationId xmlns:a16="http://schemas.microsoft.com/office/drawing/2014/main" id="{577CDD11-BF85-4DC8-B268-B52415577D2F}"/>
              </a:ext>
            </a:extLst>
          </p:cNvPr>
          <p:cNvSpPr>
            <a:spLocks xmlns:a="http://schemas.openxmlformats.org/drawingml/2006/main" noGrp="1"/>
          </p:cNvSpPr>
          <p:nvPr/>
        </p:nvSpPr>
        <p:spPr>
          <a:xfrm xmlns:a="http://schemas.openxmlformats.org/drawingml/2006/main">
            <a:off x="1433512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05</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62abe1f926fd476d"/>
          <a:stretch xmlns:a="http://schemas.openxmlformats.org/drawingml/2006/main"/>
        </p:blipFill>
        <p:spPr>
          <a:xfrm xmlns:a="http://schemas.openxmlformats.org/drawingml/2006/main">
            <a:off x="15554325" y="6962775"/>
            <a:ext cx="762000" cy="7620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A5FAD659-232B-4837-889B-2DABA4490855}"/>
              </a:ext>
            </a:extLst>
          </p:cNvPr>
          <p:cNvSpPr>
            <a:spLocks xmlns:a="http://schemas.openxmlformats.org/drawingml/2006/main" noGrp="1"/>
          </p:cNvSpPr>
          <p:nvPr/>
        </p:nvSpPr>
        <p:spPr>
          <a:xfrm xmlns:a="http://schemas.openxmlformats.org/drawingml/2006/main">
            <a:off x="1433512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Bedrock + tools</a:t>
            </a:r>
          </a:p>
        </p:txBody>
      </p:sp>
      <p:sp>
        <p:nvSpPr>
          <p:cNvPr id="38" name="">
            <a:extLst xmlns:a="http://schemas.openxmlformats.org/drawingml/2006/main">
              <a:ext uri="{FF2B5EF4-FFF2-40B4-BE49-F238E27FC236}">
                <a16:creationId xmlns:a16="http://schemas.microsoft.com/office/drawing/2014/main" id="{91EF247C-F803-4F28-8507-05EF26532FF4}"/>
              </a:ext>
            </a:extLst>
          </p:cNvPr>
          <p:cNvSpPr>
            <a:spLocks xmlns:a="http://schemas.openxmlformats.org/drawingml/2006/main" noGrp="1"/>
          </p:cNvSpPr>
          <p:nvPr/>
        </p:nvSpPr>
        <p:spPr>
          <a:xfrm xmlns:a="http://schemas.openxmlformats.org/drawingml/2006/main">
            <a:off x="962025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9" name="">
            <a:extLst xmlns:a="http://schemas.openxmlformats.org/drawingml/2006/main">
              <a:ext uri="{FF2B5EF4-FFF2-40B4-BE49-F238E27FC236}">
                <a16:creationId xmlns:a16="http://schemas.microsoft.com/office/drawing/2014/main" id="{0A4502F1-9F47-44A8-95C2-418B25CBBF31}"/>
              </a:ext>
            </a:extLst>
          </p:cNvPr>
          <p:cNvSpPr>
            <a:spLocks xmlns:a="http://schemas.openxmlformats.org/drawingml/2006/main" noGrp="1"/>
          </p:cNvSpPr>
          <p:nvPr/>
        </p:nvSpPr>
        <p:spPr>
          <a:xfrm xmlns:a="http://schemas.openxmlformats.org/drawingml/2006/main">
            <a:off x="981075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06</a:t>
            </a:r>
          </a:p>
        </p:txBody>
      </p:sp>
      <p:sp>
        <p:nvSpPr>
          <p:cNvPr id="40" name="">
            <a:extLst xmlns:a="http://schemas.openxmlformats.org/drawingml/2006/main">
              <a:ext uri="{FF2B5EF4-FFF2-40B4-BE49-F238E27FC236}">
                <a16:creationId xmlns:a16="http://schemas.microsoft.com/office/drawing/2014/main" id="{1C80CA9F-E5AB-4A66-A404-936EFB2C6A72}"/>
              </a:ext>
            </a:extLst>
          </p:cNvPr>
          <p:cNvSpPr>
            <a:spLocks xmlns:a="http://schemas.openxmlformats.org/drawingml/2006/main" noGrp="1"/>
          </p:cNvSpPr>
          <p:nvPr/>
        </p:nvSpPr>
        <p:spPr>
          <a:xfrm xmlns:a="http://schemas.openxmlformats.org/drawingml/2006/main">
            <a:off x="11029950" y="696277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0d82688624a44fff"/>
          <a:stretch xmlns:a="http://schemas.openxmlformats.org/drawingml/2006/main"/>
        </p:blipFill>
        <p:spPr>
          <a:xfrm xmlns:a="http://schemas.openxmlformats.org/drawingml/2006/main">
            <a:off x="11029950" y="6962775"/>
            <a:ext cx="762000" cy="7620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8BD4B81A-AE29-493C-8528-CE501E230673}"/>
              </a:ext>
            </a:extLst>
          </p:cNvPr>
          <p:cNvSpPr>
            <a:spLocks xmlns:a="http://schemas.openxmlformats.org/drawingml/2006/main" noGrp="1"/>
          </p:cNvSpPr>
          <p:nvPr/>
        </p:nvSpPr>
        <p:spPr>
          <a:xfrm xmlns:a="http://schemas.openxmlformats.org/drawingml/2006/main">
            <a:off x="981075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Return answer text</a:t>
            </a:r>
          </a:p>
        </p:txBody>
      </p:sp>
      <p:sp>
        <p:nvSpPr>
          <p:cNvPr id="43" name="">
            <a:extLst xmlns:a="http://schemas.openxmlformats.org/drawingml/2006/main">
              <a:ext uri="{FF2B5EF4-FFF2-40B4-BE49-F238E27FC236}">
                <a16:creationId xmlns:a16="http://schemas.microsoft.com/office/drawing/2014/main" id="{697AE1B4-9373-42F0-ADB8-E82708C9A3B1}"/>
              </a:ext>
            </a:extLst>
          </p:cNvPr>
          <p:cNvSpPr>
            <a:spLocks xmlns:a="http://schemas.openxmlformats.org/drawingml/2006/main" noGrp="1"/>
          </p:cNvSpPr>
          <p:nvPr/>
        </p:nvSpPr>
        <p:spPr>
          <a:xfrm xmlns:a="http://schemas.openxmlformats.org/drawingml/2006/main">
            <a:off x="509587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4" name="">
            <a:extLst xmlns:a="http://schemas.openxmlformats.org/drawingml/2006/main">
              <a:ext uri="{FF2B5EF4-FFF2-40B4-BE49-F238E27FC236}">
                <a16:creationId xmlns:a16="http://schemas.microsoft.com/office/drawing/2014/main" id="{D748C4BF-F1D2-469C-8117-A15BCF75063C}"/>
              </a:ext>
            </a:extLst>
          </p:cNvPr>
          <p:cNvSpPr>
            <a:spLocks xmlns:a="http://schemas.openxmlformats.org/drawingml/2006/main" noGrp="1"/>
          </p:cNvSpPr>
          <p:nvPr/>
        </p:nvSpPr>
        <p:spPr>
          <a:xfrm xmlns:a="http://schemas.openxmlformats.org/drawingml/2006/main">
            <a:off x="528637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07</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a699f6960a374dc5"/>
          <a:stretch xmlns:a="http://schemas.openxmlformats.org/drawingml/2006/main"/>
        </p:blipFill>
        <p:spPr>
          <a:xfrm xmlns:a="http://schemas.openxmlformats.org/drawingml/2006/main">
            <a:off x="6505575" y="6962775"/>
            <a:ext cx="762000" cy="76200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EE5E5183-6349-4C40-A0F5-979DBFF16CC0}"/>
              </a:ext>
            </a:extLst>
          </p:cNvPr>
          <p:cNvSpPr>
            <a:spLocks xmlns:a="http://schemas.openxmlformats.org/drawingml/2006/main" noGrp="1"/>
          </p:cNvSpPr>
          <p:nvPr/>
        </p:nvSpPr>
        <p:spPr>
          <a:xfrm xmlns:a="http://schemas.openxmlformats.org/drawingml/2006/main">
            <a:off x="528637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Polly creates speech</a:t>
            </a:r>
          </a:p>
        </p:txBody>
      </p:sp>
      <p:sp>
        <p:nvSpPr>
          <p:cNvPr id="47" name="">
            <a:extLst xmlns:a="http://schemas.openxmlformats.org/drawingml/2006/main">
              <a:ext uri="{FF2B5EF4-FFF2-40B4-BE49-F238E27FC236}">
                <a16:creationId xmlns:a16="http://schemas.microsoft.com/office/drawing/2014/main" id="{7919B048-3B8A-401B-9C55-4F952A056DD6}"/>
              </a:ext>
            </a:extLst>
          </p:cNvPr>
          <p:cNvSpPr>
            <a:spLocks xmlns:a="http://schemas.openxmlformats.org/drawingml/2006/main" noGrp="1"/>
          </p:cNvSpPr>
          <p:nvPr/>
        </p:nvSpPr>
        <p:spPr>
          <a:xfrm xmlns:a="http://schemas.openxmlformats.org/drawingml/2006/main">
            <a:off x="57150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8" name="">
            <a:extLst xmlns:a="http://schemas.openxmlformats.org/drawingml/2006/main">
              <a:ext uri="{FF2B5EF4-FFF2-40B4-BE49-F238E27FC236}">
                <a16:creationId xmlns:a16="http://schemas.microsoft.com/office/drawing/2014/main" id="{1D1B9111-AD02-4DBD-93F3-E468C4110C73}"/>
              </a:ext>
            </a:extLst>
          </p:cNvPr>
          <p:cNvSpPr>
            <a:spLocks xmlns:a="http://schemas.openxmlformats.org/drawingml/2006/main" noGrp="1"/>
          </p:cNvSpPr>
          <p:nvPr/>
        </p:nvSpPr>
        <p:spPr>
          <a:xfrm xmlns:a="http://schemas.openxmlformats.org/drawingml/2006/main">
            <a:off x="76200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08</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dfad7740fae84fb9"/>
          <a:stretch xmlns:a="http://schemas.openxmlformats.org/drawingml/2006/main"/>
        </p:blipFill>
        <p:spPr>
          <a:xfrm xmlns:a="http://schemas.openxmlformats.org/drawingml/2006/main">
            <a:off x="1981200" y="6962775"/>
            <a:ext cx="762000" cy="7620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4C01B3DC-E572-4365-867A-F98551DEF0C7}"/>
              </a:ext>
            </a:extLst>
          </p:cNvPr>
          <p:cNvSpPr>
            <a:spLocks xmlns:a="http://schemas.openxmlformats.org/drawingml/2006/main" noGrp="1"/>
          </p:cNvSpPr>
          <p:nvPr/>
        </p:nvSpPr>
        <p:spPr>
          <a:xfrm xmlns:a="http://schemas.openxmlformats.org/drawingml/2006/main">
            <a:off x="76200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hears reply</a:t>
            </a:r>
          </a:p>
        </p:txBody>
      </p:sp>
      <p:cxnSp>
        <p:nvCxnSpPr>
          <p:cNvPr id="109" name=""/>
          <p:cNvCxnSpPr>
            <a:stCxn xmlns:a="http://schemas.openxmlformats.org/drawingml/2006/main" id="17" idx="3"/>
            <a:endCxn xmlns:a="http://schemas.openxmlformats.org/drawingml/2006/main" id="21" idx="1"/>
          </p:cNvCxnSpPr>
          <p:nvPr/>
        </p:nvCxnSpPr>
        <p:spPr>
          <a:xfrm xmlns:a="http://schemas.openxmlformats.org/drawingml/2006/main">
            <a:off x="414337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0" name=""/>
          <p:cNvCxnSpPr>
            <a:stCxn xmlns:a="http://schemas.openxmlformats.org/drawingml/2006/main" id="21" idx="3"/>
            <a:endCxn xmlns:a="http://schemas.openxmlformats.org/drawingml/2006/main" id="26" idx="1"/>
          </p:cNvCxnSpPr>
          <p:nvPr/>
        </p:nvCxnSpPr>
        <p:spPr>
          <a:xfrm xmlns:a="http://schemas.openxmlformats.org/drawingml/2006/main">
            <a:off x="8667750"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1" name=""/>
          <p:cNvCxnSpPr>
            <a:stCxn xmlns:a="http://schemas.openxmlformats.org/drawingml/2006/main" id="26" idx="3"/>
            <a:endCxn xmlns:a="http://schemas.openxmlformats.org/drawingml/2006/main" id="30" idx="1"/>
          </p:cNvCxnSpPr>
          <p:nvPr/>
        </p:nvCxnSpPr>
        <p:spPr>
          <a:xfrm xmlns:a="http://schemas.openxmlformats.org/drawingml/2006/main">
            <a:off x="1319212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2" name=""/>
          <p:cNvCxnSpPr>
            <a:stCxn xmlns:a="http://schemas.openxmlformats.org/drawingml/2006/main" id="30" idx="2"/>
            <a:endCxn xmlns:a="http://schemas.openxmlformats.org/drawingml/2006/main" id="34" idx="0"/>
          </p:cNvCxnSpPr>
          <p:nvPr/>
        </p:nvCxnSpPr>
        <p:spPr>
          <a:xfrm xmlns:a="http://schemas.openxmlformats.org/drawingml/2006/main">
            <a:off x="15930563" y="6191250"/>
            <a:ext cx="0" cy="57150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3" name=""/>
          <p:cNvCxnSpPr>
            <a:stCxn xmlns:a="http://schemas.openxmlformats.org/drawingml/2006/main" id="34" idx="1"/>
            <a:endCxn xmlns:a="http://schemas.openxmlformats.org/drawingml/2006/main" id="38" idx="3"/>
          </p:cNvCxnSpPr>
          <p:nvPr/>
        </p:nvCxnSpPr>
        <p:spPr>
          <a:xfrm xmlns:a="http://schemas.openxmlformats.org/drawingml/2006/main" flipH="1">
            <a:off x="1319212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4" name=""/>
          <p:cNvCxnSpPr>
            <a:stCxn xmlns:a="http://schemas.openxmlformats.org/drawingml/2006/main" id="38" idx="1"/>
            <a:endCxn xmlns:a="http://schemas.openxmlformats.org/drawingml/2006/main" id="43" idx="3"/>
          </p:cNvCxnSpPr>
          <p:nvPr/>
        </p:nvCxnSpPr>
        <p:spPr>
          <a:xfrm xmlns:a="http://schemas.openxmlformats.org/drawingml/2006/main" flipH="1">
            <a:off x="8667750"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5" name=""/>
          <p:cNvCxnSpPr>
            <a:stCxn xmlns:a="http://schemas.openxmlformats.org/drawingml/2006/main" id="43" idx="1"/>
            <a:endCxn xmlns:a="http://schemas.openxmlformats.org/drawingml/2006/main" id="47" idx="3"/>
          </p:cNvCxnSpPr>
          <p:nvPr/>
        </p:nvCxnSpPr>
        <p:spPr>
          <a:xfrm xmlns:a="http://schemas.openxmlformats.org/drawingml/2006/main" flipH="1">
            <a:off x="414337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58" name="">
            <a:extLst xmlns:a="http://schemas.openxmlformats.org/drawingml/2006/main">
              <a:ext uri="{FF2B5EF4-FFF2-40B4-BE49-F238E27FC236}">
                <a16:creationId xmlns:a16="http://schemas.microsoft.com/office/drawing/2014/main" id="{11002560-956C-4E19-B317-B984A88010E1}"/>
              </a:ext>
            </a:extLst>
          </p:cNvPr>
          <p:cNvSpPr>
            <a:spLocks xmlns:a="http://schemas.openxmlformats.org/drawingml/2006/main" noGrp="1"/>
          </p:cNvSpPr>
          <p:nvPr/>
        </p:nvSpPr>
        <p:spPr>
          <a:xfrm xmlns:a="http://schemas.openxmlformats.org/drawingml/2006/main">
            <a:off x="571500" y="9144000"/>
            <a:ext cx="1647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meeting media is separate from the transcription path.</a:t>
            </a:r>
          </a:p>
        </p:txBody>
      </p:sp>
    </p:spTree>
    <p:extLst>
      <p:ext uri="{BB962C8B-B14F-4D97-AF65-F5344CB8AC3E}">
        <p14:creationId xmlns:p14="http://schemas.microsoft.com/office/powerpoint/2010/main" val="1111575665"/>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9cb2c6ff207449e"/>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5378C2-3016-49CE-BC70-D8160466F4AB}"/>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9E8E3954-7A53-4CA9-AA8B-76F8BB2D94D5}"/>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3. AI tools and RAG</a:t>
            </a:r>
          </a:p>
        </p:txBody>
      </p:sp>
      <p:sp>
        <p:nvSpPr>
          <p:cNvPr id="4" name="">
            <a:extLst xmlns:a="http://schemas.openxmlformats.org/drawingml/2006/main">
              <a:ext uri="{FF2B5EF4-FFF2-40B4-BE49-F238E27FC236}">
                <a16:creationId xmlns:a16="http://schemas.microsoft.com/office/drawing/2014/main" id="{C3D4B9AE-EC55-49B6-B526-F21009334305}"/>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Bedrock selects a tool. FastAPI runs it and returns the result.</a:t>
            </a:r>
          </a:p>
        </p:txBody>
      </p:sp>
      <p:sp>
        <p:nvSpPr>
          <p:cNvPr id="5" name="">
            <a:extLst xmlns:a="http://schemas.openxmlformats.org/drawingml/2006/main">
              <a:ext uri="{FF2B5EF4-FFF2-40B4-BE49-F238E27FC236}">
                <a16:creationId xmlns:a16="http://schemas.microsoft.com/office/drawing/2014/main" id="{B4D8041E-55B6-4282-B59D-331EA7FFA9C6}"/>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E070C78D-92EF-4459-89D1-1BCAAEA578FA}"/>
              </a:ext>
            </a:extLst>
          </p:cNvPr>
          <p:cNvSpPr>
            <a:spLocks xmlns:a="http://schemas.openxmlformats.org/drawingml/2006/main" noGrp="1"/>
          </p:cNvSpPr>
          <p:nvPr/>
        </p:nvSpPr>
        <p:spPr>
          <a:xfrm xmlns:a="http://schemas.openxmlformats.org/drawingml/2006/main">
            <a:off x="619125" y="31146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C1B4FDC3-0BBC-4C06-9CC9-9BEA05D66734}"/>
              </a:ext>
            </a:extLst>
          </p:cNvPr>
          <p:cNvSpPr>
            <a:spLocks xmlns:a="http://schemas.openxmlformats.org/drawingml/2006/main" noGrp="1"/>
          </p:cNvSpPr>
          <p:nvPr/>
        </p:nvSpPr>
        <p:spPr>
          <a:xfrm xmlns:a="http://schemas.openxmlformats.org/drawingml/2006/main">
            <a:off x="7000875" y="31146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RAG: retrieve restaurant knowledge from PDFs.</a:t>
            </a:r>
          </a:p>
        </p:txBody>
      </p:sp>
      <p:sp>
        <p:nvSpPr>
          <p:cNvPr id="8" name="">
            <a:extLst xmlns:a="http://schemas.openxmlformats.org/drawingml/2006/main">
              <a:ext uri="{FF2B5EF4-FFF2-40B4-BE49-F238E27FC236}">
                <a16:creationId xmlns:a16="http://schemas.microsoft.com/office/drawing/2014/main" id="{E37C8C71-69BF-4799-9451-7B0FF93EAC35}"/>
              </a:ext>
            </a:extLst>
          </p:cNvPr>
          <p:cNvSpPr>
            <a:spLocks xmlns:a="http://schemas.openxmlformats.org/drawingml/2006/main" noGrp="1"/>
          </p:cNvSpPr>
          <p:nvPr/>
        </p:nvSpPr>
        <p:spPr>
          <a:xfrm xmlns:a="http://schemas.openxmlformats.org/drawingml/2006/main">
            <a:off x="619125" y="38100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9" name="">
            <a:extLst xmlns:a="http://schemas.openxmlformats.org/drawingml/2006/main">
              <a:ext uri="{FF2B5EF4-FFF2-40B4-BE49-F238E27FC236}">
                <a16:creationId xmlns:a16="http://schemas.microsoft.com/office/drawing/2014/main" id="{6F6E74CA-A62B-4AF5-9204-7CE0B941A0A0}"/>
              </a:ext>
            </a:extLst>
          </p:cNvPr>
          <p:cNvSpPr>
            <a:spLocks xmlns:a="http://schemas.openxmlformats.org/drawingml/2006/main" noGrp="1"/>
          </p:cNvSpPr>
          <p:nvPr/>
        </p:nvSpPr>
        <p:spPr>
          <a:xfrm xmlns:a="http://schemas.openxmlformats.org/drawingml/2006/main">
            <a:off x="7000875" y="38100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Find dishes, prices, availability and stock.</a:t>
            </a:r>
          </a:p>
        </p:txBody>
      </p:sp>
      <p:sp>
        <p:nvSpPr>
          <p:cNvPr id="10" name="">
            <a:extLst xmlns:a="http://schemas.openxmlformats.org/drawingml/2006/main">
              <a:ext uri="{FF2B5EF4-FFF2-40B4-BE49-F238E27FC236}">
                <a16:creationId xmlns:a16="http://schemas.microsoft.com/office/drawing/2014/main" id="{089E9322-E605-4323-ADB5-356FB0F83ABC}"/>
              </a:ext>
            </a:extLst>
          </p:cNvPr>
          <p:cNvSpPr>
            <a:spLocks xmlns:a="http://schemas.openxmlformats.org/drawingml/2006/main" noGrp="1"/>
          </p:cNvSpPr>
          <p:nvPr/>
        </p:nvSpPr>
        <p:spPr>
          <a:xfrm xmlns:a="http://schemas.openxmlformats.org/drawingml/2006/main">
            <a:off x="619125" y="45053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11" name="">
            <a:extLst xmlns:a="http://schemas.openxmlformats.org/drawingml/2006/main">
              <a:ext uri="{FF2B5EF4-FFF2-40B4-BE49-F238E27FC236}">
                <a16:creationId xmlns:a16="http://schemas.microsoft.com/office/drawing/2014/main" id="{35C91CE8-1C34-4F34-83D0-B84ED6D2F8AA}"/>
              </a:ext>
            </a:extLst>
          </p:cNvPr>
          <p:cNvSpPr>
            <a:spLocks xmlns:a="http://schemas.openxmlformats.org/drawingml/2006/main" noGrp="1"/>
          </p:cNvSpPr>
          <p:nvPr/>
        </p:nvSpPr>
        <p:spPr>
          <a:xfrm xmlns:a="http://schemas.openxmlformats.org/drawingml/2006/main">
            <a:off x="7000875" y="4505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Validate quantities, stock and the subtotal.</a:t>
            </a:r>
          </a:p>
        </p:txBody>
      </p:sp>
      <p:sp>
        <p:nvSpPr>
          <p:cNvPr id="12" name="">
            <a:extLst xmlns:a="http://schemas.openxmlformats.org/drawingml/2006/main">
              <a:ext uri="{FF2B5EF4-FFF2-40B4-BE49-F238E27FC236}">
                <a16:creationId xmlns:a16="http://schemas.microsoft.com/office/drawing/2014/main" id="{83E68EA4-DDF9-409A-9173-C8C91026260B}"/>
              </a:ext>
            </a:extLst>
          </p:cNvPr>
          <p:cNvSpPr>
            <a:spLocks xmlns:a="http://schemas.openxmlformats.org/drawingml/2006/main" noGrp="1"/>
          </p:cNvSpPr>
          <p:nvPr/>
        </p:nvSpPr>
        <p:spPr>
          <a:xfrm xmlns:a="http://schemas.openxmlformats.org/drawingml/2006/main">
            <a:off x="619125" y="52006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3" name="">
            <a:extLst xmlns:a="http://schemas.openxmlformats.org/drawingml/2006/main">
              <a:ext uri="{FF2B5EF4-FFF2-40B4-BE49-F238E27FC236}">
                <a16:creationId xmlns:a16="http://schemas.microsoft.com/office/drawing/2014/main" id="{7868669A-3610-4A77-A012-D577A7919801}"/>
              </a:ext>
            </a:extLst>
          </p:cNvPr>
          <p:cNvSpPr>
            <a:spLocks xmlns:a="http://schemas.openxmlformats.org/drawingml/2006/main" noGrp="1"/>
          </p:cNvSpPr>
          <p:nvPr/>
        </p:nvSpPr>
        <p:spPr>
          <a:xfrm xmlns:a="http://schemas.openxmlformats.org/drawingml/2006/main">
            <a:off x="7000875" y="52006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 delivery draft after address approval.</a:t>
            </a:r>
          </a:p>
        </p:txBody>
      </p:sp>
      <p:sp>
        <p:nvSpPr>
          <p:cNvPr id="14" name="">
            <a:extLst xmlns:a="http://schemas.openxmlformats.org/drawingml/2006/main">
              <a:ext uri="{FF2B5EF4-FFF2-40B4-BE49-F238E27FC236}">
                <a16:creationId xmlns:a16="http://schemas.microsoft.com/office/drawing/2014/main" id="{E1C064C1-F326-4FE1-AE1B-64EA27049A50}"/>
              </a:ext>
            </a:extLst>
          </p:cNvPr>
          <p:cNvSpPr>
            <a:spLocks xmlns:a="http://schemas.openxmlformats.org/drawingml/2006/main" noGrp="1"/>
          </p:cNvSpPr>
          <p:nvPr/>
        </p:nvSpPr>
        <p:spPr>
          <a:xfrm xmlns:a="http://schemas.openxmlformats.org/drawingml/2006/main">
            <a:off x="619125" y="58959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5" name="">
            <a:extLst xmlns:a="http://schemas.openxmlformats.org/drawingml/2006/main">
              <a:ext uri="{FF2B5EF4-FFF2-40B4-BE49-F238E27FC236}">
                <a16:creationId xmlns:a16="http://schemas.microsoft.com/office/drawing/2014/main" id="{CE152463-0863-42CE-ACC2-4E430673E277}"/>
              </a:ext>
            </a:extLst>
          </p:cNvPr>
          <p:cNvSpPr>
            <a:spLocks xmlns:a="http://schemas.openxmlformats.org/drawingml/2006/main" noGrp="1"/>
          </p:cNvSpPr>
          <p:nvPr/>
        </p:nvSpPr>
        <p:spPr>
          <a:xfrm xmlns:a="http://schemas.openxmlformats.org/drawingml/2006/main">
            <a:off x="7000875"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stock and confirm the approved draft.</a:t>
            </a:r>
          </a:p>
        </p:txBody>
      </p:sp>
      <p:sp>
        <p:nvSpPr>
          <p:cNvPr id="16" name="">
            <a:extLst xmlns:a="http://schemas.openxmlformats.org/drawingml/2006/main">
              <a:ext uri="{FF2B5EF4-FFF2-40B4-BE49-F238E27FC236}">
                <a16:creationId xmlns:a16="http://schemas.microsoft.com/office/drawing/2014/main" id="{110E4103-111F-46A3-A0DE-6F362D5E2021}"/>
              </a:ext>
            </a:extLst>
          </p:cNvPr>
          <p:cNvSpPr>
            <a:spLocks xmlns:a="http://schemas.openxmlformats.org/drawingml/2006/main" noGrp="1"/>
          </p:cNvSpPr>
          <p:nvPr/>
        </p:nvSpPr>
        <p:spPr>
          <a:xfrm xmlns:a="http://schemas.openxmlformats.org/drawingml/2006/main">
            <a:off x="619125" y="65913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7" name="">
            <a:extLst xmlns:a="http://schemas.openxmlformats.org/drawingml/2006/main">
              <a:ext uri="{FF2B5EF4-FFF2-40B4-BE49-F238E27FC236}">
                <a16:creationId xmlns:a16="http://schemas.microsoft.com/office/drawing/2014/main" id="{CBC8F277-72DE-481E-881F-2760D1284BD5}"/>
              </a:ext>
            </a:extLst>
          </p:cNvPr>
          <p:cNvSpPr>
            <a:spLocks xmlns:a="http://schemas.openxmlformats.org/drawingml/2006/main" noGrp="1"/>
          </p:cNvSpPr>
          <p:nvPr/>
        </p:nvSpPr>
        <p:spPr>
          <a:xfrm xmlns:a="http://schemas.openxmlformats.org/drawingml/2006/main">
            <a:off x="7000875" y="65913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Check table capacity and booking overlaps.</a:t>
            </a:r>
          </a:p>
        </p:txBody>
      </p:sp>
      <p:sp>
        <p:nvSpPr>
          <p:cNvPr id="18" name="">
            <a:extLst xmlns:a="http://schemas.openxmlformats.org/drawingml/2006/main">
              <a:ext uri="{FF2B5EF4-FFF2-40B4-BE49-F238E27FC236}">
                <a16:creationId xmlns:a16="http://schemas.microsoft.com/office/drawing/2014/main" id="{CD405A2A-B1C5-4E26-AB91-26C312633398}"/>
              </a:ext>
            </a:extLst>
          </p:cNvPr>
          <p:cNvSpPr>
            <a:spLocks xmlns:a="http://schemas.openxmlformats.org/drawingml/2006/main" noGrp="1"/>
          </p:cNvSpPr>
          <p:nvPr/>
        </p:nvSpPr>
        <p:spPr>
          <a:xfrm xmlns:a="http://schemas.openxmlformats.org/drawingml/2006/main">
            <a:off x="619125" y="72866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9" name="">
            <a:extLst xmlns:a="http://schemas.openxmlformats.org/drawingml/2006/main">
              <a:ext uri="{FF2B5EF4-FFF2-40B4-BE49-F238E27FC236}">
                <a16:creationId xmlns:a16="http://schemas.microsoft.com/office/drawing/2014/main" id="{AC3279CF-AFD4-458D-849C-B48C68A9B30E}"/>
              </a:ext>
            </a:extLst>
          </p:cNvPr>
          <p:cNvSpPr>
            <a:spLocks xmlns:a="http://schemas.openxmlformats.org/drawingml/2006/main" noGrp="1"/>
          </p:cNvSpPr>
          <p:nvPr/>
        </p:nvSpPr>
        <p:spPr>
          <a:xfrm xmlns:a="http://schemas.openxmlformats.org/drawingml/2006/main">
            <a:off x="7000875" y="7286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an unconfirmed booking.</a:t>
            </a:r>
          </a:p>
        </p:txBody>
      </p:sp>
      <p:sp>
        <p:nvSpPr>
          <p:cNvPr id="20" name="">
            <a:extLst xmlns:a="http://schemas.openxmlformats.org/drawingml/2006/main">
              <a:ext uri="{FF2B5EF4-FFF2-40B4-BE49-F238E27FC236}">
                <a16:creationId xmlns:a16="http://schemas.microsoft.com/office/drawing/2014/main" id="{E00745D0-19B7-46BB-AA79-820B4456B0BB}"/>
              </a:ext>
            </a:extLst>
          </p:cNvPr>
          <p:cNvSpPr>
            <a:spLocks xmlns:a="http://schemas.openxmlformats.org/drawingml/2006/main" noGrp="1"/>
          </p:cNvSpPr>
          <p:nvPr/>
        </p:nvSpPr>
        <p:spPr>
          <a:xfrm xmlns:a="http://schemas.openxmlformats.org/drawingml/2006/main">
            <a:off x="619125" y="79819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
        <p:nvSpPr>
          <p:cNvPr id="21" name="">
            <a:extLst xmlns:a="http://schemas.openxmlformats.org/drawingml/2006/main">
              <a:ext uri="{FF2B5EF4-FFF2-40B4-BE49-F238E27FC236}">
                <a16:creationId xmlns:a16="http://schemas.microsoft.com/office/drawing/2014/main" id="{D9C37739-EC4B-4BFE-AE6D-B1630C15C27C}"/>
              </a:ext>
            </a:extLst>
          </p:cNvPr>
          <p:cNvSpPr>
            <a:spLocks xmlns:a="http://schemas.openxmlformats.org/drawingml/2006/main" noGrp="1"/>
          </p:cNvSpPr>
          <p:nvPr/>
        </p:nvSpPr>
        <p:spPr>
          <a:xfrm xmlns:a="http://schemas.openxmlformats.org/drawingml/2006/main">
            <a:off x="7000875" y="79819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availability, assign a table and confirm.</a:t>
            </a:r>
          </a:p>
        </p:txBody>
      </p:sp>
      <p:sp>
        <p:nvSpPr>
          <p:cNvPr id="22" name="">
            <a:extLst xmlns:a="http://schemas.openxmlformats.org/drawingml/2006/main">
              <a:ext uri="{FF2B5EF4-FFF2-40B4-BE49-F238E27FC236}">
                <a16:creationId xmlns:a16="http://schemas.microsoft.com/office/drawing/2014/main" id="{A2038733-0CA7-4336-B5FB-3D143692778F}"/>
              </a:ext>
            </a:extLst>
          </p:cNvPr>
          <p:cNvSpPr>
            <a:spLocks xmlns:a="http://schemas.openxmlformats.org/drawingml/2006/main" noGrp="1"/>
          </p:cNvSpPr>
          <p:nvPr/>
        </p:nvSpPr>
        <p:spPr>
          <a:xfrm xmlns:a="http://schemas.openxmlformats.org/drawingml/2006/main">
            <a:off x="619125" y="8715375"/>
            <a:ext cx="1676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897B"/>
                </a:solidFill>
                <a:latin typeface="Arial"/>
                <a:ea typeface="Arial"/>
                <a:cs typeface="Arial"/>
              </a:defRPr>
            </a:pPr>
            <a:r>
              <a:rPr sz="2025" b="1">
                <a:solidFill>
                  <a:srgbClr val="00897B"/>
                </a:solidFill>
                <a:latin typeface="Arial"/>
                <a:ea typeface="Arial"/>
                <a:cs typeface="Arial"/>
              </a:rPr>
              <a:t>RAG: Titan query embedding, Qdrant search, four chunks, Bedrock answer.</a:t>
            </a:r>
          </a:p>
        </p:txBody>
      </p:sp>
      <p:sp>
        <p:nvSpPr>
          <p:cNvPr id="23" name="">
            <a:extLst xmlns:a="http://schemas.openxmlformats.org/drawingml/2006/main">
              <a:ext uri="{FF2B5EF4-FFF2-40B4-BE49-F238E27FC236}">
                <a16:creationId xmlns:a16="http://schemas.microsoft.com/office/drawing/2014/main" id="{E094E77C-B1C9-4914-A861-FFDD466E6275}"/>
              </a:ext>
            </a:extLst>
          </p:cNvPr>
          <p:cNvSpPr>
            <a:spLocks xmlns:a="http://schemas.openxmlformats.org/drawingml/2006/main" noGrp="1"/>
          </p:cNvSpPr>
          <p:nvPr/>
        </p:nvSpPr>
        <p:spPr>
          <a:xfrm xmlns:a="http://schemas.openxmlformats.org/drawingml/2006/main">
            <a:off x="619125" y="9296400"/>
            <a:ext cx="1657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9502F"/>
                </a:solidFill>
                <a:latin typeface="Arial"/>
                <a:ea typeface="Arial"/>
                <a:cs typeface="Arial"/>
              </a:defRPr>
            </a:pPr>
            <a:r>
              <a:rPr sz="1875" b="1">
                <a:solidFill>
                  <a:srgbClr val="C9502F"/>
                </a:solidFill>
                <a:latin typeface="Arial"/>
                <a:ea typeface="Arial"/>
                <a:cs typeface="Arial"/>
              </a:rPr>
              <a:t>Bedrock Guardrails (optional): prompt-attack, harmful-content and word filters.</a:t>
            </a:r>
          </a:p>
        </p:txBody>
      </p:sp>
    </p:spTree>
    <p:extLst>
      <p:ext uri="{BB962C8B-B14F-4D97-AF65-F5344CB8AC3E}">
        <p14:creationId xmlns:p14="http://schemas.microsoft.com/office/powerpoint/2010/main" val="301253926"/>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3ef43279c5e4eb5"/>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CA1A30-90E3-49C3-95A4-8454844784D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47FF139E-FE09-45A9-97DF-D7CE72545D72}"/>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4. SageMaker demand forecasting</a:t>
            </a:r>
          </a:p>
        </p:txBody>
      </p:sp>
      <p:sp>
        <p:nvSpPr>
          <p:cNvPr id="4" name="">
            <a:extLst xmlns:a="http://schemas.openxmlformats.org/drawingml/2006/main">
              <a:ext uri="{FF2B5EF4-FFF2-40B4-BE49-F238E27FC236}">
                <a16:creationId xmlns:a16="http://schemas.microsoft.com/office/drawing/2014/main" id="{977558F1-B246-4099-9B45-C5519A6C1ADF}"/>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E47F7E2A-8950-436B-A1DC-24DA670C82A5}"/>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66CFD99-F615-4DEB-8B4D-928070D21EDE}"/>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089F4AAF-95C9-4A0B-9D57-A790129B79B7}"/>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E023CE21-6D1D-4999-89FD-5882C3B158A0}"/>
              </a:ext>
            </a:extLst>
          </p:cNvPr>
          <p:cNvSpPr>
            <a:spLocks xmlns:a="http://schemas.openxmlformats.org/drawingml/2006/main" noGrp="1"/>
          </p:cNvSpPr>
          <p:nvPr/>
        </p:nvSpPr>
        <p:spPr>
          <a:xfrm xmlns:a="http://schemas.openxmlformats.org/drawingml/2006/main">
            <a:off x="809625" y="4210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Prepare order history</a:t>
            </a:r>
          </a:p>
        </p:txBody>
      </p:sp>
      <p:sp>
        <p:nvSpPr>
          <p:cNvPr id="9" name="">
            <a:extLst xmlns:a="http://schemas.openxmlformats.org/drawingml/2006/main">
              <a:ext uri="{FF2B5EF4-FFF2-40B4-BE49-F238E27FC236}">
                <a16:creationId xmlns:a16="http://schemas.microsoft.com/office/drawing/2014/main" id="{F3888C8D-DCDE-4751-925D-C49A04C274F9}"/>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1365F2D5-FC28-4D2F-8BBB-845E946C011C}"/>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7ca3444e9e04262"/>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B77B391-A622-4000-9BE2-29B2E7EE57F6}"/>
              </a:ext>
            </a:extLst>
          </p:cNvPr>
          <p:cNvSpPr>
            <a:spLocks xmlns:a="http://schemas.openxmlformats.org/drawingml/2006/main" noGrp="1"/>
          </p:cNvSpPr>
          <p:nvPr/>
        </p:nvSpPr>
        <p:spPr>
          <a:xfrm xmlns:a="http://schemas.openxmlformats.org/drawingml/2006/main">
            <a:off x="7048500"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training dataset</a:t>
            </a:r>
          </a:p>
        </p:txBody>
      </p:sp>
      <p:sp>
        <p:nvSpPr>
          <p:cNvPr id="13" name="">
            <a:extLst xmlns:a="http://schemas.openxmlformats.org/drawingml/2006/main">
              <a:ext uri="{FF2B5EF4-FFF2-40B4-BE49-F238E27FC236}">
                <a16:creationId xmlns:a16="http://schemas.microsoft.com/office/drawing/2014/main" id="{B6CAE3A7-217F-46A7-B46E-D236D20EF0A9}"/>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1B641BDF-264D-4E98-9957-DAB900504373}"/>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a934644ce6644276"/>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AADE80B-B8AC-40EB-B2D6-656CD8F86BE9}"/>
              </a:ext>
            </a:extLst>
          </p:cNvPr>
          <p:cNvSpPr>
            <a:spLocks xmlns:a="http://schemas.openxmlformats.org/drawingml/2006/main" noGrp="1"/>
          </p:cNvSpPr>
          <p:nvPr/>
        </p:nvSpPr>
        <p:spPr>
          <a:xfrm xmlns:a="http://schemas.openxmlformats.org/drawingml/2006/main">
            <a:off x="1328737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Train DeepAR</a:t>
            </a:r>
          </a:p>
        </p:txBody>
      </p:sp>
      <p:sp>
        <p:nvSpPr>
          <p:cNvPr id="17" name="">
            <a:extLst xmlns:a="http://schemas.openxmlformats.org/drawingml/2006/main">
              <a:ext uri="{FF2B5EF4-FFF2-40B4-BE49-F238E27FC236}">
                <a16:creationId xmlns:a16="http://schemas.microsoft.com/office/drawing/2014/main" id="{0E2C2772-2084-4F16-A24F-0283FC56F3EA}"/>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3921F8A3-9984-4580-801E-455DE1BAB9F7}"/>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737af717f3cf484f"/>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49DC1B7-0752-449E-8702-E5A87426EDBE}"/>
              </a:ext>
            </a:extLst>
          </p:cNvPr>
          <p:cNvSpPr>
            <a:spLocks xmlns:a="http://schemas.openxmlformats.org/drawingml/2006/main" noGrp="1"/>
          </p:cNvSpPr>
          <p:nvPr/>
        </p:nvSpPr>
        <p:spPr>
          <a:xfrm xmlns:a="http://schemas.openxmlformats.org/drawingml/2006/main">
            <a:off x="1328737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Predict future demand</a:t>
            </a:r>
          </a:p>
        </p:txBody>
      </p:sp>
      <p:sp>
        <p:nvSpPr>
          <p:cNvPr id="21" name="">
            <a:extLst xmlns:a="http://schemas.openxmlformats.org/drawingml/2006/main">
              <a:ext uri="{FF2B5EF4-FFF2-40B4-BE49-F238E27FC236}">
                <a16:creationId xmlns:a16="http://schemas.microsoft.com/office/drawing/2014/main" id="{54BD9D8C-B52D-459B-9BEA-F8D08F9E2702}"/>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66AB1CE7-B494-4BB5-81DB-F5F8CBC2B2E7}"/>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E879B419-CF00-40BC-83AB-B5276AABF3E8}"/>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f411263dd1641a9"/>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4626692-00E6-45E0-8E82-FD9CB560C8CD}"/>
              </a:ext>
            </a:extLst>
          </p:cNvPr>
          <p:cNvSpPr>
            <a:spLocks xmlns:a="http://schemas.openxmlformats.org/drawingml/2006/main" noGrp="1"/>
          </p:cNvSpPr>
          <p:nvPr/>
        </p:nvSpPr>
        <p:spPr>
          <a:xfrm xmlns:a="http://schemas.openxmlformats.org/drawingml/2006/main">
            <a:off x="7048500"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570AF54D-1E44-4A8C-889A-64D85467D18D}"/>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F29E2540-A447-447C-85BF-F910AB3E6833}"/>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e499d94c02be4fe5"/>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59413256-79DC-4636-AA57-9B7FB839ABDE}"/>
              </a:ext>
            </a:extLst>
          </p:cNvPr>
          <p:cNvSpPr>
            <a:spLocks xmlns:a="http://schemas.openxmlformats.org/drawingml/2006/main" noGrp="1"/>
          </p:cNvSpPr>
          <p:nvPr/>
        </p:nvSpPr>
        <p:spPr>
          <a:xfrm xmlns:a="http://schemas.openxmlformats.org/drawingml/2006/main">
            <a:off x="80962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Show admin dashboard</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26562D9E-E4FE-495A-B45A-93D2B1869294}"/>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1904691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2026-09-12T14:00:28.4460000Z</dcterms:created>
  <dcterms:modified xsi:type="dcterms:W3CDTF">2026-09-12T14:00:28.4460000Z</dcterms:modified>
</coreProperties>
</file>