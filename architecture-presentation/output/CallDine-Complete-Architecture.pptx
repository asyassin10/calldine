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74e78f0a844670" /><Relationship Type="http://schemas.openxmlformats.org/officeDocument/2006/relationships/extended-properties" Target="/docProps/app.xml" Id="Rc6140576af2947c8" /><Relationship Type="http://schemas.openxmlformats.org/officeDocument/2006/relationships/officeDocument" Target="/ppt/presentation.xml" Id="Rcb1677cbb8cd43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b7e856ba414858"/>
  </p:sldMasterIdLst>
  <p:notesMasterIdLst>
    <p:notesMasterId xmlns:r="http://schemas.openxmlformats.org/officeDocument/2006/relationships" r:id="R996638f186a24561"/>
  </p:notesMasterIdLst>
  <p:sldIdLst>
    <p:sldId xmlns:r="http://schemas.openxmlformats.org/officeDocument/2006/relationships" id="256" r:id="R94bd77ccd90a448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b2bd6612bc4f24" /><Relationship Type="http://schemas.openxmlformats.org/officeDocument/2006/relationships/slideMaster" Target="/ppt/slideMasters/slideMaster1.xml" Id="R43b7e856ba414858" /><Relationship Type="http://schemas.openxmlformats.org/officeDocument/2006/relationships/notesMaster" Target="/ppt/notesMasters/notesMaster1.xml" Id="R996638f186a24561" /><Relationship Type="http://schemas.openxmlformats.org/officeDocument/2006/relationships/presProps" Target="/ppt/presProps.xml" Id="Rbca792fcadd642c0" /><Relationship Type="http://schemas.openxmlformats.org/officeDocument/2006/relationships/tableStyles" Target="/ppt/tableStyles.xml" Id="R4d283afc4d014e01" /><Relationship Type="http://schemas.openxmlformats.org/officeDocument/2006/relationships/slide" Target="/ppt/slides/slide1.xml" Id="R94bd77ccd90a44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e5ffee5d0242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9d1d3185e14688" /><Relationship Type="http://schemas.openxmlformats.org/officeDocument/2006/relationships/notesMaster" Target="/ppt/notesMasters/notesMaster1.xml" Id="R464e76eafb97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overview maps the implemented application paths. The backend orchestrates all business data access. The browser connects to Chime separately. Titan is a Bedrock model. Qdrant and SQLite are local data services. Solid lines mean a code path exists, not live AWS verification. No AWS hosting topology is established. CloudWatch, Secrets Manager and SageMaker are not active integrations in the scanned code.</a:t>
            </a:r>
          </a:p>
          <a:p xmlns:a="http://schemas.openxmlformats.org/drawingml/2006/main">
            <a:r>
              <a:t>Source: CallDine repository scanned 12 September 2026. AWS icons: https://aws.amazon.com/architecture/icons/ . AWS logo: https://a0.awsstatic.com/libra-css/images/logos/aws_logo_smile_1200x630.png . Next.js logo: https://assets.vercel.com/image/upload/v1662130559/nextjs/Icon_light_background.png . FastAPI icon: https://github.com/fastapi/fastapi/blob/master/docs/en/docs/img/icon-white.svg . CallDine logo: Frontend/components/ui/Logo.tsx. Brand colors: Frontend/app/globals.css.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7263c3b294e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682985bddd41e4" /><Relationship Type="http://schemas.openxmlformats.org/officeDocument/2006/relationships/slideLayout" Target="/ppt/slideLayouts/slideLayout1.xml" Id="R6b792b43f306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792b43f306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637f7cb3a499e" /><Relationship Type="http://schemas.openxmlformats.org/officeDocument/2006/relationships/image" Target="/ppt/media/image.png" Id="R83bc739202f04c3a" /><Relationship Type="http://schemas.openxmlformats.org/officeDocument/2006/relationships/image" Target="/ppt/media/image2.png" Id="R276dec6c6d71452a" /><Relationship Type="http://schemas.openxmlformats.org/officeDocument/2006/relationships/image" Target="/ppt/media/image3.png" Id="Rc660cdc10acb423e" /><Relationship Type="http://schemas.openxmlformats.org/officeDocument/2006/relationships/image" Target="/ppt/media/image4.png" Id="R68d6dc574a224fc7" /><Relationship Type="http://schemas.openxmlformats.org/officeDocument/2006/relationships/image" Target="/ppt/media/image5.png" Id="R50e4039c04d04e34" /><Relationship Type="http://schemas.openxmlformats.org/officeDocument/2006/relationships/image" Target="/ppt/media/image6.png" Id="R35eabb2588f447cc" /><Relationship Type="http://schemas.openxmlformats.org/officeDocument/2006/relationships/image" Target="/ppt/media/image7.png" Id="Rafdc43892880408d" /><Relationship Type="http://schemas.openxmlformats.org/officeDocument/2006/relationships/image" Target="/ppt/media/image8.png" Id="R76036c85610f4102" /><Relationship Type="http://schemas.openxmlformats.org/officeDocument/2006/relationships/image" Target="/ppt/media/image9.png" Id="R8e77dc38bfc54a04" /><Relationship Type="http://schemas.openxmlformats.org/officeDocument/2006/relationships/image" Target="/ppt/media/image10.png" Id="R69c7a1a91b724a66" /><Relationship Type="http://schemas.openxmlformats.org/officeDocument/2006/relationships/image" Target="/ppt/media/image11.png" Id="R403016756a3242ff" /><Relationship Type="http://schemas.openxmlformats.org/officeDocument/2006/relationships/notesSlide" Target="/ppt/notesSlides/notesSlide1.xml" Id="Rddb1e8053f5147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c739202f04c3a"/>
          <a:stretch xmlns:a="http://schemas.openxmlformats.org/drawingml/2006/main"/>
        </p:blipFill>
        <p:spPr>
          <a:xfrm xmlns:a="http://schemas.openxmlformats.org/drawingml/2006/main">
            <a:off x="571500" y="3810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F8993-124F-400E-8077-B70B86A5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50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9502F"/>
                </a:solidFill>
                <a:latin typeface="Arial"/>
                <a:ea typeface="Arial"/>
                <a:cs typeface="Arial"/>
              </a:rPr>
              <a:t>CallDine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C2D16-CB6B-45FC-844B-8CFB38A5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Complete 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15913-521C-445A-869B-B29D7D16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33600"/>
            <a:ext cx="1676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Application services coordinate AI, voice, restaurant data and knowledge retrieval.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5425E-5CAC-4200-9234-14EF19F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5440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dec6c6d71452a"/>
          <a:stretch xmlns:a="http://schemas.openxmlformats.org/drawingml/2006/main"/>
        </p:blipFill>
        <p:spPr>
          <a:xfrm xmlns:a="http://schemas.openxmlformats.org/drawingml/2006/main">
            <a:off x="14829518" y="114300"/>
            <a:ext cx="2630714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6A7EC-7B03-4430-A6B9-17301E99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619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0cdc10acb423e"/>
          <a:stretch xmlns:a="http://schemas.openxmlformats.org/drawingml/2006/main"/>
        </p:blipFill>
        <p:spPr>
          <a:xfrm xmlns:a="http://schemas.openxmlformats.org/drawingml/2006/main">
            <a:off x="762000" y="3524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372F4-6994-4E7F-A4D2-6D6083CF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43300"/>
            <a:ext cx="14573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EA3F4-C894-484C-B934-06687428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81500"/>
            <a:ext cx="2181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Customer + admin</a:t>
            </a:r>
          </a:p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Voice and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B36F1-0A06-4EC7-AD36-C47028BC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6dc574a224fc7"/>
          <a:stretch xmlns:a="http://schemas.openxmlformats.org/drawingml/2006/main"/>
        </p:blipFill>
        <p:spPr>
          <a:xfrm xmlns:a="http://schemas.openxmlformats.org/drawingml/2006/main">
            <a:off x="3857625" y="3524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E1F08-2F0B-4A9F-B840-3CF618C1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Next.js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BDAC2-91FD-4D7A-8A6C-0E24EFFB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8150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Interface + API proxy</a:t>
            </a:r>
          </a:p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Local port 3000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E918E-0D64-4BA4-9001-2685422E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33750"/>
            <a:ext cx="3714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04448-1B0B-45C3-9922-A3445501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242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97B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4039c04d04e34"/>
          <a:stretch xmlns:a="http://schemas.openxmlformats.org/drawingml/2006/main"/>
        </p:blipFill>
        <p:spPr>
          <a:xfrm xmlns:a="http://schemas.openxmlformats.org/drawingml/2006/main">
            <a:off x="7381875" y="3524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17B26-C3E0-492B-BF07-309E404A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02104-0DDB-4449-A99C-492CBE49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27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Auth + service orchestration</a:t>
            </a:r>
          </a:p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Local port 8000</a:t>
            </a:r>
          </a:p>
        </p:txBody>
      </p: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90875" y="4238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cxnSp>
        <p:nvCxnSpPr>
          <p:cNvPr id="9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29375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665B2-2C8C-4266-846D-91431CFD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0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502F"/>
                </a:solidFill>
                <a:latin typeface="Arial"/>
                <a:ea typeface="Arial"/>
                <a:cs typeface="Arial"/>
              </a:rPr>
              <a:t>APPLICATION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FA550-E893-493D-875C-EE3F0D26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81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0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502F"/>
                </a:solidFill>
                <a:latin typeface="Arial"/>
                <a:ea typeface="Arial"/>
                <a:cs typeface="Arial"/>
              </a:rPr>
              <a:t>AWS MANAGED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97D10-186D-452C-ACD6-D377E8FC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286125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abb2588f447cc"/>
          <a:stretch xmlns:a="http://schemas.openxmlformats.org/drawingml/2006/main"/>
        </p:blipFill>
        <p:spPr>
          <a:xfrm xmlns:a="http://schemas.openxmlformats.org/drawingml/2006/main">
            <a:off x="12763500" y="34766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E4870-717B-4013-9EE5-F14F32F7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3495675"/>
            <a:ext cx="398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Bedrock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ECE73-2D91-4B17-A851-7A9F9410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41960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c43892880408d"/>
          <a:stretch xmlns:a="http://schemas.openxmlformats.org/drawingml/2006/main"/>
        </p:blipFill>
        <p:spPr>
          <a:xfrm xmlns:a="http://schemas.openxmlformats.org/drawingml/2006/main">
            <a:off x="12763500" y="46101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0C612-4957-4E76-A451-8B2BF660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4629150"/>
            <a:ext cx="398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Amazon S3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069AF5-FA38-4F7F-B71C-96684FB6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553075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36c85610f4102"/>
          <a:stretch xmlns:a="http://schemas.openxmlformats.org/drawingml/2006/main"/>
        </p:blipFill>
        <p:spPr>
          <a:xfrm xmlns:a="http://schemas.openxmlformats.org/drawingml/2006/main">
            <a:off x="12763500" y="574357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431F3-F291-4B02-B8A4-F0105772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5762625"/>
            <a:ext cx="398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Amazon Textract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EEA00-37D6-41A4-85FC-2B78713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68655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7dc38bfc54a04"/>
          <a:stretch xmlns:a="http://schemas.openxmlformats.org/drawingml/2006/main"/>
        </p:blipFill>
        <p:spPr>
          <a:xfrm xmlns:a="http://schemas.openxmlformats.org/drawingml/2006/main">
            <a:off x="12763500" y="6877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578B4-4DD4-4ECC-A766-01A36281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6896100"/>
            <a:ext cx="398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Amazon Transcribe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7524FD-2216-4668-919D-70D3B155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820025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7a1a91b724a66"/>
          <a:stretch xmlns:a="http://schemas.openxmlformats.org/drawingml/2006/main"/>
        </p:blipFill>
        <p:spPr>
          <a:xfrm xmlns:a="http://schemas.openxmlformats.org/drawingml/2006/main">
            <a:off x="12763500" y="80105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D40B53-19F2-44DA-844A-E0D80329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8029575"/>
            <a:ext cx="398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Amazon Polly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B01D4C-839A-4263-86C9-C2BC3554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3876675"/>
            <a:ext cx="3990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GPT-OSS reasoning + Titan embeddings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2462E9-71F5-45F3-A292-3F8BC73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5010150"/>
            <a:ext cx="3990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PDFs, menu images, call recordings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B2EA8A-971C-46AF-AAB2-93D1BA23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6143625"/>
            <a:ext cx="3990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PDF text extraction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0DB9E8-8107-462A-9841-790E2107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7277100"/>
            <a:ext cx="3990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Uploaded speech turns to text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1D9CB5-B31D-4224-8FF7-D9C95E2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8410575"/>
            <a:ext cx="3990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Neural voice synthesis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E32B50-B6B4-42B6-89B5-52B6C3E2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762375"/>
            <a:ext cx="190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02F"/>
          </a:solidFill>
          <a:ln xmlns:a="http://schemas.openxmlformats.org/drawingml/2006/main" w="19050">
            <a:solidFill>
              <a:srgbClr val="C9502F"/>
            </a:solidFill>
            <a:prstDash val="solid"/>
          </a:ln>
        </p:spPr>
      </p:sp>
      <p:cxnSp>
        <p:nvCxnSpPr>
          <p:cNvPr id="117" name=""/>
          <p:cNvCxnSpPr>
            <a:stCxn xmlns:a="http://schemas.openxmlformats.org/drawingml/2006/main" id="15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0906125" y="4238625"/>
            <a:ext cx="666750" cy="1785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cxnSp>
        <p:nvCxnSpPr>
          <p:cNvPr id="118" name=""/>
          <p:cNvCxnSpPr>
            <a:stCxn xmlns:a="http://schemas.openxmlformats.org/drawingml/2006/main" id="44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11591925" y="3786188"/>
            <a:ext cx="981075" cy="2238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cxnSp>
        <p:nvCxnSpPr>
          <p:cNvPr id="119" name=""/>
          <p:cNvCxnSpPr>
            <a:stCxn xmlns:a="http://schemas.openxmlformats.org/drawingml/2006/main" id="4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11591925" y="4919663"/>
            <a:ext cx="981075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44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1591925" y="6024563"/>
            <a:ext cx="98107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44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1591925" y="6024563"/>
            <a:ext cx="981075" cy="1162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cxnSp>
        <p:nvCxnSpPr>
          <p:cNvPr id="122" name=""/>
          <p:cNvCxnSpPr>
            <a:stCxn xmlns:a="http://schemas.openxmlformats.org/drawingml/2006/main" id="4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1591925" y="6024563"/>
            <a:ext cx="981075" cy="2295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EABAD0-65C0-4178-ACAF-67735A30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4197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50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9502F"/>
                </a:solidFill>
                <a:latin typeface="Arial"/>
                <a:ea typeface="Arial"/>
                <a:cs typeface="Arial"/>
              </a:rPr>
              <a:t>Chat + controlled tools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1A15A7-9192-4E02-9979-6189C99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10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231D"/>
                </a:solidFill>
                <a:latin typeface="Arial"/>
                <a:ea typeface="Arial"/>
                <a:cs typeface="Arial"/>
              </a:rPr>
              <a:t>Knowledge + voice services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02E868-1EC8-4DA3-B12F-C54D3061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200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231D"/>
                </a:solidFill>
                <a:latin typeface="Arial"/>
                <a:ea typeface="Arial"/>
                <a:cs typeface="Arial"/>
              </a:rPr>
              <a:t>Orders + reservations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9FFE1C-3F99-4AEB-9DC5-9DD05146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115175"/>
            <a:ext cx="3714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F41ABF-C966-4CAB-BAB5-B8A14824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324725"/>
            <a:ext cx="327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Repositories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CC0DCA-1422-41F4-851E-C02FCEEF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79145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SQLModel data access</a:t>
            </a:r>
          </a:p>
        </p:txBody>
      </p:sp>
      <p:cxnSp>
        <p:nvCxnSpPr>
          <p:cNvPr id="129" name=""/>
          <p:cNvCxnSpPr>
            <a:stCxn xmlns:a="http://schemas.openxmlformats.org/drawingml/2006/main" id="15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9048750" y="5143500"/>
            <a:ext cx="0" cy="1971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26580C-9638-48A5-A25E-8F8C03BF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115175"/>
            <a:ext cx="2762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BC9236-D92B-4E43-A09D-BEC66B5D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324725"/>
            <a:ext cx="232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DCE5BD-194F-4159-AAD6-BF2C4DE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7914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Operational records</a:t>
            </a:r>
          </a:p>
        </p:txBody>
      </p:sp>
      <p:cxnSp>
        <p:nvCxnSpPr>
          <p:cNvPr id="133" name=""/>
          <p:cNvCxnSpPr>
            <a:stCxn xmlns:a="http://schemas.openxmlformats.org/drawingml/2006/main" id="54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6429375" y="7734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816EAD-43BC-4D7D-B907-A5128DEA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15175"/>
            <a:ext cx="2619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C6C31A-D145-45AB-962A-F0EE11B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324725"/>
            <a:ext cx="2181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Qdrant in Docker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DDAFD5-5044-48C3-A98E-9322A77D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791450"/>
            <a:ext cx="2181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Knowledge vectors</a:t>
            </a:r>
          </a:p>
        </p:txBody>
      </p:sp>
      <p:cxnSp>
        <p:nvCxnSpPr>
          <p:cNvPr id="137" name=""/>
          <p:cNvCxnSpPr>
            <a:stCxn xmlns:a="http://schemas.openxmlformats.org/drawingml/2006/main" id="15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 flipH="1">
            <a:off x="1881188" y="5143500"/>
            <a:ext cx="7167563" cy="1971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0897B"/>
            </a:solidFill>
            <a:prstDash val="solid"/>
            <a:headEnd type="triangle" w="med" len="me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AD0A55-6816-4DB2-BAC3-1BE2632A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2619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D7C0"/>
            </a:solidFill>
            <a:prstDash val="solid"/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016756a3242ff"/>
          <a:stretch xmlns:a="http://schemas.openxmlformats.org/drawingml/2006/main"/>
        </p:blipFill>
        <p:spPr>
          <a:xfrm xmlns:a="http://schemas.openxmlformats.org/drawingml/2006/main">
            <a:off x="762000" y="54768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434BD3-08E3-4D1E-8E80-8415251E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495925"/>
            <a:ext cx="14573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23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231D"/>
                </a:solidFill>
                <a:latin typeface="Arial"/>
                <a:ea typeface="Arial"/>
                <a:cs typeface="Arial"/>
              </a:rPr>
              <a:t>Chime SDK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F6A729-A8FF-42DD-A6DB-73B50C6A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3341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Browser meeting session</a:t>
            </a:r>
          </a:p>
        </p:txBody>
      </p:sp>
      <p:cxnSp>
        <p:nvCxnSpPr>
          <p:cNvPr id="142" name=""/>
          <p:cNvCxnSpPr>
            <a:stCxn xmlns:a="http://schemas.openxmlformats.org/drawingml/2006/main" id="7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1881188" y="51435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502F"/>
            </a:solidFill>
            <a:prstDash val="solid"/>
            <a:headEnd type="triangle" w="med" len="med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F0B676-E09E-4745-9A6C-71834D7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FastAPI creates the meeting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A20E16-3243-4ACB-8235-84BEA84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29700"/>
            <a:ext cx="1714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876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8766B"/>
                </a:solidFill>
                <a:latin typeface="Arial"/>
                <a:ea typeface="Arial"/>
                <a:cs typeface="Arial"/>
              </a:rPr>
              <a:t>Guardrails: optional on chat calls. SageMaker: planned. CloudWatch / Secrets Manager: client helpers only.</a:t>
            </a:r>
          </a:p>
        </p:txBody>
      </p:sp>
    </p:spTree>
    <p:extLst>
      <p:ext uri="{BB962C8B-B14F-4D97-AF65-F5344CB8AC3E}">
        <p14:creationId xmlns:p14="http://schemas.microsoft.com/office/powerpoint/2010/main" val="1393937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2026-09-12T13:16:21.1600000Z</dcterms:created>
  <dcterms:modified xsi:type="dcterms:W3CDTF">2026-09-12T13:16:21.1600000Z</dcterms:modified>
</coreProperties>
</file>