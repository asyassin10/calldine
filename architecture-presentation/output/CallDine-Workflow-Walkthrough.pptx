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182fa0137e45c9" /><Relationship Type="http://schemas.openxmlformats.org/officeDocument/2006/relationships/extended-properties" Target="/docProps/app.xml" Id="Rf354660605f441c8" /><Relationship Type="http://schemas.openxmlformats.org/officeDocument/2006/relationships/officeDocument" Target="/ppt/presentation.xml" Id="Rec9517535398448f" /></Relationships>
</file>

<file path=ppt/presentation.xml><?xml version="1.0" encoding="utf-8"?>
<p:presentation xmlns:p="http://schemas.openxmlformats.org/presentationml/2006/main">
  <p:sldMasterIdLst>
    <p:sldMasterId xmlns:r="http://schemas.openxmlformats.org/officeDocument/2006/relationships" id="2147483648" r:id="R3497c809a8184ff6"/>
  </p:sldMasterIdLst>
  <p:notesMasterIdLst>
    <p:notesMasterId xmlns:r="http://schemas.openxmlformats.org/officeDocument/2006/relationships" r:id="R79a196cc0ae44ef2"/>
  </p:notesMasterIdLst>
  <p:sldIdLst>
    <p:sldId xmlns:r="http://schemas.openxmlformats.org/officeDocument/2006/relationships" id="256" r:id="R364e0451158644f0"/>
    <p:sldId xmlns:r="http://schemas.openxmlformats.org/officeDocument/2006/relationships" id="257" r:id="R50ff9be78f33451d"/>
    <p:sldId xmlns:r="http://schemas.openxmlformats.org/officeDocument/2006/relationships" id="258" r:id="Rc2af4f7a6af64111"/>
    <p:sldId xmlns:r="http://schemas.openxmlformats.org/officeDocument/2006/relationships" id="259" r:id="Rd8b18d08faaf4731"/>
    <p:sldId xmlns:r="http://schemas.openxmlformats.org/officeDocument/2006/relationships" id="260" r:id="Rb63a349500d74300"/>
    <p:sldId xmlns:r="http://schemas.openxmlformats.org/officeDocument/2006/relationships" id="261" r:id="Rbe6cdd2aecfc46bc"/>
    <p:sldId xmlns:r="http://schemas.openxmlformats.org/officeDocument/2006/relationships" id="262" r:id="R1e2f6328817b4d72"/>
    <p:sldId xmlns:r="http://schemas.openxmlformats.org/officeDocument/2006/relationships" id="263" r:id="Raf96016fd3e04276"/>
    <p:sldId xmlns:r="http://schemas.openxmlformats.org/officeDocument/2006/relationships" id="264" r:id="R7fcb82972c2b4d77"/>
    <p:sldId xmlns:r="http://schemas.openxmlformats.org/officeDocument/2006/relationships" id="265" r:id="R34c47c9482414783"/>
    <p:sldId xmlns:r="http://schemas.openxmlformats.org/officeDocument/2006/relationships" id="266" r:id="R043eaf95bb5c4cc7"/>
    <p:sldId xmlns:r="http://schemas.openxmlformats.org/officeDocument/2006/relationships" id="267" r:id="Rc2044f36310547b4"/>
    <p:sldId xmlns:r="http://schemas.openxmlformats.org/officeDocument/2006/relationships" id="268" r:id="R3ab51baf532c435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a10b7264944c1b" /><Relationship Type="http://schemas.openxmlformats.org/officeDocument/2006/relationships/slideMaster" Target="/ppt/slideMasters/slideMaster1.xml" Id="R3497c809a8184ff6" /><Relationship Type="http://schemas.openxmlformats.org/officeDocument/2006/relationships/notesMaster" Target="/ppt/notesMasters/notesMaster1.xml" Id="R79a196cc0ae44ef2" /><Relationship Type="http://schemas.openxmlformats.org/officeDocument/2006/relationships/presProps" Target="/ppt/presProps.xml" Id="Re5b245e486294d2e" /><Relationship Type="http://schemas.openxmlformats.org/officeDocument/2006/relationships/tableStyles" Target="/ppt/tableStyles.xml" Id="Rf2615798797a4777" /><Relationship Type="http://schemas.openxmlformats.org/officeDocument/2006/relationships/slide" Target="/ppt/slides/slide1.xml" Id="R364e0451158644f0" /><Relationship Type="http://schemas.openxmlformats.org/officeDocument/2006/relationships/slide" Target="/ppt/slides/slide2.xml" Id="R50ff9be78f33451d" /><Relationship Type="http://schemas.openxmlformats.org/officeDocument/2006/relationships/slide" Target="/ppt/slides/slide3.xml" Id="Rc2af4f7a6af64111" /><Relationship Type="http://schemas.openxmlformats.org/officeDocument/2006/relationships/slide" Target="/ppt/slides/slide4.xml" Id="Rd8b18d08faaf4731" /><Relationship Type="http://schemas.openxmlformats.org/officeDocument/2006/relationships/slide" Target="/ppt/slides/slide5.xml" Id="Rb63a349500d74300" /><Relationship Type="http://schemas.openxmlformats.org/officeDocument/2006/relationships/slide" Target="/ppt/slides/slide6.xml" Id="Rbe6cdd2aecfc46bc" /><Relationship Type="http://schemas.openxmlformats.org/officeDocument/2006/relationships/slide" Target="/ppt/slides/slide7.xml" Id="R1e2f6328817b4d72" /><Relationship Type="http://schemas.openxmlformats.org/officeDocument/2006/relationships/slide" Target="/ppt/slides/slide8.xml" Id="Raf96016fd3e04276" /><Relationship Type="http://schemas.openxmlformats.org/officeDocument/2006/relationships/slide" Target="/ppt/slides/slide9.xml" Id="R7fcb82972c2b4d77" /><Relationship Type="http://schemas.openxmlformats.org/officeDocument/2006/relationships/slide" Target="/ppt/slides/slide10.xml" Id="R34c47c9482414783" /><Relationship Type="http://schemas.openxmlformats.org/officeDocument/2006/relationships/slide" Target="/ppt/slides/slide11.xml" Id="R043eaf95bb5c4cc7" /><Relationship Type="http://schemas.openxmlformats.org/officeDocument/2006/relationships/slide" Target="/ppt/slides/slide12.xml" Id="Rc2044f36310547b4" /><Relationship Type="http://schemas.openxmlformats.org/officeDocument/2006/relationships/slide" Target="/ppt/slides/slide13.xml" Id="R3ab51baf532c43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cb41cc850c4a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edba686cbe4ea5" /><Relationship Type="http://schemas.openxmlformats.org/officeDocument/2006/relationships/notesMaster" Target="/ppt/notesMasters/notesMaster1.xml" Id="Rade3cc95355d47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a390bc15cb4dd3" /><Relationship Type="http://schemas.openxmlformats.org/officeDocument/2006/relationships/notesMaster" Target="/ppt/notesMasters/notesMaster1.xml" Id="Rd2d8fc31bef844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c2a2d767d34825" /><Relationship Type="http://schemas.openxmlformats.org/officeDocument/2006/relationships/notesMaster" Target="/ppt/notesMasters/notesMaster1.xml" Id="Red9756e0e0fc47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58384d09aa411e" /><Relationship Type="http://schemas.openxmlformats.org/officeDocument/2006/relationships/notesMaster" Target="/ppt/notesMasters/notesMaster1.xml" Id="Rbda4fb231c9648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0c2d5f71b949b1" /><Relationship Type="http://schemas.openxmlformats.org/officeDocument/2006/relationships/notesMaster" Target="/ppt/notesMasters/notesMaster1.xml" Id="R8b8592bb345540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779be0a95e4d23" /><Relationship Type="http://schemas.openxmlformats.org/officeDocument/2006/relationships/notesMaster" Target="/ppt/notesMasters/notesMaster1.xml" Id="R777a065205c244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10d8ef05eb4af0" /><Relationship Type="http://schemas.openxmlformats.org/officeDocument/2006/relationships/notesMaster" Target="/ppt/notesMasters/notesMaster1.xml" Id="R19a52d82108048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2ed28057a74e37" /><Relationship Type="http://schemas.openxmlformats.org/officeDocument/2006/relationships/notesMaster" Target="/ppt/notesMasters/notesMaster1.xml" Id="Re6c6e89867414b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15545ec2784f86" /><Relationship Type="http://schemas.openxmlformats.org/officeDocument/2006/relationships/notesMaster" Target="/ppt/notesMasters/notesMaster1.xml" Id="R27bf42af77e744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5bd0d1d3d74841" /><Relationship Type="http://schemas.openxmlformats.org/officeDocument/2006/relationships/notesMaster" Target="/ppt/notesMasters/notesMaster1.xml" Id="R63a36624c5ae44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a1ba87cbe34839" /><Relationship Type="http://schemas.openxmlformats.org/officeDocument/2006/relationships/notesMaster" Target="/ppt/notesMasters/notesMaster1.xml" Id="Ra368b77c282347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5a4f4f4d9c4abc" /><Relationship Type="http://schemas.openxmlformats.org/officeDocument/2006/relationships/notesMaster" Target="/ppt/notesMasters/notesMaster1.xml" Id="Rff84a0039ea840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a5d1377c644775" /><Relationship Type="http://schemas.openxmlformats.org/officeDocument/2006/relationships/notesMaster" Target="/ppt/notesMasters/notesMaster1.xml" Id="Rd0ab20905a0a49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CallDine helps restaurant customers use voice or text to ask questions, order food and reserve tables. The interface uses Next.js. FastAPI coordinates AWS AI services and the restaurant database. This walkthrough explains each stage and keeps the planned forecasting feature separate from working application code.</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requests to Next.js API handlers. These handlers forward the session token to FastAPI. Routes authenticate the request and services handle the work. Chat Service loads saved conversation history and calls Bedrock. Tool requests run in Python business services, which use repositories to access SQLite. Responses return through Next.js. Some chat answers stream tokens, while tool-assisted and voice answers return completed text.</a:t>
            </a:r>
          </a:p>
          <a:p xmlns:a="http://schemas.openxmlformats.org/drawingml/2006/main">
            <a:r>
              <a:t/>
            </a:r>
          </a:p>
          <a:p xmlns:a="http://schemas.openxmlformats.org/drawingml/2006/main">
            <a:r>
              <a:t>Source files: Frontend/app/api/conversations/[id]/messages/stream/route.ts; backend/app/services/chat_service.py; backend/app/core/database.py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 uploads a PDF. FastAPI stores it in S3 and creates knowledge and job records in SQLite. An in-process background task starts asynchronous Textract detection. FastAPI polls the job and retrieves all text pages. It joins the detected lines, splits the text into one-thousand-character chunks, invokes Titan embeddings through Bedrock, and saves vectors plus document metadata in Qdrant. Progress updates go to SQLite. There is no separate durable queue in this implementation.</a:t>
            </a:r>
          </a:p>
          <a:p xmlns:a="http://schemas.openxmlformats.org/drawingml/2006/main">
            <a:r>
              <a:t/>
            </a:r>
          </a:p>
          <a:p xmlns:a="http://schemas.openxmlformats.org/drawingml/2006/main">
            <a:r>
              <a:t>Source files: backend/app/services/knowledge_service.py; backend/app/services/embedding_service.py; backend/app/api/routes_knowledge.py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can search the restaurant documents when it needs a policy or another restaurant fact. Bedrock chooses the knowledge-search tool. FastAPI embeds the query with Titan, searches Qdrant and returns the top four text chunks as tool results. Bedrock then uses that evidence to produce an answer. Bedrock does not connect directly to Qdrant, and this project does not use managed Bedrock Knowledge Bases.</a:t>
            </a:r>
          </a:p>
          <a:p xmlns:a="http://schemas.openxmlformats.org/drawingml/2006/main">
            <a:r>
              <a:t/>
            </a:r>
          </a:p>
          <a:p xmlns:a="http://schemas.openxmlformats.org/drawingml/2006/main">
            <a:r>
              <a:t>Source files: backend/app/services/chat_tools.py;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chat model is GPT-OSS 20B on Bedrock. The planner receives conversation history and eight tools. FastAPI dispatches tool selections to knowledge, menu, order or reservation services. Tool results return to Bedrock for the answer or a further tool round. The code allows up to four execution rounds. Guardrails are optional request configuration on chat calls. Their actual AWS policy configuration was not verified. Titan embedding calls do not use this chat guardrail helper.</a:t>
            </a:r>
          </a:p>
          <a:p xmlns:a="http://schemas.openxmlformats.org/drawingml/2006/main">
            <a:r>
              <a:t/>
            </a:r>
          </a:p>
          <a:p xmlns:a="http://schemas.openxmlformats.org/drawingml/2006/main">
            <a:r>
              <a:t>Source files: backend/app/services/chat_service.py; backend/app/services/chat_tools.py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eight tools. Knowledge and menu search retrieve current information. Order tools validate items, create a delivery draft and confirm it. Reservation tools check availability, create a draft and assign a table when confirming. The language model chooses tool arguments, while the service code performs business checks. The separate prototype MCP adapter exposes similar tools but is not the path used by the main Bedrock chat service.</a:t>
            </a:r>
          </a:p>
          <a:p xmlns:a="http://schemas.openxmlformats.org/drawingml/2006/main">
            <a:r>
              <a:t>Source: backend/app/services/chat_tools.py; backend/app/mcp/server.py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session and a voice conversation. The browser joins the meeting with the Chime SDK, but it also captures microphone audio locally for the assistant. After roughly one point eight seconds of silence, the browser uploads the completed PCM utterance. FastAPI reads it and sends chunks through the Transcribe Streaming client. The final transcript returns to the browser, which submits it to the chat endpoint. This is turn-based input, not a continuous microphone stream to the backend.</a:t>
            </a:r>
          </a:p>
          <a:p xmlns:a="http://schemas.openxmlformats.org/drawingml/2006/main">
            <a:r>
              <a:t/>
            </a:r>
          </a:p>
          <a:p xmlns:a="http://schemas.openxmlformats.org/drawingml/2006/main">
            <a:r>
              <a:t>Source files: Frontend/components/voice/VoiceAssistant.tsx; backend/app/services/voice_service.py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transcript follows the same chat and tool process as a text message. Voice responses are cleaned into natural speech. The browser posts the completed answer to the speech endpoint. FastAPI invokes Polly with the configured neural voice, then yields MP3 bytes back through the application. Browser playback streams the audio when supported, with a blob fallback. Listening resumes after playback. The frontend can end the call after detecting an order or reservation confirmation in the answer.</a:t>
            </a:r>
          </a:p>
          <a:p xmlns:a="http://schemas.openxmlformats.org/drawingml/2006/main">
            <a:r>
              <a:t/>
            </a:r>
          </a:p>
          <a:p xmlns:a="http://schemas.openxmlformats.org/drawingml/2006/main">
            <a:r>
              <a:t>Source files: backend/app/services/chat_service.py; backend/app/services/voice_service.py; Frontend/components/voice/VoiceAssistant.tsx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mixes microphone input and the assistant’s played audio using Web Audio. MediaRecorder captures the mixed stream in WebM format. On call completion, the recording uploads through Next.js and FastAPI to S3. The conversation row stores the S3 key. Text messages remain in SQLite. When an admin plays the recording, FastAPI serves the stored audio and supports range reads for playback.</a:t>
            </a:r>
          </a:p>
          <a:p xmlns:a="http://schemas.openxmlformats.org/drawingml/2006/main">
            <a:r>
              <a:t/>
            </a:r>
          </a:p>
          <a:p xmlns:a="http://schemas.openxmlformats.org/drawingml/2006/main">
            <a:r>
              <a:t>Source files: Frontend/components/voice/VoiceAssistant.tsx; backend/app/services/voice_service.py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 flow retrieves actual menu data and checks stock. The assistant collects and repeats the delivery address. A draft requires a confirmed-address flag. The assistant then repeats the order summary and asks for final approval. On confirmation, the service rechecks availability, reduces stock and updates the order. These flags come from model tool arguments. The source does not demonstrate an independent consent token or atomic, idempotent stock updates.</a:t>
            </a:r>
          </a:p>
          <a:p xmlns:a="http://schemas.openxmlformats.org/drawingml/2006/main">
            <a:r>
              <a:t/>
            </a:r>
          </a:p>
          <a:p xmlns:a="http://schemas.openxmlformats.org/drawingml/2006/main">
            <a:r>
              <a:t>Source files: backend/app/services/order_service.py; backend/app/services/chat_service.py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reservation service uses party size and two-hour booking windows to find suitable tables. It saves an unconfirmed draft from the collected details. The assistant asks the customer to approve the summary. On confirmation, the backend checks table availability again, assigns a suitable table and saves the confirmed state. The code does not establish race-free allocation under concurrent requests.</a:t>
            </a:r>
          </a:p>
          <a:p xmlns:a="http://schemas.openxmlformats.org/drawingml/2006/main">
            <a:r>
              <a:t/>
            </a:r>
          </a:p>
          <a:p xmlns:a="http://schemas.openxmlformats.org/drawingml/2006/main">
            <a:r>
              <a:t>Source files: backend/app/services/reservation_service.py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forecasting feature is independent of the chat model. Historical category demand would become a time-series dataset in S3. SageMaker DeepAR would train on that data and produce a seven-day forecast with prediction quantiles. A backend endpoint and business rules would turn predictions into dashboard recommendations. The current code has only a SageMaker Runtime client helper and a static demo page. Training, inference and dashboard integration are not connected. Daily category forecasts alone cannot identify the busiest hourly service window.</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includes the main AI, knowledge and voice integrations, but this presentation does not claim live AWS tests were run. Guardrails depend on configuration. Forecasting remains planned. CloudWatch and Secrets Manager appear only as client factories with no connected usage found in the scanned application. The separate MCP prototype is not part of the main Bedrock tool path. Local runtime configuration does not establish an AWS production hosting design.</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58eaf8d72b4e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60093831624380" /><Relationship Type="http://schemas.openxmlformats.org/officeDocument/2006/relationships/slideLayout" Target="/ppt/slideLayouts/slideLayout1.xml" Id="R44ae32e6ac1741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ae32e6ac1741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c4047861e24d02" /><Relationship Type="http://schemas.openxmlformats.org/officeDocument/2006/relationships/image" Target="/ppt/media/image.png" Id="R5fca16b337b84f56" /><Relationship Type="http://schemas.openxmlformats.org/officeDocument/2006/relationships/image" Target="/ppt/media/image2.png" Id="R9a74910d2ff24ea9" /><Relationship Type="http://schemas.openxmlformats.org/officeDocument/2006/relationships/image" Target="/ppt/media/image3.png" Id="R10720f9f4d054d55" /><Relationship Type="http://schemas.openxmlformats.org/officeDocument/2006/relationships/image" Target="/ppt/media/image4.png" Id="Re89c3de28aa74a1a" /><Relationship Type="http://schemas.openxmlformats.org/officeDocument/2006/relationships/image" Target="/ppt/media/image5.png" Id="R49a715d581a04e87" /><Relationship Type="http://schemas.openxmlformats.org/officeDocument/2006/relationships/notesSlide" Target="/ppt/notesSlides/notesSlide1.xml" Id="Rc090dae44cd04a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44d88d954e4182" /><Relationship Type="http://schemas.openxmlformats.org/officeDocument/2006/relationships/image" Target="/ppt/media/image6.png" Id="R05fd8814f315476e" /><Relationship Type="http://schemas.openxmlformats.org/officeDocument/2006/relationships/image" Target="/ppt/media/image7.png" Id="R65bc371e6117401e" /><Relationship Type="http://schemas.openxmlformats.org/officeDocument/2006/relationships/image" Target="/ppt/media/image8.png" Id="Rf5676acd95dc484b" /><Relationship Type="http://schemas.openxmlformats.org/officeDocument/2006/relationships/image" Target="/ppt/media/image9.png" Id="R8b60d81ecc69464f" /><Relationship Type="http://schemas.openxmlformats.org/officeDocument/2006/relationships/image" Target="/ppt/media/image10.png" Id="R6265e20f43b74819" /><Relationship Type="http://schemas.openxmlformats.org/officeDocument/2006/relationships/notesSlide" Target="/ppt/notesSlides/notesSlide2.xml" Id="Rb8fc428a37e149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f1c0eb1c314ec3" /><Relationship Type="http://schemas.openxmlformats.org/officeDocument/2006/relationships/image" Target="/ppt/media/image11.png" Id="R9ae69eeecac24394" /><Relationship Type="http://schemas.openxmlformats.org/officeDocument/2006/relationships/image" Target="/ppt/media/image12.png" Id="Rc45c45ea11744ec6" /><Relationship Type="http://schemas.openxmlformats.org/officeDocument/2006/relationships/image" Target="/ppt/media/image13.png" Id="R2d90709bf89e41c3" /><Relationship Type="http://schemas.openxmlformats.org/officeDocument/2006/relationships/image" Target="/ppt/media/image14.png" Id="Rcaff37c12b924edd" /><Relationship Type="http://schemas.openxmlformats.org/officeDocument/2006/relationships/image" Target="/ppt/media/image15.png" Id="R7ccf4653a8df4167" /><Relationship Type="http://schemas.openxmlformats.org/officeDocument/2006/relationships/image" Target="/ppt/media/image16.png" Id="R9278fec1a7de48c8" /><Relationship Type="http://schemas.openxmlformats.org/officeDocument/2006/relationships/notesSlide" Target="/ppt/notesSlides/notesSlide3.xml" Id="R54af1f863b5a4b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5b4cce151e439c" /><Relationship Type="http://schemas.openxmlformats.org/officeDocument/2006/relationships/image" Target="/ppt/media/image17.png" Id="Re9b97f9d6e2b4d1b" /><Relationship Type="http://schemas.openxmlformats.org/officeDocument/2006/relationships/image" Target="/ppt/media/image18.png" Id="R8bf5291c90564986" /><Relationship Type="http://schemas.openxmlformats.org/officeDocument/2006/relationships/image" Target="/ppt/media/image19.png" Id="R9bad5bfd596b4b81" /><Relationship Type="http://schemas.openxmlformats.org/officeDocument/2006/relationships/image" Target="/ppt/media/image20.png" Id="Rc412bae17ece4f16" /><Relationship Type="http://schemas.openxmlformats.org/officeDocument/2006/relationships/image" Target="/ppt/media/image21.png" Id="R4472088f80b84d13" /><Relationship Type="http://schemas.openxmlformats.org/officeDocument/2006/relationships/image" Target="/ppt/media/image22.png" Id="R59cc69be697e4adb" /><Relationship Type="http://schemas.openxmlformats.org/officeDocument/2006/relationships/notesSlide" Target="/ppt/notesSlides/notesSlide4.xml" Id="R0897d053065e4c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29eb72af33400e" /><Relationship Type="http://schemas.openxmlformats.org/officeDocument/2006/relationships/image" Target="/ppt/media/image23.png" Id="Rd17836c291d14901" /><Relationship Type="http://schemas.openxmlformats.org/officeDocument/2006/relationships/image" Target="/ppt/media/image24.png" Id="Rdb65275dc9e54d90" /><Relationship Type="http://schemas.openxmlformats.org/officeDocument/2006/relationships/image" Target="/ppt/media/image25.png" Id="R183a479a12b94d66" /><Relationship Type="http://schemas.openxmlformats.org/officeDocument/2006/relationships/image" Target="/ppt/media/image26.png" Id="R06593343b5f245e5" /><Relationship Type="http://schemas.openxmlformats.org/officeDocument/2006/relationships/notesSlide" Target="/ppt/notesSlides/notesSlide5.xml" Id="R789eaabe1bab4f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e221b8444c408a" /><Relationship Type="http://schemas.openxmlformats.org/officeDocument/2006/relationships/image" Target="/ppt/media/image27.png" Id="R73b84fcb82614034" /><Relationship Type="http://schemas.openxmlformats.org/officeDocument/2006/relationships/notesSlide" Target="/ppt/notesSlides/notesSlide6.xml" Id="Rb54cb4fc98f345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efb933d69245d9" /><Relationship Type="http://schemas.openxmlformats.org/officeDocument/2006/relationships/image" Target="/ppt/media/image28.png" Id="Rcaedaf9b8b7d4652" /><Relationship Type="http://schemas.openxmlformats.org/officeDocument/2006/relationships/image" Target="/ppt/media/image29.png" Id="R036ae745db464b35" /><Relationship Type="http://schemas.openxmlformats.org/officeDocument/2006/relationships/image" Target="/ppt/media/image30.png" Id="Rde43c3ac6cb841b2" /><Relationship Type="http://schemas.openxmlformats.org/officeDocument/2006/relationships/image" Target="/ppt/media/image31.png" Id="R3ac171b3be714c1a" /><Relationship Type="http://schemas.openxmlformats.org/officeDocument/2006/relationships/image" Target="/ppt/media/image32.png" Id="R91b9ea77c4cc4dcc" /><Relationship Type="http://schemas.openxmlformats.org/officeDocument/2006/relationships/notesSlide" Target="/ppt/notesSlides/notesSlide7.xml" Id="R7a9678b889af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7686312a234e19" /><Relationship Type="http://schemas.openxmlformats.org/officeDocument/2006/relationships/image" Target="/ppt/media/image33.png" Id="R448775a5af4e48f2" /><Relationship Type="http://schemas.openxmlformats.org/officeDocument/2006/relationships/image" Target="/ppt/media/image34.png" Id="Rd49cdceaee0e4a08" /><Relationship Type="http://schemas.openxmlformats.org/officeDocument/2006/relationships/image" Target="/ppt/media/image35.png" Id="R8a10d37bb4b14089" /><Relationship Type="http://schemas.openxmlformats.org/officeDocument/2006/relationships/image" Target="/ppt/media/image36.png" Id="R23d5b193050947c3" /><Relationship Type="http://schemas.openxmlformats.org/officeDocument/2006/relationships/image" Target="/ppt/media/image37.png" Id="Rf83b85e10ade47fc" /><Relationship Type="http://schemas.openxmlformats.org/officeDocument/2006/relationships/notesSlide" Target="/ppt/notesSlides/notesSlide8.xml" Id="Ree611fd0070f41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baa84cfe3b4438d" /><Relationship Type="http://schemas.openxmlformats.org/officeDocument/2006/relationships/image" Target="/ppt/media/image38.png" Id="R201dc314e9594ad7" /><Relationship Type="http://schemas.openxmlformats.org/officeDocument/2006/relationships/image" Target="/ppt/media/image39.png" Id="R8cace80808814a4b" /><Relationship Type="http://schemas.openxmlformats.org/officeDocument/2006/relationships/image" Target="/ppt/media/image40.png" Id="R6d7614648ee14b81" /><Relationship Type="http://schemas.openxmlformats.org/officeDocument/2006/relationships/image" Target="/ppt/media/image41.png" Id="Ra062dea75e7040c5" /><Relationship Type="http://schemas.openxmlformats.org/officeDocument/2006/relationships/notesSlide" Target="/ppt/notesSlides/notesSlide9.xml" Id="R4013c1f3fdcb42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fefafb944b24b5f" /><Relationship Type="http://schemas.openxmlformats.org/officeDocument/2006/relationships/image" Target="/ppt/media/image42.png" Id="R0d6dcc4fd11345db" /><Relationship Type="http://schemas.openxmlformats.org/officeDocument/2006/relationships/image" Target="/ppt/media/image43.png" Id="R4b81d316c7204dd1" /><Relationship Type="http://schemas.openxmlformats.org/officeDocument/2006/relationships/notesSlide" Target="/ppt/notesSlides/notesSlide10.xml" Id="R23fe5b0786064f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f6bbe75c574f06" /><Relationship Type="http://schemas.openxmlformats.org/officeDocument/2006/relationships/image" Target="/ppt/media/image44.png" Id="R9bc1d7b281db4411" /><Relationship Type="http://schemas.openxmlformats.org/officeDocument/2006/relationships/image" Target="/ppt/media/image45.png" Id="R431e673e3a164a34" /><Relationship Type="http://schemas.openxmlformats.org/officeDocument/2006/relationships/notesSlide" Target="/ppt/notesSlides/notesSlide11.xml" Id="R9d8b65cc3bc449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93132c1b9341b9" /><Relationship Type="http://schemas.openxmlformats.org/officeDocument/2006/relationships/image" Target="/ppt/media/image46.png" Id="R15fe1360cc0641d2" /><Relationship Type="http://schemas.openxmlformats.org/officeDocument/2006/relationships/image" Target="/ppt/media/image47.png" Id="Rac9380e9e4e049ff" /><Relationship Type="http://schemas.openxmlformats.org/officeDocument/2006/relationships/image" Target="/ppt/media/image48.png" Id="R911f60bac2594d33" /><Relationship Type="http://schemas.openxmlformats.org/officeDocument/2006/relationships/image" Target="/ppt/media/image49.png" Id="R502086e8b51b4ab4" /><Relationship Type="http://schemas.openxmlformats.org/officeDocument/2006/relationships/image" Target="/ppt/media/image50.png" Id="R791364276da04fda" /><Relationship Type="http://schemas.openxmlformats.org/officeDocument/2006/relationships/image" Target="/ppt/media/image51.png" Id="R12f2ed39044b493f" /><Relationship Type="http://schemas.openxmlformats.org/officeDocument/2006/relationships/notesSlide" Target="/ppt/notesSlides/notesSlide12.xml" Id="R11fb44ee9ba84e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715c17448de4498" /><Relationship Type="http://schemas.openxmlformats.org/officeDocument/2006/relationships/image" Target="/ppt/media/image52.png" Id="Rc3fc038ea42b40ac" /><Relationship Type="http://schemas.openxmlformats.org/officeDocument/2006/relationships/notesSlide" Target="/ppt/notesSlides/notesSlide13.xml" Id="Ra93cdffd15584123"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fca16b337b84f56"/>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3E8DEB-66A5-4347-9F9B-C04A7A7F055E}"/>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23C69C49-DB47-4481-B126-A59E93ACAEF9}"/>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restaurant assistant</a:t>
            </a:r>
          </a:p>
        </p:txBody>
      </p:sp>
      <p:sp>
        <p:nvSpPr>
          <p:cNvPr id="4" name="">
            <a:extLst xmlns:a="http://schemas.openxmlformats.org/drawingml/2006/main">
              <a:ext uri="{FF2B5EF4-FFF2-40B4-BE49-F238E27FC236}">
                <a16:creationId xmlns:a16="http://schemas.microsoft.com/office/drawing/2014/main" id="{9AA3EB00-1336-4CC3-B5BD-874A2E194C0B}"/>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Architecture and workflow walkthrough</a:t>
            </a:r>
          </a:p>
        </p:txBody>
      </p:sp>
      <p:sp>
        <p:nvSpPr>
          <p:cNvPr id="5" name="">
            <a:extLst xmlns:a="http://schemas.openxmlformats.org/drawingml/2006/main">
              <a:ext uri="{FF2B5EF4-FFF2-40B4-BE49-F238E27FC236}">
                <a16:creationId xmlns:a16="http://schemas.microsoft.com/office/drawing/2014/main" id="{5842876A-8274-4AE0-99D8-0B8A1BD6D358}"/>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a74910d2ff24ea9"/>
          <a:stretch xmlns:a="http://schemas.openxmlformats.org/drawingml/2006/main"/>
        </p:blipFill>
        <p:spPr>
          <a:xfrm xmlns:a="http://schemas.openxmlformats.org/drawingml/2006/main">
            <a:off x="11811000" y="2838450"/>
            <a:ext cx="5334000" cy="28003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0720f9f4d054d55"/>
          <a:stretch xmlns:a="http://schemas.openxmlformats.org/drawingml/2006/main"/>
        </p:blipFill>
        <p:spPr>
          <a:xfrm xmlns:a="http://schemas.openxmlformats.org/drawingml/2006/main">
            <a:off x="571500" y="3238500"/>
            <a:ext cx="1666875" cy="1666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63C6B7F-45DF-4511-8C8C-54E849E37CBA}"/>
              </a:ext>
            </a:extLst>
          </p:cNvPr>
          <p:cNvSpPr>
            <a:spLocks xmlns:a="http://schemas.openxmlformats.org/drawingml/2006/main" noGrp="1"/>
          </p:cNvSpPr>
          <p:nvPr/>
        </p:nvSpPr>
        <p:spPr>
          <a:xfrm xmlns:a="http://schemas.openxmlformats.org/drawingml/2006/main">
            <a:off x="2524125" y="358140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C9502F"/>
                </a:solidFill>
                <a:latin typeface="Arial"/>
                <a:ea typeface="Arial"/>
                <a:cs typeface="Arial"/>
              </a:defRPr>
            </a:pPr>
            <a:r>
              <a:rPr sz="7050" b="1">
                <a:solidFill>
                  <a:srgbClr val="C9502F"/>
                </a:solidFill>
                <a:latin typeface="Arial"/>
                <a:ea typeface="Arial"/>
                <a:cs typeface="Arial"/>
              </a:rPr>
              <a:t>CallDine</a:t>
            </a:r>
          </a:p>
        </p:txBody>
      </p:sp>
      <p:sp>
        <p:nvSpPr>
          <p:cNvPr id="9" name="">
            <a:extLst xmlns:a="http://schemas.openxmlformats.org/drawingml/2006/main">
              <a:ext uri="{FF2B5EF4-FFF2-40B4-BE49-F238E27FC236}">
                <a16:creationId xmlns:a16="http://schemas.microsoft.com/office/drawing/2014/main" id="{F4F267D1-A2C4-4628-A209-F039671918AC}"/>
              </a:ext>
            </a:extLst>
          </p:cNvPr>
          <p:cNvSpPr>
            <a:spLocks xmlns:a="http://schemas.openxmlformats.org/drawingml/2006/main" noGrp="1"/>
          </p:cNvSpPr>
          <p:nvPr/>
        </p:nvSpPr>
        <p:spPr>
          <a:xfrm xmlns:a="http://schemas.openxmlformats.org/drawingml/2006/main">
            <a:off x="619125" y="5619750"/>
            <a:ext cx="10001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Voice conversations</a:t>
            </a:r>
          </a:p>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Restaurant knowledge</a:t>
            </a:r>
          </a:p>
          <a:p xmlns:a="http://schemas.openxmlformats.org/drawingml/2006/main">
            <a:pPr>
              <a:defRPr sz="3225" b="0">
                <a:solidFill>
                  <a:srgbClr val="34231D"/>
                </a:solidFill>
                <a:latin typeface="Arial"/>
                <a:ea typeface="Arial"/>
                <a:cs typeface="Arial"/>
              </a:defRPr>
            </a:pPr>
            <a:r>
              <a:rPr sz="3225" b="0">
                <a:solidFill>
                  <a:srgbClr val="34231D"/>
                </a:solidFill>
                <a:latin typeface="Arial"/>
                <a:ea typeface="Arial"/>
                <a:cs typeface="Arial"/>
              </a:rPr>
              <a:t>Orders and reservations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89c3de28aa74a1a"/>
          <a:stretch xmlns:a="http://schemas.openxmlformats.org/drawingml/2006/main"/>
        </p:blipFill>
        <p:spPr>
          <a:xfrm xmlns:a="http://schemas.openxmlformats.org/drawingml/2006/main">
            <a:off x="12287250" y="6572250"/>
            <a:ext cx="1381125" cy="1381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16A11AC-77AF-4695-BB63-7A60781CB567}"/>
              </a:ext>
            </a:extLst>
          </p:cNvPr>
          <p:cNvSpPr>
            <a:spLocks xmlns:a="http://schemas.openxmlformats.org/drawingml/2006/main" noGrp="1"/>
          </p:cNvSpPr>
          <p:nvPr/>
        </p:nvSpPr>
        <p:spPr>
          <a:xfrm xmlns:a="http://schemas.openxmlformats.org/drawingml/2006/main">
            <a:off x="14573250" y="6753225"/>
            <a:ext cx="1085850" cy="10858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9a715d581a04e87"/>
          <a:stretch xmlns:a="http://schemas.openxmlformats.org/drawingml/2006/main"/>
        </p:blipFill>
        <p:spPr>
          <a:xfrm xmlns:a="http://schemas.openxmlformats.org/drawingml/2006/main">
            <a:off x="14573250" y="6753225"/>
            <a:ext cx="1085850" cy="10858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3A95043-59EF-47BD-9CD3-1A969C6152D2}"/>
              </a:ext>
            </a:extLst>
          </p:cNvPr>
          <p:cNvSpPr>
            <a:spLocks xmlns:a="http://schemas.openxmlformats.org/drawingml/2006/main" noGrp="1"/>
          </p:cNvSpPr>
          <p:nvPr/>
        </p:nvSpPr>
        <p:spPr>
          <a:xfrm xmlns:a="http://schemas.openxmlformats.org/drawingml/2006/main">
            <a:off x="12430125" y="8096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Next.js</a:t>
            </a:r>
          </a:p>
        </p:txBody>
      </p:sp>
      <p:sp>
        <p:nvSpPr>
          <p:cNvPr id="14" name="">
            <a:extLst xmlns:a="http://schemas.openxmlformats.org/drawingml/2006/main">
              <a:ext uri="{FF2B5EF4-FFF2-40B4-BE49-F238E27FC236}">
                <a16:creationId xmlns:a16="http://schemas.microsoft.com/office/drawing/2014/main" id="{C8303125-ECFB-4DE6-9DAF-090376C360A6}"/>
              </a:ext>
            </a:extLst>
          </p:cNvPr>
          <p:cNvSpPr>
            <a:spLocks xmlns:a="http://schemas.openxmlformats.org/drawingml/2006/main" noGrp="1"/>
          </p:cNvSpPr>
          <p:nvPr/>
        </p:nvSpPr>
        <p:spPr>
          <a:xfrm xmlns:a="http://schemas.openxmlformats.org/drawingml/2006/main">
            <a:off x="14382750" y="8096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FastAPI</a:t>
            </a:r>
          </a:p>
        </p:txBody>
      </p:sp>
      <p:sp>
        <p:nvSpPr>
          <p:cNvPr id="15" name="">
            <a:extLst xmlns:a="http://schemas.openxmlformats.org/drawingml/2006/main">
              <a:ext uri="{FF2B5EF4-FFF2-40B4-BE49-F238E27FC236}">
                <a16:creationId xmlns:a16="http://schemas.microsoft.com/office/drawing/2014/main" id="{629809BA-EEA2-4A2E-9672-2AF03AD60AC1}"/>
              </a:ext>
            </a:extLst>
          </p:cNvPr>
          <p:cNvSpPr>
            <a:spLocks xmlns:a="http://schemas.openxmlformats.org/drawingml/2006/main" noGrp="1"/>
          </p:cNvSpPr>
          <p:nvPr/>
        </p:nvSpPr>
        <p:spPr>
          <a:xfrm xmlns:a="http://schemas.openxmlformats.org/drawingml/2006/main">
            <a:off x="619125" y="9077325"/>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8766B"/>
                </a:solidFill>
                <a:latin typeface="Arial"/>
                <a:ea typeface="Arial"/>
                <a:cs typeface="Arial"/>
              </a:defRPr>
            </a:pPr>
            <a:r>
              <a:rPr sz="2100" b="0">
                <a:solidFill>
                  <a:srgbClr val="88766B"/>
                </a:solidFill>
                <a:latin typeface="Arial"/>
                <a:ea typeface="Arial"/>
                <a:cs typeface="Arial"/>
              </a:rPr>
              <a:t>Source-based walkthrough. Forecasting is shown as planned.</a:t>
            </a:r>
          </a:p>
        </p:txBody>
      </p:sp>
    </p:spTree>
    <p:extLst>
      <p:ext uri="{BB962C8B-B14F-4D97-AF65-F5344CB8AC3E}">
        <p14:creationId xmlns:p14="http://schemas.microsoft.com/office/powerpoint/2010/main" val="1659611951"/>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5fd8814f315476e"/>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CDA7FE-ADEA-423B-8161-AB1E70B731BE}"/>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0543AA6E-3AAE-46E4-8C44-19AAC9D78033}"/>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 customer request</a:t>
            </a:r>
          </a:p>
        </p:txBody>
      </p:sp>
      <p:sp>
        <p:nvSpPr>
          <p:cNvPr id="4" name="">
            <a:extLst xmlns:a="http://schemas.openxmlformats.org/drawingml/2006/main">
              <a:ext uri="{FF2B5EF4-FFF2-40B4-BE49-F238E27FC236}">
                <a16:creationId xmlns:a16="http://schemas.microsoft.com/office/drawing/2014/main" id="{CC12FD2B-9EF0-40A7-B5F2-72322B04E797}"/>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037E82D-895B-4459-83C2-B9041A65DCD1}"/>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AF0F775F-FDB8-4C3F-A275-0C95A1CBB6E5}"/>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5bc371e6117401e"/>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627B4D0-583F-4DD8-AF51-245BA0448D9D}"/>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input</a:t>
            </a:r>
          </a:p>
        </p:txBody>
      </p:sp>
      <p:sp>
        <p:nvSpPr>
          <p:cNvPr id="9" name="">
            <a:extLst xmlns:a="http://schemas.openxmlformats.org/drawingml/2006/main">
              <a:ext uri="{FF2B5EF4-FFF2-40B4-BE49-F238E27FC236}">
                <a16:creationId xmlns:a16="http://schemas.microsoft.com/office/drawing/2014/main" id="{B4E40616-2894-436C-9CC4-38D91D886F79}"/>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6B257714-3510-4B27-B146-65BFA922275E}"/>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5676acd95dc484b"/>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A13000-BEC9-46C6-8BCF-B764BB5DB72E}"/>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Next.js API proxy</a:t>
            </a:r>
          </a:p>
        </p:txBody>
      </p:sp>
      <p:sp>
        <p:nvSpPr>
          <p:cNvPr id="13" name="">
            <a:extLst xmlns:a="http://schemas.openxmlformats.org/drawingml/2006/main">
              <a:ext uri="{FF2B5EF4-FFF2-40B4-BE49-F238E27FC236}">
                <a16:creationId xmlns:a16="http://schemas.microsoft.com/office/drawing/2014/main" id="{796FF283-CE94-4FF3-A083-EF70D32C1AC6}"/>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BAE1ED9F-95D4-48B6-8B09-FF7E95199FD3}"/>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EDBDA4D-9FB1-4B00-B1B4-3D837FEC6050}"/>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b60d81ecc69464f"/>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73E139B-8F55-4DAC-938E-1D610D4101B3}"/>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FastAPI routes</a:t>
            </a:r>
          </a:p>
        </p:txBody>
      </p:sp>
      <p:sp>
        <p:nvSpPr>
          <p:cNvPr id="18" name="">
            <a:extLst xmlns:a="http://schemas.openxmlformats.org/drawingml/2006/main">
              <a:ext uri="{FF2B5EF4-FFF2-40B4-BE49-F238E27FC236}">
                <a16:creationId xmlns:a16="http://schemas.microsoft.com/office/drawing/2014/main" id="{B336A8A1-1520-431F-8CB5-83A998112176}"/>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C1823E54-693B-4393-9940-58BA35B260C6}"/>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265e20f43b74819"/>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44DC937-BC21-4E68-9556-3BF6CFD5C360}"/>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Chat and tools</a:t>
            </a:r>
          </a:p>
        </p:txBody>
      </p:sp>
      <p:sp>
        <p:nvSpPr>
          <p:cNvPr id="22" name="">
            <a:extLst xmlns:a="http://schemas.openxmlformats.org/drawingml/2006/main">
              <a:ext uri="{FF2B5EF4-FFF2-40B4-BE49-F238E27FC236}">
                <a16:creationId xmlns:a16="http://schemas.microsoft.com/office/drawing/2014/main" id="{811E83A1-C007-44F3-89DF-B4D8B3B03EB4}"/>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D2FF4EF2-4197-49C4-BD06-3C76D54557AB}"/>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9E1AE10F-BE8E-4256-AD2D-1A6AC5484315}"/>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Repositories</a:t>
            </a:r>
          </a:p>
        </p:txBody>
      </p:sp>
      <p:sp>
        <p:nvSpPr>
          <p:cNvPr id="25" name="">
            <a:extLst xmlns:a="http://schemas.openxmlformats.org/drawingml/2006/main">
              <a:ext uri="{FF2B5EF4-FFF2-40B4-BE49-F238E27FC236}">
                <a16:creationId xmlns:a16="http://schemas.microsoft.com/office/drawing/2014/main" id="{A1A4485A-D858-4E1A-9AB7-DA3629F131C3}"/>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DDB701A1-5368-4E1B-95B7-99D16F6F83EA}"/>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9FF86A9D-33DE-4661-B0EF-E5BE873E0A29}"/>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response</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1"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2" name=""/>
          <p:cNvCxnSpPr>
            <a:stCxn xmlns:a="http://schemas.openxmlformats.org/drawingml/2006/main" id="13"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3" name=""/>
          <p:cNvCxnSpPr>
            <a:stCxn xmlns:a="http://schemas.openxmlformats.org/drawingml/2006/main" id="18"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4" name=""/>
          <p:cNvCxnSpPr>
            <a:stCxn xmlns:a="http://schemas.openxmlformats.org/drawingml/2006/main" id="22"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621235745"/>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ae69eeecac24394"/>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72BFBB-25A5-40D0-8B75-BEFF5D2EBB90}"/>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0D781F4B-105B-4370-AF79-98CF3C3F61A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Knowledge ingestion</a:t>
            </a:r>
          </a:p>
        </p:txBody>
      </p:sp>
      <p:sp>
        <p:nvSpPr>
          <p:cNvPr id="4" name="">
            <a:extLst xmlns:a="http://schemas.openxmlformats.org/drawingml/2006/main">
              <a:ext uri="{FF2B5EF4-FFF2-40B4-BE49-F238E27FC236}">
                <a16:creationId xmlns:a16="http://schemas.microsoft.com/office/drawing/2014/main" id="{0DB233B7-1F0C-47E9-A174-DF756353FDF0}"/>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3B35540-95F8-4030-B34D-45D7A5B3990F}"/>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F252FC33-B5B9-4DA3-AA0E-63A7ABCFFABC}"/>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45c45ea11744ec6"/>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6E47A8E-4A75-4671-B49D-AD133046AA90}"/>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the PDF</a:t>
            </a:r>
          </a:p>
        </p:txBody>
      </p:sp>
      <p:sp>
        <p:nvSpPr>
          <p:cNvPr id="9" name="">
            <a:extLst xmlns:a="http://schemas.openxmlformats.org/drawingml/2006/main">
              <a:ext uri="{FF2B5EF4-FFF2-40B4-BE49-F238E27FC236}">
                <a16:creationId xmlns:a16="http://schemas.microsoft.com/office/drawing/2014/main" id="{2596CCFB-1737-46FD-82A0-2EDE17E1DECD}"/>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71371275-E0AE-407F-BD44-D4E8890C48A0}"/>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d90709bf89e41c3"/>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E28B592-B1AD-4483-BF37-845E280C859F}"/>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in S3</a:t>
            </a:r>
          </a:p>
        </p:txBody>
      </p:sp>
      <p:sp>
        <p:nvSpPr>
          <p:cNvPr id="13" name="">
            <a:extLst xmlns:a="http://schemas.openxmlformats.org/drawingml/2006/main">
              <a:ext uri="{FF2B5EF4-FFF2-40B4-BE49-F238E27FC236}">
                <a16:creationId xmlns:a16="http://schemas.microsoft.com/office/drawing/2014/main" id="{F6091401-2A2E-4B2B-A898-1C430E4E52F2}"/>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A38D6C74-AA83-49DD-ACEA-6CD77EACBC5F}"/>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aff37c12b924edd"/>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27FF54F-BFF3-499C-B3A3-579F93E1D93E}"/>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Extract the text</a:t>
            </a:r>
          </a:p>
        </p:txBody>
      </p:sp>
      <p:sp>
        <p:nvSpPr>
          <p:cNvPr id="17" name="">
            <a:extLst xmlns:a="http://schemas.openxmlformats.org/drawingml/2006/main">
              <a:ext uri="{FF2B5EF4-FFF2-40B4-BE49-F238E27FC236}">
                <a16:creationId xmlns:a16="http://schemas.microsoft.com/office/drawing/2014/main" id="{A53C4B81-5BF7-4484-87E1-7E76E6E92D3B}"/>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6181B0B3-1E64-4FB8-89CC-508FFA384843}"/>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5E47D693-B6FB-46C7-8FBF-0A4CAFF9C14C}"/>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7ccf4653a8df4167"/>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C0B720F-D11B-41F0-A228-70B68107C6D4}"/>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Split into chunks</a:t>
            </a:r>
          </a:p>
        </p:txBody>
      </p:sp>
      <p:sp>
        <p:nvSpPr>
          <p:cNvPr id="22" name="">
            <a:extLst xmlns:a="http://schemas.openxmlformats.org/drawingml/2006/main">
              <a:ext uri="{FF2B5EF4-FFF2-40B4-BE49-F238E27FC236}">
                <a16:creationId xmlns:a16="http://schemas.microsoft.com/office/drawing/2014/main" id="{71E2645C-FC19-445B-BD0D-F7CE6DA56EA0}"/>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F551BD19-82F8-4C08-93E4-CAB7B9DB25C7}"/>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278fec1a7de48c8"/>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CCD896A-123B-4CF4-930A-147FDA9581D7}"/>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embeddings</a:t>
            </a:r>
          </a:p>
        </p:txBody>
      </p:sp>
      <p:sp>
        <p:nvSpPr>
          <p:cNvPr id="26" name="">
            <a:extLst xmlns:a="http://schemas.openxmlformats.org/drawingml/2006/main">
              <a:ext uri="{FF2B5EF4-FFF2-40B4-BE49-F238E27FC236}">
                <a16:creationId xmlns:a16="http://schemas.microsoft.com/office/drawing/2014/main" id="{526EEF28-C696-40B9-81FF-9686FECFD72D}"/>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15B3EBE0-2355-419F-99EA-CF2050B4DD1D}"/>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8" name="">
            <a:extLst xmlns:a="http://schemas.openxmlformats.org/drawingml/2006/main">
              <a:ext uri="{FF2B5EF4-FFF2-40B4-BE49-F238E27FC236}">
                <a16:creationId xmlns:a16="http://schemas.microsoft.com/office/drawing/2014/main" id="{BED31C3F-3F38-495B-B499-B602387B8C6F}"/>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Index in Qdrant</a:t>
            </a:r>
          </a:p>
        </p:txBody>
      </p:sp>
      <p:cxnSp>
        <p:nvCxnSpPr>
          <p:cNvPr id="62"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3"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4"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5"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6"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700613340"/>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9b97f9d6e2b4d1b"/>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3F2C10-0F56-44ED-843D-D6D5AE365405}"/>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5F482BE9-AC7D-4E49-9D29-58BB1AC1656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Knowledge retrieval</a:t>
            </a:r>
          </a:p>
        </p:txBody>
      </p:sp>
      <p:sp>
        <p:nvSpPr>
          <p:cNvPr id="4" name="">
            <a:extLst xmlns:a="http://schemas.openxmlformats.org/drawingml/2006/main">
              <a:ext uri="{FF2B5EF4-FFF2-40B4-BE49-F238E27FC236}">
                <a16:creationId xmlns:a16="http://schemas.microsoft.com/office/drawing/2014/main" id="{140BD7A2-51D3-4580-823E-445B60FB1AB1}"/>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F79D6BB-2122-4890-BC61-572453DC2F3D}"/>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A1EE2088-71B9-4BF2-844B-576899DE3CC7}"/>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bf5291c90564986"/>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9AB40B2-562F-4922-B67F-13B05A8D36E1}"/>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Customer question</a:t>
            </a:r>
          </a:p>
        </p:txBody>
      </p:sp>
      <p:sp>
        <p:nvSpPr>
          <p:cNvPr id="9" name="">
            <a:extLst xmlns:a="http://schemas.openxmlformats.org/drawingml/2006/main">
              <a:ext uri="{FF2B5EF4-FFF2-40B4-BE49-F238E27FC236}">
                <a16:creationId xmlns:a16="http://schemas.microsoft.com/office/drawing/2014/main" id="{CE7E2599-B935-480B-999A-C5998BE4193F}"/>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2919F82A-8C0D-4875-B583-528CD8C2A9C7}"/>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9bad5bfd596b4b81"/>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E6A2BB5-B3DD-43A0-AD4B-EB78EB2CBD6C}"/>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Select a tool</a:t>
            </a:r>
          </a:p>
        </p:txBody>
      </p:sp>
      <p:sp>
        <p:nvSpPr>
          <p:cNvPr id="13" name="">
            <a:extLst xmlns:a="http://schemas.openxmlformats.org/drawingml/2006/main">
              <a:ext uri="{FF2B5EF4-FFF2-40B4-BE49-F238E27FC236}">
                <a16:creationId xmlns:a16="http://schemas.microsoft.com/office/drawing/2014/main" id="{176F382E-CFC8-4B49-84F2-540B06DAF0A7}"/>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8FB23FD8-5C41-4E1C-9E70-F5039E37D535}"/>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412bae17ece4f16"/>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AEE3428-E73B-46C0-A5CE-457D50DAB062}"/>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Embed the query</a:t>
            </a:r>
          </a:p>
        </p:txBody>
      </p:sp>
      <p:sp>
        <p:nvSpPr>
          <p:cNvPr id="17" name="">
            <a:extLst xmlns:a="http://schemas.openxmlformats.org/drawingml/2006/main">
              <a:ext uri="{FF2B5EF4-FFF2-40B4-BE49-F238E27FC236}">
                <a16:creationId xmlns:a16="http://schemas.microsoft.com/office/drawing/2014/main" id="{5F8BEBE0-AB2E-4689-8267-EE046B0E7971}"/>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B02BBBB0-BEBD-488D-A182-DF7FD99CF259}"/>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5FF0226C-F50C-460B-86A1-1E844FD34251}"/>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Search Qdrant</a:t>
            </a:r>
          </a:p>
        </p:txBody>
      </p:sp>
      <p:sp>
        <p:nvSpPr>
          <p:cNvPr id="20" name="">
            <a:extLst xmlns:a="http://schemas.openxmlformats.org/drawingml/2006/main">
              <a:ext uri="{FF2B5EF4-FFF2-40B4-BE49-F238E27FC236}">
                <a16:creationId xmlns:a16="http://schemas.microsoft.com/office/drawing/2014/main" id="{D40E93F9-7E9C-44E3-9E66-9349870A3E6D}"/>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1" name="">
            <a:extLst xmlns:a="http://schemas.openxmlformats.org/drawingml/2006/main">
              <a:ext uri="{FF2B5EF4-FFF2-40B4-BE49-F238E27FC236}">
                <a16:creationId xmlns:a16="http://schemas.microsoft.com/office/drawing/2014/main" id="{97BBFBE1-0349-4D6A-8B9F-616BFEF952C5}"/>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153F657D-1215-430A-9E84-5572C1C2A592}"/>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472088f80b84d13"/>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FF90DDE0-36C9-400C-9AD6-026BC4AC756D}"/>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Return the evidence</a:t>
            </a:r>
          </a:p>
        </p:txBody>
      </p:sp>
      <p:sp>
        <p:nvSpPr>
          <p:cNvPr id="25" name="">
            <a:extLst xmlns:a="http://schemas.openxmlformats.org/drawingml/2006/main">
              <a:ext uri="{FF2B5EF4-FFF2-40B4-BE49-F238E27FC236}">
                <a16:creationId xmlns:a16="http://schemas.microsoft.com/office/drawing/2014/main" id="{9CC417FE-F649-41E8-96C9-3110C5B83B3F}"/>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4B1E8B6B-D872-4A2F-9EDE-E4B2220B2019}"/>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59cc69be697e4adb"/>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4613E153-0B79-4CBE-A107-0216D61E37E0}"/>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Answer the customer</a:t>
            </a:r>
          </a:p>
        </p:txBody>
      </p:sp>
      <p:cxnSp>
        <p:nvCxnSpPr>
          <p:cNvPr id="62"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3"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4"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5" name=""/>
          <p:cNvCxnSpPr>
            <a:stCxn xmlns:a="http://schemas.openxmlformats.org/drawingml/2006/main" id="17" idx="1"/>
            <a:endCxn xmlns:a="http://schemas.openxmlformats.org/drawingml/2006/main" id="20"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6" name=""/>
          <p:cNvCxnSpPr>
            <a:stCxn xmlns:a="http://schemas.openxmlformats.org/drawingml/2006/main" id="20"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697535562"/>
      </p:ext>
    </p:extLst>
  </p:cSld>
</p:sld>
</file>

<file path=ppt/slides/slide5.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17836c291d14901"/>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B383F3-7E7A-4749-99BA-292B2B49DBBA}"/>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1328F8B0-BD81-4DDF-9C68-6A7DA616C26D}"/>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reasoning and tool execution</a:t>
            </a:r>
          </a:p>
        </p:txBody>
      </p:sp>
      <p:sp>
        <p:nvSpPr>
          <p:cNvPr id="4" name="">
            <a:extLst xmlns:a="http://schemas.openxmlformats.org/drawingml/2006/main">
              <a:ext uri="{FF2B5EF4-FFF2-40B4-BE49-F238E27FC236}">
                <a16:creationId xmlns:a16="http://schemas.microsoft.com/office/drawing/2014/main" id="{51CF1117-D63E-45AE-8762-FEC873257213}"/>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7A95701-BA14-4631-A91A-086A8EB9EA1C}"/>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8CA70031-9A2F-41B5-A0B8-B79DAB3ED0CD}"/>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4EEDF6E-5BA5-4D60-AC53-47F8C53F15AD}"/>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Conversation memory</a:t>
            </a:r>
          </a:p>
        </p:txBody>
      </p:sp>
      <p:sp>
        <p:nvSpPr>
          <p:cNvPr id="8" name="">
            <a:extLst xmlns:a="http://schemas.openxmlformats.org/drawingml/2006/main">
              <a:ext uri="{FF2B5EF4-FFF2-40B4-BE49-F238E27FC236}">
                <a16:creationId xmlns:a16="http://schemas.microsoft.com/office/drawing/2014/main" id="{DE197007-3230-4E29-94B0-71E74EC413A8}"/>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2FDCBF1D-6892-4EBA-BE4F-49067C1D123B}"/>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b65275dc9e54d90"/>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972D789-6606-46A1-BA43-C23DE92FD71C}"/>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Planner request</a:t>
            </a:r>
          </a:p>
        </p:txBody>
      </p:sp>
      <p:sp>
        <p:nvSpPr>
          <p:cNvPr id="12" name="">
            <a:extLst xmlns:a="http://schemas.openxmlformats.org/drawingml/2006/main">
              <a:ext uri="{FF2B5EF4-FFF2-40B4-BE49-F238E27FC236}">
                <a16:creationId xmlns:a16="http://schemas.microsoft.com/office/drawing/2014/main" id="{4D2AB7E9-F184-4685-AA2E-CE6117D05FB4}"/>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 name="">
            <a:extLst xmlns:a="http://schemas.openxmlformats.org/drawingml/2006/main">
              <a:ext uri="{FF2B5EF4-FFF2-40B4-BE49-F238E27FC236}">
                <a16:creationId xmlns:a16="http://schemas.microsoft.com/office/drawing/2014/main" id="{663E7795-C5CC-45DE-9254-4D94FC44EF9E}"/>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FA2B8C3E-EE0B-452E-9CB0-213D63844182}"/>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183a479a12b94d66"/>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CD72CA6-0BAA-4CD1-9174-99AD0B6A74D2}"/>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Controlled dispatch</a:t>
            </a:r>
          </a:p>
        </p:txBody>
      </p:sp>
      <p:sp>
        <p:nvSpPr>
          <p:cNvPr id="17" name="">
            <a:extLst xmlns:a="http://schemas.openxmlformats.org/drawingml/2006/main">
              <a:ext uri="{FF2B5EF4-FFF2-40B4-BE49-F238E27FC236}">
                <a16:creationId xmlns:a16="http://schemas.microsoft.com/office/drawing/2014/main" id="{3589B4F0-A178-4BFD-843B-3992EEB8855C}"/>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35705190-9CCB-47C9-A850-629AEBC93ED5}"/>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EA589174-A975-4D94-93BD-92A60E10F90B}"/>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Business validation</a:t>
            </a:r>
          </a:p>
        </p:txBody>
      </p:sp>
      <p:sp>
        <p:nvSpPr>
          <p:cNvPr id="20" name="">
            <a:extLst xmlns:a="http://schemas.openxmlformats.org/drawingml/2006/main">
              <a:ext uri="{FF2B5EF4-FFF2-40B4-BE49-F238E27FC236}">
                <a16:creationId xmlns:a16="http://schemas.microsoft.com/office/drawing/2014/main" id="{FD6C581B-AEAB-4D35-BDC0-FB66BC3292D6}"/>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1" name="">
            <a:extLst xmlns:a="http://schemas.openxmlformats.org/drawingml/2006/main">
              <a:ext uri="{FF2B5EF4-FFF2-40B4-BE49-F238E27FC236}">
                <a16:creationId xmlns:a16="http://schemas.microsoft.com/office/drawing/2014/main" id="{F66E60D2-1B84-4F2B-92DA-C526949D90E4}"/>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06593343b5f245e5"/>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EEBF0C6A-FFE2-450F-9C67-835DE60F3995}"/>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Tool results</a:t>
            </a:r>
          </a:p>
        </p:txBody>
      </p:sp>
      <p:sp>
        <p:nvSpPr>
          <p:cNvPr id="24" name="">
            <a:extLst xmlns:a="http://schemas.openxmlformats.org/drawingml/2006/main">
              <a:ext uri="{FF2B5EF4-FFF2-40B4-BE49-F238E27FC236}">
                <a16:creationId xmlns:a16="http://schemas.microsoft.com/office/drawing/2014/main" id="{E155B3A7-92A4-401A-A0D9-B2AC3167ED93}"/>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1E845899-BB4A-460A-BF6D-105727371C75}"/>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9DFE369D-B191-4F57-A39C-E7C0B7397526}"/>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Final answer</a:t>
            </a:r>
          </a:p>
        </p:txBody>
      </p:sp>
      <p:cxnSp>
        <p:nvCxnSpPr>
          <p:cNvPr id="58"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9" name=""/>
          <p:cNvCxnSpPr>
            <a:stCxn xmlns:a="http://schemas.openxmlformats.org/drawingml/2006/main" id="8" idx="3"/>
            <a:endCxn xmlns:a="http://schemas.openxmlformats.org/drawingml/2006/main" id="12"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0" name=""/>
          <p:cNvCxnSpPr>
            <a:stCxn xmlns:a="http://schemas.openxmlformats.org/drawingml/2006/main" id="12"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1" name=""/>
          <p:cNvCxnSpPr>
            <a:stCxn xmlns:a="http://schemas.openxmlformats.org/drawingml/2006/main" id="17" idx="1"/>
            <a:endCxn xmlns:a="http://schemas.openxmlformats.org/drawingml/2006/main" id="20"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2" name=""/>
          <p:cNvCxnSpPr>
            <a:stCxn xmlns:a="http://schemas.openxmlformats.org/drawingml/2006/main" id="20" idx="1"/>
            <a:endCxn xmlns:a="http://schemas.openxmlformats.org/drawingml/2006/main" id="24"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1780297939"/>
      </p:ext>
    </p:extLst>
  </p:cSld>
</p:sld>
</file>

<file path=ppt/slides/slide6.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b84fcb82614034"/>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487C25-1880-4A7E-821E-DCE3E19B1368}"/>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8DAE9982-DC38-4227-A564-71B6D4E050C0}"/>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The eight business tools</a:t>
            </a:r>
          </a:p>
        </p:txBody>
      </p:sp>
      <p:sp>
        <p:nvSpPr>
          <p:cNvPr id="4" name="">
            <a:extLst xmlns:a="http://schemas.openxmlformats.org/drawingml/2006/main">
              <a:ext uri="{FF2B5EF4-FFF2-40B4-BE49-F238E27FC236}">
                <a16:creationId xmlns:a16="http://schemas.microsoft.com/office/drawing/2014/main" id="{E8EE04A1-A6A2-4630-A03A-2FD4E85DAC40}"/>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Tool arguments describe the request. Services validate the operation.</a:t>
            </a:r>
          </a:p>
        </p:txBody>
      </p:sp>
      <p:sp>
        <p:nvSpPr>
          <p:cNvPr id="5" name="">
            <a:extLst xmlns:a="http://schemas.openxmlformats.org/drawingml/2006/main">
              <a:ext uri="{FF2B5EF4-FFF2-40B4-BE49-F238E27FC236}">
                <a16:creationId xmlns:a16="http://schemas.microsoft.com/office/drawing/2014/main" id="{0A2432AE-D1CC-4D37-A8BA-A926D97507F2}"/>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D2C2B54B-7AA5-4E6B-8A44-4A58E5C8C045}"/>
              </a:ext>
            </a:extLst>
          </p:cNvPr>
          <p:cNvSpPr>
            <a:spLocks xmlns:a="http://schemas.openxmlformats.org/drawingml/2006/main" noGrp="1"/>
          </p:cNvSpPr>
          <p:nvPr/>
        </p:nvSpPr>
        <p:spPr>
          <a:xfrm xmlns:a="http://schemas.openxmlformats.org/drawingml/2006/main">
            <a:off x="619125" y="31432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FE2C78D2-F59B-4478-A0CC-BF3AF8FA0B27}"/>
              </a:ext>
            </a:extLst>
          </p:cNvPr>
          <p:cNvSpPr>
            <a:spLocks xmlns:a="http://schemas.openxmlformats.org/drawingml/2006/main" noGrp="1"/>
          </p:cNvSpPr>
          <p:nvPr/>
        </p:nvSpPr>
        <p:spPr>
          <a:xfrm xmlns:a="http://schemas.openxmlformats.org/drawingml/2006/main">
            <a:off x="619125" y="3838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8" name="">
            <a:extLst xmlns:a="http://schemas.openxmlformats.org/drawingml/2006/main">
              <a:ext uri="{FF2B5EF4-FFF2-40B4-BE49-F238E27FC236}">
                <a16:creationId xmlns:a16="http://schemas.microsoft.com/office/drawing/2014/main" id="{4CAC931D-C8C3-4A04-9F2F-3524F35D8D9A}"/>
              </a:ext>
            </a:extLst>
          </p:cNvPr>
          <p:cNvSpPr>
            <a:spLocks xmlns:a="http://schemas.openxmlformats.org/drawingml/2006/main" noGrp="1"/>
          </p:cNvSpPr>
          <p:nvPr/>
        </p:nvSpPr>
        <p:spPr>
          <a:xfrm xmlns:a="http://schemas.openxmlformats.org/drawingml/2006/main">
            <a:off x="619125" y="4533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9" name="">
            <a:extLst xmlns:a="http://schemas.openxmlformats.org/drawingml/2006/main">
              <a:ext uri="{FF2B5EF4-FFF2-40B4-BE49-F238E27FC236}">
                <a16:creationId xmlns:a16="http://schemas.microsoft.com/office/drawing/2014/main" id="{F63C7EF5-1F57-46EC-9D51-9A449C778F0C}"/>
              </a:ext>
            </a:extLst>
          </p:cNvPr>
          <p:cNvSpPr>
            <a:spLocks xmlns:a="http://schemas.openxmlformats.org/drawingml/2006/main" noGrp="1"/>
          </p:cNvSpPr>
          <p:nvPr/>
        </p:nvSpPr>
        <p:spPr>
          <a:xfrm xmlns:a="http://schemas.openxmlformats.org/drawingml/2006/main">
            <a:off x="619125" y="52292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0" name="">
            <a:extLst xmlns:a="http://schemas.openxmlformats.org/drawingml/2006/main">
              <a:ext uri="{FF2B5EF4-FFF2-40B4-BE49-F238E27FC236}">
                <a16:creationId xmlns:a16="http://schemas.microsoft.com/office/drawing/2014/main" id="{B097C942-5A05-4B07-8CF8-DAB84339B9BB}"/>
              </a:ext>
            </a:extLst>
          </p:cNvPr>
          <p:cNvSpPr>
            <a:spLocks xmlns:a="http://schemas.openxmlformats.org/drawingml/2006/main" noGrp="1"/>
          </p:cNvSpPr>
          <p:nvPr/>
        </p:nvSpPr>
        <p:spPr>
          <a:xfrm xmlns:a="http://schemas.openxmlformats.org/drawingml/2006/main">
            <a:off x="619125" y="59245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1" name="">
            <a:extLst xmlns:a="http://schemas.openxmlformats.org/drawingml/2006/main">
              <a:ext uri="{FF2B5EF4-FFF2-40B4-BE49-F238E27FC236}">
                <a16:creationId xmlns:a16="http://schemas.microsoft.com/office/drawing/2014/main" id="{25CEC55F-0DE5-469E-B708-E7A80EFA9DD7}"/>
              </a:ext>
            </a:extLst>
          </p:cNvPr>
          <p:cNvSpPr>
            <a:spLocks xmlns:a="http://schemas.openxmlformats.org/drawingml/2006/main" noGrp="1"/>
          </p:cNvSpPr>
          <p:nvPr/>
        </p:nvSpPr>
        <p:spPr>
          <a:xfrm xmlns:a="http://schemas.openxmlformats.org/drawingml/2006/main">
            <a:off x="619125" y="66198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2" name="">
            <a:extLst xmlns:a="http://schemas.openxmlformats.org/drawingml/2006/main">
              <a:ext uri="{FF2B5EF4-FFF2-40B4-BE49-F238E27FC236}">
                <a16:creationId xmlns:a16="http://schemas.microsoft.com/office/drawing/2014/main" id="{E450D739-C8A2-455E-B5B3-36CF374E4615}"/>
              </a:ext>
            </a:extLst>
          </p:cNvPr>
          <p:cNvSpPr>
            <a:spLocks xmlns:a="http://schemas.openxmlformats.org/drawingml/2006/main" noGrp="1"/>
          </p:cNvSpPr>
          <p:nvPr/>
        </p:nvSpPr>
        <p:spPr>
          <a:xfrm xmlns:a="http://schemas.openxmlformats.org/drawingml/2006/main">
            <a:off x="619125" y="73152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3" name="">
            <a:extLst xmlns:a="http://schemas.openxmlformats.org/drawingml/2006/main">
              <a:ext uri="{FF2B5EF4-FFF2-40B4-BE49-F238E27FC236}">
                <a16:creationId xmlns:a16="http://schemas.microsoft.com/office/drawing/2014/main" id="{962F21F0-66E1-43BD-A6DF-A714460FD584}"/>
              </a:ext>
            </a:extLst>
          </p:cNvPr>
          <p:cNvSpPr>
            <a:spLocks xmlns:a="http://schemas.openxmlformats.org/drawingml/2006/main" noGrp="1"/>
          </p:cNvSpPr>
          <p:nvPr/>
        </p:nvSpPr>
        <p:spPr>
          <a:xfrm xmlns:a="http://schemas.openxmlformats.org/drawingml/2006/main">
            <a:off x="619125" y="80105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Tree>
    <p:extLst>
      <p:ext uri="{BB962C8B-B14F-4D97-AF65-F5344CB8AC3E}">
        <p14:creationId xmlns:p14="http://schemas.microsoft.com/office/powerpoint/2010/main" val="1325585176"/>
      </p:ext>
    </p:extLst>
  </p:cSld>
</p:sld>
</file>

<file path=ppt/slides/slide7.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aedaf9b8b7d465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46C343-C29E-4A92-89B5-B62703657060}"/>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0EF08D19-1C6A-434F-8971-80B651A039F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Voice input and transcription</a:t>
            </a:r>
          </a:p>
        </p:txBody>
      </p:sp>
      <p:sp>
        <p:nvSpPr>
          <p:cNvPr id="4" name="">
            <a:extLst xmlns:a="http://schemas.openxmlformats.org/drawingml/2006/main">
              <a:ext uri="{FF2B5EF4-FFF2-40B4-BE49-F238E27FC236}">
                <a16:creationId xmlns:a16="http://schemas.microsoft.com/office/drawing/2014/main" id="{205DDE56-05A6-4DF2-942D-9241B2ABE6C7}"/>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3614E90-F747-4BDE-AB5A-0D62D15C4B6B}"/>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1AFEED20-48E2-4038-B3E6-6A92A4893EB1}"/>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36ae745db464b35"/>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2BE3350-84F5-43F3-9644-71CEED645B10}"/>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session</a:t>
            </a:r>
          </a:p>
        </p:txBody>
      </p:sp>
      <p:sp>
        <p:nvSpPr>
          <p:cNvPr id="9" name="">
            <a:extLst xmlns:a="http://schemas.openxmlformats.org/drawingml/2006/main">
              <a:ext uri="{FF2B5EF4-FFF2-40B4-BE49-F238E27FC236}">
                <a16:creationId xmlns:a16="http://schemas.microsoft.com/office/drawing/2014/main" id="{F2B9F15A-7A83-4738-B369-B720FE89FC6F}"/>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8EC68300-82C7-460E-B144-107E46082C91}"/>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C704F013-F7AE-4D27-B44F-D1B5430526C1}"/>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Capture microphone</a:t>
            </a:r>
          </a:p>
        </p:txBody>
      </p:sp>
      <p:sp>
        <p:nvSpPr>
          <p:cNvPr id="12" name="">
            <a:extLst xmlns:a="http://schemas.openxmlformats.org/drawingml/2006/main">
              <a:ext uri="{FF2B5EF4-FFF2-40B4-BE49-F238E27FC236}">
                <a16:creationId xmlns:a16="http://schemas.microsoft.com/office/drawing/2014/main" id="{AF2212CE-1428-4862-9B98-5CB273486308}"/>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 name="">
            <a:extLst xmlns:a="http://schemas.openxmlformats.org/drawingml/2006/main">
              <a:ext uri="{FF2B5EF4-FFF2-40B4-BE49-F238E27FC236}">
                <a16:creationId xmlns:a16="http://schemas.microsoft.com/office/drawing/2014/main" id="{D34D5345-DB9F-49DF-8A89-F3747537B5CA}"/>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8FEE620B-B373-4364-BD46-F68893E63D49}"/>
              </a:ext>
            </a:extLst>
          </p:cNvPr>
          <p:cNvSpPr>
            <a:spLocks xmlns:a="http://schemas.openxmlformats.org/drawingml/2006/main" noGrp="1"/>
          </p:cNvSpPr>
          <p:nvPr/>
        </p:nvSpPr>
        <p:spPr>
          <a:xfrm xmlns:a="http://schemas.openxmlformats.org/drawingml/2006/main">
            <a:off x="1328737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Detect a turn ending</a:t>
            </a:r>
          </a:p>
        </p:txBody>
      </p:sp>
      <p:sp>
        <p:nvSpPr>
          <p:cNvPr id="15" name="">
            <a:extLst xmlns:a="http://schemas.openxmlformats.org/drawingml/2006/main">
              <a:ext uri="{FF2B5EF4-FFF2-40B4-BE49-F238E27FC236}">
                <a16:creationId xmlns:a16="http://schemas.microsoft.com/office/drawing/2014/main" id="{4DB3E583-6A6F-4D35-9C9C-DAB35EF8D9A5}"/>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 name="">
            <a:extLst xmlns:a="http://schemas.openxmlformats.org/drawingml/2006/main">
              <a:ext uri="{FF2B5EF4-FFF2-40B4-BE49-F238E27FC236}">
                <a16:creationId xmlns:a16="http://schemas.microsoft.com/office/drawing/2014/main" id="{CE5A033B-61D8-4499-B97F-99FECE492F97}"/>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de43c3ac6cb841b2"/>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03EF53E-B497-407C-AF35-134E970B19F9}"/>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the PCM turn</a:t>
            </a:r>
          </a:p>
        </p:txBody>
      </p:sp>
      <p:sp>
        <p:nvSpPr>
          <p:cNvPr id="19" name="">
            <a:extLst xmlns:a="http://schemas.openxmlformats.org/drawingml/2006/main">
              <a:ext uri="{FF2B5EF4-FFF2-40B4-BE49-F238E27FC236}">
                <a16:creationId xmlns:a16="http://schemas.microsoft.com/office/drawing/2014/main" id="{A37D0C5C-57F7-4061-8C32-76AAD5A2E6E9}"/>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2D3308A7-E9AB-4B69-9584-AFFEC34FEF4F}"/>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3ac171b3be714c1a"/>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6330EC6-7271-4FA1-8AC4-330FB3077541}"/>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Transcribe the speech</a:t>
            </a:r>
          </a:p>
        </p:txBody>
      </p:sp>
      <p:sp>
        <p:nvSpPr>
          <p:cNvPr id="23" name="">
            <a:extLst xmlns:a="http://schemas.openxmlformats.org/drawingml/2006/main">
              <a:ext uri="{FF2B5EF4-FFF2-40B4-BE49-F238E27FC236}">
                <a16:creationId xmlns:a16="http://schemas.microsoft.com/office/drawing/2014/main" id="{0A6BAEE0-D571-4181-BA34-BDE0E0DC4385}"/>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4" name="">
            <a:extLst xmlns:a="http://schemas.openxmlformats.org/drawingml/2006/main">
              <a:ext uri="{FF2B5EF4-FFF2-40B4-BE49-F238E27FC236}">
                <a16:creationId xmlns:a16="http://schemas.microsoft.com/office/drawing/2014/main" id="{66BC5A9B-2CFA-4610-9746-1844CB20BC7F}"/>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5" name="">
            <a:extLst xmlns:a="http://schemas.openxmlformats.org/drawingml/2006/main">
              <a:ext uri="{FF2B5EF4-FFF2-40B4-BE49-F238E27FC236}">
                <a16:creationId xmlns:a16="http://schemas.microsoft.com/office/drawing/2014/main" id="{0E8B7CFF-B8F3-420A-8039-3CBD94C6C0AE}"/>
              </a:ext>
            </a:extLst>
          </p:cNvPr>
          <p:cNvSpPr>
            <a:spLocks xmlns:a="http://schemas.openxmlformats.org/drawingml/2006/main" noGrp="1"/>
          </p:cNvSpPr>
          <p:nvPr/>
        </p:nvSpPr>
        <p:spPr>
          <a:xfrm xmlns:a="http://schemas.openxmlformats.org/drawingml/2006/main">
            <a:off x="244792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1b9ea77c4cc4dcc"/>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3430E10B-E2AE-489C-8763-698E4D330928}"/>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Submit the transcript</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1" name=""/>
          <p:cNvCxnSpPr>
            <a:stCxn xmlns:a="http://schemas.openxmlformats.org/drawingml/2006/main" id="9" idx="3"/>
            <a:endCxn xmlns:a="http://schemas.openxmlformats.org/drawingml/2006/main" id="12"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2" name=""/>
          <p:cNvCxnSpPr>
            <a:stCxn xmlns:a="http://schemas.openxmlformats.org/drawingml/2006/main" id="12" idx="2"/>
            <a:endCxn xmlns:a="http://schemas.openxmlformats.org/drawingml/2006/main" id="15"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3" name=""/>
          <p:cNvCxnSpPr>
            <a:stCxn xmlns:a="http://schemas.openxmlformats.org/drawingml/2006/main" id="15"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4" name=""/>
          <p:cNvCxnSpPr>
            <a:stCxn xmlns:a="http://schemas.openxmlformats.org/drawingml/2006/main" id="19" idx="1"/>
            <a:endCxn xmlns:a="http://schemas.openxmlformats.org/drawingml/2006/main" id="23"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377139046"/>
      </p:ext>
    </p:extLst>
  </p:cSld>
</p:sld>
</file>

<file path=ppt/slides/slide8.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48775a5af4e48f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014F9B-DFA8-47DF-B14F-E82AAF93F998}"/>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02564B59-042A-4353-B2BE-9C81F4AE9D6F}"/>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AI response and speech playback</a:t>
            </a:r>
          </a:p>
        </p:txBody>
      </p:sp>
      <p:sp>
        <p:nvSpPr>
          <p:cNvPr id="4" name="">
            <a:extLst xmlns:a="http://schemas.openxmlformats.org/drawingml/2006/main">
              <a:ext uri="{FF2B5EF4-FFF2-40B4-BE49-F238E27FC236}">
                <a16:creationId xmlns:a16="http://schemas.microsoft.com/office/drawing/2014/main" id="{31128C00-4E6C-4559-B482-75117F7F7342}"/>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1D81451-5AB7-4BD6-B1EA-5250A54A6374}"/>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90DCF1B0-01C1-442E-B70A-E44703C751A4}"/>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49cdceaee0e4a08"/>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B8F608B-CB68-4030-8FB1-EE8174FB16A5}"/>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Reason and act</a:t>
            </a:r>
          </a:p>
        </p:txBody>
      </p:sp>
      <p:sp>
        <p:nvSpPr>
          <p:cNvPr id="9" name="">
            <a:extLst xmlns:a="http://schemas.openxmlformats.org/drawingml/2006/main">
              <a:ext uri="{FF2B5EF4-FFF2-40B4-BE49-F238E27FC236}">
                <a16:creationId xmlns:a16="http://schemas.microsoft.com/office/drawing/2014/main" id="{9790CFE7-75C5-4561-92DA-B91E28404FBD}"/>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908FE4DD-7212-48D3-91D3-844AB71CDB7B}"/>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FD5B6D5-F456-4676-9158-B07432ECA92A}"/>
              </a:ext>
            </a:extLst>
          </p:cNvPr>
          <p:cNvSpPr>
            <a:spLocks xmlns:a="http://schemas.openxmlformats.org/drawingml/2006/main" noGrp="1"/>
          </p:cNvSpPr>
          <p:nvPr/>
        </p:nvSpPr>
        <p:spPr>
          <a:xfrm xmlns:a="http://schemas.openxmlformats.org/drawingml/2006/main">
            <a:off x="8686800"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a10d37bb4b14089"/>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017EEBC-AF0E-476D-8885-A5AF1F568D29}"/>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Clean the answer</a:t>
            </a:r>
          </a:p>
        </p:txBody>
      </p:sp>
      <p:sp>
        <p:nvSpPr>
          <p:cNvPr id="14" name="">
            <a:extLst xmlns:a="http://schemas.openxmlformats.org/drawingml/2006/main">
              <a:ext uri="{FF2B5EF4-FFF2-40B4-BE49-F238E27FC236}">
                <a16:creationId xmlns:a16="http://schemas.microsoft.com/office/drawing/2014/main" id="{BF6FBB4D-C98F-452A-BAA7-F46D6AC68424}"/>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897831CB-9953-47B6-A72E-A0F6D6BBE15E}"/>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3d5b193050947c3"/>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67B27A3-FC75-4C0C-A5B9-0E57D9EED2E8}"/>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Request speech</a:t>
            </a:r>
          </a:p>
        </p:txBody>
      </p:sp>
      <p:sp>
        <p:nvSpPr>
          <p:cNvPr id="18" name="">
            <a:extLst xmlns:a="http://schemas.openxmlformats.org/drawingml/2006/main">
              <a:ext uri="{FF2B5EF4-FFF2-40B4-BE49-F238E27FC236}">
                <a16:creationId xmlns:a16="http://schemas.microsoft.com/office/drawing/2014/main" id="{771C8C04-F0AB-4686-9010-6C03C2244DDC}"/>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9" name="">
            <a:extLst xmlns:a="http://schemas.openxmlformats.org/drawingml/2006/main">
              <a:ext uri="{FF2B5EF4-FFF2-40B4-BE49-F238E27FC236}">
                <a16:creationId xmlns:a16="http://schemas.microsoft.com/office/drawing/2014/main" id="{27A2DD38-61C6-4601-B832-0BB6B7C0AF72}"/>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f83b85e10ade47fc"/>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FF665C5-BEF8-4E96-A93E-1E53A7624B7E}"/>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Synthesize with Polly</a:t>
            </a:r>
          </a:p>
        </p:txBody>
      </p:sp>
      <p:sp>
        <p:nvSpPr>
          <p:cNvPr id="22" name="">
            <a:extLst xmlns:a="http://schemas.openxmlformats.org/drawingml/2006/main">
              <a:ext uri="{FF2B5EF4-FFF2-40B4-BE49-F238E27FC236}">
                <a16:creationId xmlns:a16="http://schemas.microsoft.com/office/drawing/2014/main" id="{8C3F5B50-E79F-4944-BFEA-57217924B77C}"/>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E49E7565-04A6-4DF4-9AA6-6729161248ED}"/>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EC12C65C-0F87-46DC-BE96-21EE66DC20C6}"/>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Play the response</a:t>
            </a:r>
          </a:p>
        </p:txBody>
      </p:sp>
      <p:sp>
        <p:nvSpPr>
          <p:cNvPr id="25" name="">
            <a:extLst xmlns:a="http://schemas.openxmlformats.org/drawingml/2006/main">
              <a:ext uri="{FF2B5EF4-FFF2-40B4-BE49-F238E27FC236}">
                <a16:creationId xmlns:a16="http://schemas.microsoft.com/office/drawing/2014/main" id="{837048B2-B822-4A9C-8A04-7FC6D79A605C}"/>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6" name="">
            <a:extLst xmlns:a="http://schemas.openxmlformats.org/drawingml/2006/main">
              <a:ext uri="{FF2B5EF4-FFF2-40B4-BE49-F238E27FC236}">
                <a16:creationId xmlns:a16="http://schemas.microsoft.com/office/drawing/2014/main" id="{6F05B59C-AFEC-4E80-8E41-5FCF163168E4}"/>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6DC47BBB-D528-432C-B3AC-C134EE17CA3C}"/>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Resume listening</a:t>
            </a:r>
          </a:p>
        </p:txBody>
      </p:sp>
      <p:cxnSp>
        <p:nvCxnSpPr>
          <p:cNvPr id="60"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1" name=""/>
          <p:cNvCxnSpPr>
            <a:stCxn xmlns:a="http://schemas.openxmlformats.org/drawingml/2006/main" id="9" idx="3"/>
            <a:endCxn xmlns:a="http://schemas.openxmlformats.org/drawingml/2006/main" id="14"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2" name=""/>
          <p:cNvCxnSpPr>
            <a:stCxn xmlns:a="http://schemas.openxmlformats.org/drawingml/2006/main" id="14" idx="2"/>
            <a:endCxn xmlns:a="http://schemas.openxmlformats.org/drawingml/2006/main" id="18"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3" name=""/>
          <p:cNvCxnSpPr>
            <a:stCxn xmlns:a="http://schemas.openxmlformats.org/drawingml/2006/main" id="18"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4" name=""/>
          <p:cNvCxnSpPr>
            <a:stCxn xmlns:a="http://schemas.openxmlformats.org/drawingml/2006/main" id="22" idx="1"/>
            <a:endCxn xmlns:a="http://schemas.openxmlformats.org/drawingml/2006/main" id="25"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913335517"/>
      </p:ext>
    </p:extLst>
  </p:cSld>
</p:sld>
</file>

<file path=ppt/slides/slide9.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01dc314e9594ad7"/>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1BE926-0324-4DA7-A5B6-0EB88D2FE07C}"/>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355119DE-A827-42F3-AE1A-AAC9B4D9A2E6}"/>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Call recording and conversation history</a:t>
            </a:r>
          </a:p>
        </p:txBody>
      </p:sp>
      <p:sp>
        <p:nvSpPr>
          <p:cNvPr id="4" name="">
            <a:extLst xmlns:a="http://schemas.openxmlformats.org/drawingml/2006/main">
              <a:ext uri="{FF2B5EF4-FFF2-40B4-BE49-F238E27FC236}">
                <a16:creationId xmlns:a16="http://schemas.microsoft.com/office/drawing/2014/main" id="{5A9DF1C4-D524-4F81-A6D4-A18F5DB87CB2}"/>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A9EA5F8F-30FA-441E-9225-39637A6AD5A0}"/>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AA1E45E3-5D29-47BA-BC19-D7E121000649}"/>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F5BC45F-11EE-45B4-BA63-9A536ECCCCDD}"/>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Mix both sides</a:t>
            </a:r>
          </a:p>
        </p:txBody>
      </p:sp>
      <p:sp>
        <p:nvSpPr>
          <p:cNvPr id="8" name="">
            <a:extLst xmlns:a="http://schemas.openxmlformats.org/drawingml/2006/main">
              <a:ext uri="{FF2B5EF4-FFF2-40B4-BE49-F238E27FC236}">
                <a16:creationId xmlns:a16="http://schemas.microsoft.com/office/drawing/2014/main" id="{96D3475F-74A1-4892-8B57-CFAEAD6E32A4}"/>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33764E98-0EC8-4672-BD95-8B46B942E503}"/>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1FF9F3C-E58A-48FF-B4E8-AAA6F13E0FE4}"/>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Record the call</a:t>
            </a:r>
          </a:p>
        </p:txBody>
      </p:sp>
      <p:sp>
        <p:nvSpPr>
          <p:cNvPr id="11" name="">
            <a:extLst xmlns:a="http://schemas.openxmlformats.org/drawingml/2006/main">
              <a:ext uri="{FF2B5EF4-FFF2-40B4-BE49-F238E27FC236}">
                <a16:creationId xmlns:a16="http://schemas.microsoft.com/office/drawing/2014/main" id="{243E2E35-AABA-4CD2-8C4D-53F91F2B8615}"/>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FD4D9A59-3CE8-4182-8D81-C5CA5E1C1F72}"/>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cace80808814a4b"/>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6494D07-671D-4965-A3BC-B98C6A727EEE}"/>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recording</a:t>
            </a:r>
          </a:p>
        </p:txBody>
      </p:sp>
      <p:sp>
        <p:nvSpPr>
          <p:cNvPr id="15" name="">
            <a:extLst xmlns:a="http://schemas.openxmlformats.org/drawingml/2006/main">
              <a:ext uri="{FF2B5EF4-FFF2-40B4-BE49-F238E27FC236}">
                <a16:creationId xmlns:a16="http://schemas.microsoft.com/office/drawing/2014/main" id="{CAA63D8B-7D66-481A-88A2-96169C5B4FCD}"/>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 name="">
            <a:extLst xmlns:a="http://schemas.openxmlformats.org/drawingml/2006/main">
              <a:ext uri="{FF2B5EF4-FFF2-40B4-BE49-F238E27FC236}">
                <a16:creationId xmlns:a16="http://schemas.microsoft.com/office/drawing/2014/main" id="{7CF2D17B-0DC5-4491-B9E0-236C7283CF11}"/>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d7614648ee14b81"/>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71BF787-C7EB-4B80-A935-292BABA46247}"/>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audio in S3</a:t>
            </a:r>
          </a:p>
        </p:txBody>
      </p:sp>
      <p:sp>
        <p:nvSpPr>
          <p:cNvPr id="19" name="">
            <a:extLst xmlns:a="http://schemas.openxmlformats.org/drawingml/2006/main">
              <a:ext uri="{FF2B5EF4-FFF2-40B4-BE49-F238E27FC236}">
                <a16:creationId xmlns:a16="http://schemas.microsoft.com/office/drawing/2014/main" id="{948B74E4-1C2E-46AD-9CB6-8190F00EF279}"/>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F7FC6551-7A44-4F14-9E84-6DD194C97547}"/>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885A0A87-937C-46FE-9A50-A4846197C372}"/>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the reference</a:t>
            </a:r>
          </a:p>
        </p:txBody>
      </p:sp>
      <p:sp>
        <p:nvSpPr>
          <p:cNvPr id="22" name="">
            <a:extLst xmlns:a="http://schemas.openxmlformats.org/drawingml/2006/main">
              <a:ext uri="{FF2B5EF4-FFF2-40B4-BE49-F238E27FC236}">
                <a16:creationId xmlns:a16="http://schemas.microsoft.com/office/drawing/2014/main" id="{6CEA5382-45B4-46E6-926F-CD5CC03B6A15}"/>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CF278760-7CEB-41C7-803E-B92E86452415}"/>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BA7D0EAD-4F46-41A2-98C9-152C8BCC8D4F}"/>
              </a:ext>
            </a:extLst>
          </p:cNvPr>
          <p:cNvSpPr>
            <a:spLocks xmlns:a="http://schemas.openxmlformats.org/drawingml/2006/main" noGrp="1"/>
          </p:cNvSpPr>
          <p:nvPr/>
        </p:nvSpPr>
        <p:spPr>
          <a:xfrm xmlns:a="http://schemas.openxmlformats.org/drawingml/2006/main">
            <a:off x="244792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062dea75e7040c5"/>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91B7B3F6-6A02-4C1A-B79B-7044C088C0D3}"/>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Admin playback</a:t>
            </a:r>
          </a:p>
        </p:txBody>
      </p:sp>
      <p:cxnSp>
        <p:nvCxnSpPr>
          <p:cNvPr id="58"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9"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0" name=""/>
          <p:cNvCxnSpPr>
            <a:stCxn xmlns:a="http://schemas.openxmlformats.org/drawingml/2006/main" id="11" idx="2"/>
            <a:endCxn xmlns:a="http://schemas.openxmlformats.org/drawingml/2006/main" id="15"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1" name=""/>
          <p:cNvCxnSpPr>
            <a:stCxn xmlns:a="http://schemas.openxmlformats.org/drawingml/2006/main" id="15"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62"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656380173"/>
      </p:ext>
    </p:extLst>
  </p:cSld>
</p:sld>
</file>

<file path=ppt/slides/slide10.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d6dcc4fd11345db"/>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5EEF46-DD89-47DD-BF6A-067A11E517E5}"/>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8078F5EA-507E-4873-BF85-A1BD83048D3B}"/>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Delivery order confirmation</a:t>
            </a:r>
          </a:p>
        </p:txBody>
      </p:sp>
      <p:sp>
        <p:nvSpPr>
          <p:cNvPr id="4" name="">
            <a:extLst xmlns:a="http://schemas.openxmlformats.org/drawingml/2006/main">
              <a:ext uri="{FF2B5EF4-FFF2-40B4-BE49-F238E27FC236}">
                <a16:creationId xmlns:a16="http://schemas.microsoft.com/office/drawing/2014/main" id="{4FB4D8E7-A57B-4CD9-917E-64B8EC84312F}"/>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14398C0-F236-419A-9BC8-37E1966E0AE0}"/>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698DB4B9-BB1D-42BB-8C5A-DBFB44FBE2E2}"/>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3BAAEEC-F3F1-4F1D-B8D4-EB8CF8CEC73F}"/>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Find and validate</a:t>
            </a:r>
          </a:p>
        </p:txBody>
      </p:sp>
      <p:sp>
        <p:nvSpPr>
          <p:cNvPr id="8" name="">
            <a:extLst xmlns:a="http://schemas.openxmlformats.org/drawingml/2006/main">
              <a:ext uri="{FF2B5EF4-FFF2-40B4-BE49-F238E27FC236}">
                <a16:creationId xmlns:a16="http://schemas.microsoft.com/office/drawing/2014/main" id="{3F4A6D18-5C04-46F4-ACC3-7C34616C32C6}"/>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4BC1EACE-4475-4F00-8FF1-8DC1F34A3E04}"/>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CEA47EF-55A7-45D6-9913-8883452EF2D4}"/>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Confirm the address</a:t>
            </a:r>
          </a:p>
        </p:txBody>
      </p:sp>
      <p:sp>
        <p:nvSpPr>
          <p:cNvPr id="11" name="">
            <a:extLst xmlns:a="http://schemas.openxmlformats.org/drawingml/2006/main">
              <a:ext uri="{FF2B5EF4-FFF2-40B4-BE49-F238E27FC236}">
                <a16:creationId xmlns:a16="http://schemas.microsoft.com/office/drawing/2014/main" id="{F9E2291D-36D5-487D-A8A3-53F7206746BF}"/>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4EAE6259-6163-4F54-9ED6-03641B724FBC}"/>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0BF5B02-89E7-4A58-AEF0-468E74383CA2}"/>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b81d316c7204dd1"/>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86854FE-25C8-4A44-86C0-2D2E99D215B3}"/>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draft</a:t>
            </a:r>
          </a:p>
        </p:txBody>
      </p:sp>
      <p:sp>
        <p:nvSpPr>
          <p:cNvPr id="16" name="">
            <a:extLst xmlns:a="http://schemas.openxmlformats.org/drawingml/2006/main">
              <a:ext uri="{FF2B5EF4-FFF2-40B4-BE49-F238E27FC236}">
                <a16:creationId xmlns:a16="http://schemas.microsoft.com/office/drawing/2014/main" id="{073885C9-FFF5-4859-A6CD-86FB324E10DE}"/>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7" name="">
            <a:extLst xmlns:a="http://schemas.openxmlformats.org/drawingml/2006/main">
              <a:ext uri="{FF2B5EF4-FFF2-40B4-BE49-F238E27FC236}">
                <a16:creationId xmlns:a16="http://schemas.microsoft.com/office/drawing/2014/main" id="{CE36C9D2-9075-4363-B3B1-2D6BEAB6ACDA}"/>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9B40F516-2B4C-45DD-80E0-3E07F05BE823}"/>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Review the summary</a:t>
            </a:r>
          </a:p>
        </p:txBody>
      </p:sp>
      <p:sp>
        <p:nvSpPr>
          <p:cNvPr id="19" name="">
            <a:extLst xmlns:a="http://schemas.openxmlformats.org/drawingml/2006/main">
              <a:ext uri="{FF2B5EF4-FFF2-40B4-BE49-F238E27FC236}">
                <a16:creationId xmlns:a16="http://schemas.microsoft.com/office/drawing/2014/main" id="{9EE22B0E-2668-4F58-BB00-B7E4493AE8D3}"/>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4F584631-FF49-4650-A317-CD17B8D64FA1}"/>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34141D7C-0070-4137-B9F7-CDFF50403E75}"/>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Confirm and recheck</a:t>
            </a:r>
          </a:p>
        </p:txBody>
      </p:sp>
      <p:sp>
        <p:nvSpPr>
          <p:cNvPr id="22" name="">
            <a:extLst xmlns:a="http://schemas.openxmlformats.org/drawingml/2006/main">
              <a:ext uri="{FF2B5EF4-FFF2-40B4-BE49-F238E27FC236}">
                <a16:creationId xmlns:a16="http://schemas.microsoft.com/office/drawing/2014/main" id="{CBCF3C0F-6342-43DA-9824-1BC994D06D0E}"/>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94082BB3-D6FA-478F-93B1-47798133833E}"/>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04BB3CA9-494A-40D6-A0A9-567F41CE6B0E}"/>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the order</a:t>
            </a:r>
          </a:p>
        </p:txBody>
      </p:sp>
      <p:cxnSp>
        <p:nvCxnSpPr>
          <p:cNvPr id="54"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5"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6" name=""/>
          <p:cNvCxnSpPr>
            <a:stCxn xmlns:a="http://schemas.openxmlformats.org/drawingml/2006/main" id="11" idx="2"/>
            <a:endCxn xmlns:a="http://schemas.openxmlformats.org/drawingml/2006/main" id="16"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7" name=""/>
          <p:cNvCxnSpPr>
            <a:stCxn xmlns:a="http://schemas.openxmlformats.org/drawingml/2006/main" id="16"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8"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633588329"/>
      </p:ext>
    </p:extLst>
  </p:cSld>
</p:sld>
</file>

<file path=ppt/slides/slide1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bc1d7b281db4411"/>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387C53-26F1-41CB-ACA7-87E0977A77C7}"/>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6E25E9E3-B7C6-43FE-8142-7B3DD56BCF07}"/>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Table reservation confirmation</a:t>
            </a:r>
          </a:p>
        </p:txBody>
      </p:sp>
      <p:sp>
        <p:nvSpPr>
          <p:cNvPr id="4" name="">
            <a:extLst xmlns:a="http://schemas.openxmlformats.org/drawingml/2006/main">
              <a:ext uri="{FF2B5EF4-FFF2-40B4-BE49-F238E27FC236}">
                <a16:creationId xmlns:a16="http://schemas.microsoft.com/office/drawing/2014/main" id="{450482EA-04D2-41AB-B712-B0DEFC426D3C}"/>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29AC534-0E5E-4D63-BD6A-72FD5A05A460}"/>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C791AFA5-8D28-4487-B0B5-E99282BFB861}"/>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7E29FA6-C6BB-494E-B669-0363FBA7FDE5}"/>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Collect the details</a:t>
            </a:r>
          </a:p>
        </p:txBody>
      </p:sp>
      <p:sp>
        <p:nvSpPr>
          <p:cNvPr id="8" name="">
            <a:extLst xmlns:a="http://schemas.openxmlformats.org/drawingml/2006/main">
              <a:ext uri="{FF2B5EF4-FFF2-40B4-BE49-F238E27FC236}">
                <a16:creationId xmlns:a16="http://schemas.microsoft.com/office/drawing/2014/main" id="{E8036E10-85B5-4A03-A91D-6FF03FE6F1C6}"/>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9" name="">
            <a:extLst xmlns:a="http://schemas.openxmlformats.org/drawingml/2006/main">
              <a:ext uri="{FF2B5EF4-FFF2-40B4-BE49-F238E27FC236}">
                <a16:creationId xmlns:a16="http://schemas.microsoft.com/office/drawing/2014/main" id="{2662DEE3-1654-43A9-B2F1-A57219227CC2}"/>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B49221BB-A408-4EBA-B74D-85D25F811A50}"/>
              </a:ext>
            </a:extLst>
          </p:cNvPr>
          <p:cNvSpPr>
            <a:spLocks xmlns:a="http://schemas.openxmlformats.org/drawingml/2006/main" noGrp="1"/>
          </p:cNvSpPr>
          <p:nvPr/>
        </p:nvSpPr>
        <p:spPr>
          <a:xfrm xmlns:a="http://schemas.openxmlformats.org/drawingml/2006/main">
            <a:off x="7048500"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Check availability</a:t>
            </a:r>
          </a:p>
        </p:txBody>
      </p:sp>
      <p:sp>
        <p:nvSpPr>
          <p:cNvPr id="11" name="">
            <a:extLst xmlns:a="http://schemas.openxmlformats.org/drawingml/2006/main">
              <a:ext uri="{FF2B5EF4-FFF2-40B4-BE49-F238E27FC236}">
                <a16:creationId xmlns:a16="http://schemas.microsoft.com/office/drawing/2014/main" id="{05375952-4333-4074-9155-03EF62C9FA8D}"/>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2" name="">
            <a:extLst xmlns:a="http://schemas.openxmlformats.org/drawingml/2006/main">
              <a:ext uri="{FF2B5EF4-FFF2-40B4-BE49-F238E27FC236}">
                <a16:creationId xmlns:a16="http://schemas.microsoft.com/office/drawing/2014/main" id="{F2E89FE4-E138-4DE9-9B8D-74FF5477CCA1}"/>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FAF5F56-9078-4048-8DBC-5D36E87B4DF2}"/>
              </a:ext>
            </a:extLst>
          </p:cNvPr>
          <p:cNvSpPr>
            <a:spLocks xmlns:a="http://schemas.openxmlformats.org/drawingml/2006/main" noGrp="1"/>
          </p:cNvSpPr>
          <p:nvPr/>
        </p:nvSpPr>
        <p:spPr>
          <a:xfrm xmlns:a="http://schemas.openxmlformats.org/drawingml/2006/main">
            <a:off x="14925675" y="357187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31e673e3a164a34"/>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AC2426-E645-404B-B4E0-BC7D07C0B668}"/>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a draft</a:t>
            </a:r>
          </a:p>
        </p:txBody>
      </p:sp>
      <p:sp>
        <p:nvSpPr>
          <p:cNvPr id="16" name="">
            <a:extLst xmlns:a="http://schemas.openxmlformats.org/drawingml/2006/main">
              <a:ext uri="{FF2B5EF4-FFF2-40B4-BE49-F238E27FC236}">
                <a16:creationId xmlns:a16="http://schemas.microsoft.com/office/drawing/2014/main" id="{A6E6C2CF-E66F-4029-9E8D-04D51FBF2686}"/>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7" name="">
            <a:extLst xmlns:a="http://schemas.openxmlformats.org/drawingml/2006/main">
              <a:ext uri="{FF2B5EF4-FFF2-40B4-BE49-F238E27FC236}">
                <a16:creationId xmlns:a16="http://schemas.microsoft.com/office/drawing/2014/main" id="{FB8E9562-0646-49D6-A1D2-F5F3D99383B3}"/>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63A2B436-871F-45F0-AD3F-00927FC38C56}"/>
              </a:ext>
            </a:extLst>
          </p:cNvPr>
          <p:cNvSpPr>
            <a:spLocks xmlns:a="http://schemas.openxmlformats.org/drawingml/2006/main" noGrp="1"/>
          </p:cNvSpPr>
          <p:nvPr/>
        </p:nvSpPr>
        <p:spPr>
          <a:xfrm xmlns:a="http://schemas.openxmlformats.org/drawingml/2006/main">
            <a:off x="1328737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Review the booking</a:t>
            </a:r>
          </a:p>
        </p:txBody>
      </p:sp>
      <p:sp>
        <p:nvSpPr>
          <p:cNvPr id="19" name="">
            <a:extLst xmlns:a="http://schemas.openxmlformats.org/drawingml/2006/main">
              <a:ext uri="{FF2B5EF4-FFF2-40B4-BE49-F238E27FC236}">
                <a16:creationId xmlns:a16="http://schemas.microsoft.com/office/drawing/2014/main" id="{E9A2DFFB-F912-4CB7-BAB0-237D957C84FF}"/>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D2453C3B-CF99-4180-9FA7-2000FE77587C}"/>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9747542C-3C9E-4982-8BF2-5609133B57CC}"/>
              </a:ext>
            </a:extLst>
          </p:cNvPr>
          <p:cNvSpPr>
            <a:spLocks xmlns:a="http://schemas.openxmlformats.org/drawingml/2006/main" noGrp="1"/>
          </p:cNvSpPr>
          <p:nvPr/>
        </p:nvSpPr>
        <p:spPr>
          <a:xfrm xmlns:a="http://schemas.openxmlformats.org/drawingml/2006/main">
            <a:off x="7048500"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Recheck the tables</a:t>
            </a:r>
          </a:p>
        </p:txBody>
      </p:sp>
      <p:sp>
        <p:nvSpPr>
          <p:cNvPr id="22" name="">
            <a:extLst xmlns:a="http://schemas.openxmlformats.org/drawingml/2006/main">
              <a:ext uri="{FF2B5EF4-FFF2-40B4-BE49-F238E27FC236}">
                <a16:creationId xmlns:a16="http://schemas.microsoft.com/office/drawing/2014/main" id="{9AC2B366-BDD7-4D44-B2E3-5D2F22B369CD}"/>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DB202AE1-8A29-4AB0-869C-26A9BB4D57D5}"/>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8DFB00B9-DDB3-4339-9682-C0C88155ADE6}"/>
              </a:ext>
            </a:extLst>
          </p:cNvPr>
          <p:cNvSpPr>
            <a:spLocks xmlns:a="http://schemas.openxmlformats.org/drawingml/2006/main" noGrp="1"/>
          </p:cNvSpPr>
          <p:nvPr/>
        </p:nvSpPr>
        <p:spPr>
          <a:xfrm xmlns:a="http://schemas.openxmlformats.org/drawingml/2006/main">
            <a:off x="809625" y="71628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Assign and confirm</a:t>
            </a:r>
          </a:p>
        </p:txBody>
      </p:sp>
      <p:cxnSp>
        <p:nvCxnSpPr>
          <p:cNvPr id="54" name=""/>
          <p:cNvCxnSpPr>
            <a:stCxn xmlns:a="http://schemas.openxmlformats.org/drawingml/2006/main" id="5" idx="3"/>
            <a:endCxn xmlns:a="http://schemas.openxmlformats.org/drawingml/2006/main" id="8"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5" name=""/>
          <p:cNvCxnSpPr>
            <a:stCxn xmlns:a="http://schemas.openxmlformats.org/drawingml/2006/main" id="8" idx="3"/>
            <a:endCxn xmlns:a="http://schemas.openxmlformats.org/drawingml/2006/main" id="11"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6" name=""/>
          <p:cNvCxnSpPr>
            <a:stCxn xmlns:a="http://schemas.openxmlformats.org/drawingml/2006/main" id="11" idx="2"/>
            <a:endCxn xmlns:a="http://schemas.openxmlformats.org/drawingml/2006/main" id="16"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7" name=""/>
          <p:cNvCxnSpPr>
            <a:stCxn xmlns:a="http://schemas.openxmlformats.org/drawingml/2006/main" id="16" idx="1"/>
            <a:endCxn xmlns:a="http://schemas.openxmlformats.org/drawingml/2006/main" id="19"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cxnSp>
        <p:nvCxnSpPr>
          <p:cNvPr id="58" name=""/>
          <p:cNvCxnSpPr>
            <a:stCxn xmlns:a="http://schemas.openxmlformats.org/drawingml/2006/main" id="19" idx="1"/>
            <a:endCxn xmlns:a="http://schemas.openxmlformats.org/drawingml/2006/main" id="22"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headEnd type="triangle" w="med" len="med"/>
          </a:ln>
        </p:spPr>
      </p:cxnSp>
    </p:spTree>
    <p:extLst>
      <p:ext uri="{BB962C8B-B14F-4D97-AF65-F5344CB8AC3E}">
        <p14:creationId xmlns:p14="http://schemas.microsoft.com/office/powerpoint/2010/main" val="2098355966"/>
      </p:ext>
    </p:extLst>
  </p:cSld>
</p:sld>
</file>

<file path=ppt/slides/slide1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5fe1360cc0641d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4DF7B2-7F30-482A-8017-2A8D83E917B8}"/>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AE20C793-40B1-4BC0-BA34-80F4658D5ADA}"/>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Planned SageMaker demand forecasting</a:t>
            </a:r>
          </a:p>
        </p:txBody>
      </p:sp>
      <p:sp>
        <p:nvSpPr>
          <p:cNvPr id="4" name="">
            <a:extLst xmlns:a="http://schemas.openxmlformats.org/drawingml/2006/main">
              <a:ext uri="{FF2B5EF4-FFF2-40B4-BE49-F238E27FC236}">
                <a16:creationId xmlns:a16="http://schemas.microsoft.com/office/drawing/2014/main" id="{929EACD8-C92D-4520-BEB6-F6CCC9EC61A6}"/>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006CAD53-7883-4AF7-AD36-5B4B0A7AAE80}"/>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D271BB31-1C46-43E2-A0A8-DE262116CBA7}"/>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CE72736C-E60C-4F1A-B642-473C61294B08}"/>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FF1510E-398A-4D5C-A11D-8555D294E067}"/>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Prepare history</a:t>
            </a:r>
          </a:p>
        </p:txBody>
      </p:sp>
      <p:sp>
        <p:nvSpPr>
          <p:cNvPr id="9" name="">
            <a:extLst xmlns:a="http://schemas.openxmlformats.org/drawingml/2006/main">
              <a:ext uri="{FF2B5EF4-FFF2-40B4-BE49-F238E27FC236}">
                <a16:creationId xmlns:a16="http://schemas.microsoft.com/office/drawing/2014/main" id="{0912039E-F722-44CA-BCC6-EAC6A8E1AF06}"/>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B3F7899D-BB19-43EF-A0C9-45F08ADD1D1F}"/>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c9380e9e4e049ff"/>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4769520-9CE6-4990-A274-DA45D91C4156}"/>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Create the dataset</a:t>
            </a:r>
          </a:p>
        </p:txBody>
      </p:sp>
      <p:sp>
        <p:nvSpPr>
          <p:cNvPr id="13" name="">
            <a:extLst xmlns:a="http://schemas.openxmlformats.org/drawingml/2006/main">
              <a:ext uri="{FF2B5EF4-FFF2-40B4-BE49-F238E27FC236}">
                <a16:creationId xmlns:a16="http://schemas.microsoft.com/office/drawing/2014/main" id="{E830FE04-4717-4CB2-9D8F-EFD1E1ED95BC}"/>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DB9AE41C-6FA1-4A54-9ACA-076347F4A27D}"/>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911f60bac2594d33"/>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2AEAA84-4F04-472E-B3E6-7038556547F2}"/>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Train and evaluate</a:t>
            </a:r>
          </a:p>
        </p:txBody>
      </p:sp>
      <p:sp>
        <p:nvSpPr>
          <p:cNvPr id="17" name="">
            <a:extLst xmlns:a="http://schemas.openxmlformats.org/drawingml/2006/main">
              <a:ext uri="{FF2B5EF4-FFF2-40B4-BE49-F238E27FC236}">
                <a16:creationId xmlns:a16="http://schemas.microsoft.com/office/drawing/2014/main" id="{C76A7B59-16DB-4682-8339-F54C14C29C34}"/>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5B5B92A6-8B3F-44CD-9C5F-11082DE50A39}"/>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502086e8b51b4ab4"/>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C00693CA-8C1D-4383-A858-FDD2F65EC808}"/>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Run inference</a:t>
            </a:r>
          </a:p>
        </p:txBody>
      </p:sp>
      <p:sp>
        <p:nvSpPr>
          <p:cNvPr id="21" name="">
            <a:extLst xmlns:a="http://schemas.openxmlformats.org/drawingml/2006/main">
              <a:ext uri="{FF2B5EF4-FFF2-40B4-BE49-F238E27FC236}">
                <a16:creationId xmlns:a16="http://schemas.microsoft.com/office/drawing/2014/main" id="{6061816F-4ADC-4B68-B5C8-9A9A7A64D13D}"/>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210931C2-8983-434C-B045-D854DA98472D}"/>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25AFBFDB-6422-4AB1-9E1B-198DC5F8A939}"/>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791364276da04fda"/>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23457BA7-FD98-41E2-9604-02A340E0C143}"/>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Apply business rules</a:t>
            </a:r>
          </a:p>
        </p:txBody>
      </p:sp>
      <p:sp>
        <p:nvSpPr>
          <p:cNvPr id="26" name="">
            <a:extLst xmlns:a="http://schemas.openxmlformats.org/drawingml/2006/main">
              <a:ext uri="{FF2B5EF4-FFF2-40B4-BE49-F238E27FC236}">
                <a16:creationId xmlns:a16="http://schemas.microsoft.com/office/drawing/2014/main" id="{99E58A99-8D79-4BAC-B589-71B39AEF38F9}"/>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F9AD61A3-B3A5-45FC-B5A8-404920FBC886}"/>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12f2ed39044b493f"/>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7230E218-8B2C-4760-8A94-AA47BD91CBC2}"/>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Show recommendations</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head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head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head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head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headEnd type="triangle" w="med" len="med"/>
          </a:ln>
        </p:spPr>
      </p:cxnSp>
      <p:sp>
        <p:nvSpPr>
          <p:cNvPr id="35" name="">
            <a:extLst xmlns:a="http://schemas.openxmlformats.org/drawingml/2006/main">
              <a:ext uri="{FF2B5EF4-FFF2-40B4-BE49-F238E27FC236}">
                <a16:creationId xmlns:a16="http://schemas.microsoft.com/office/drawing/2014/main" id="{E188F199-1341-4534-B487-786725CACB9B}"/>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274880657"/>
      </p:ext>
    </p:extLst>
  </p:cSld>
</p:sld>
</file>

<file path=ppt/slides/slide1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3fc038ea42b40ac"/>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C6C97E8-CBCC-4C15-80DE-2593A66B1D8C}"/>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5C4E718D-F9A6-4288-85ED-B0BB5A9F0C2C}"/>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Implementation status</a:t>
            </a:r>
          </a:p>
        </p:txBody>
      </p:sp>
      <p:sp>
        <p:nvSpPr>
          <p:cNvPr id="4" name="">
            <a:extLst xmlns:a="http://schemas.openxmlformats.org/drawingml/2006/main">
              <a:ext uri="{FF2B5EF4-FFF2-40B4-BE49-F238E27FC236}">
                <a16:creationId xmlns:a16="http://schemas.microsoft.com/office/drawing/2014/main" id="{FF0FEEA6-C957-495E-ADD0-F403E76FD069}"/>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The architecture distinguishes source-code integrations from planned work.</a:t>
            </a:r>
          </a:p>
        </p:txBody>
      </p:sp>
      <p:sp>
        <p:nvSpPr>
          <p:cNvPr id="5" name="">
            <a:extLst xmlns:a="http://schemas.openxmlformats.org/drawingml/2006/main">
              <a:ext uri="{FF2B5EF4-FFF2-40B4-BE49-F238E27FC236}">
                <a16:creationId xmlns:a16="http://schemas.microsoft.com/office/drawing/2014/main" id="{9F1D0122-371F-4FFF-A4C2-1D1C1EF07E19}"/>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C4E40381-53A4-4921-A28B-D79E7190C876}"/>
              </a:ext>
            </a:extLst>
          </p:cNvPr>
          <p:cNvSpPr>
            <a:spLocks xmlns:a="http://schemas.openxmlformats.org/drawingml/2006/main" noGrp="1"/>
          </p:cNvSpPr>
          <p:nvPr/>
        </p:nvSpPr>
        <p:spPr>
          <a:xfrm xmlns:a="http://schemas.openxmlformats.org/drawingml/2006/main">
            <a:off x="619125" y="3190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Implemented in source</a:t>
            </a:r>
          </a:p>
        </p:txBody>
      </p:sp>
      <p:sp>
        <p:nvSpPr>
          <p:cNvPr id="7" name="">
            <a:extLst xmlns:a="http://schemas.openxmlformats.org/drawingml/2006/main">
              <a:ext uri="{FF2B5EF4-FFF2-40B4-BE49-F238E27FC236}">
                <a16:creationId xmlns:a16="http://schemas.microsoft.com/office/drawing/2014/main" id="{863F4579-62EC-4B08-8AA7-2B6109459AEA}"/>
              </a:ext>
            </a:extLst>
          </p:cNvPr>
          <p:cNvSpPr>
            <a:spLocks xmlns:a="http://schemas.openxmlformats.org/drawingml/2006/main" noGrp="1"/>
          </p:cNvSpPr>
          <p:nvPr/>
        </p:nvSpPr>
        <p:spPr>
          <a:xfrm xmlns:a="http://schemas.openxmlformats.org/drawingml/2006/main">
            <a:off x="6143625" y="31908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Next.js, FastAPI, SQLite, Qdrant, Bedrock, Titan, S3, Textract, Chime, Transcribe and Polly.</a:t>
            </a:r>
          </a:p>
        </p:txBody>
      </p:sp>
      <p:sp>
        <p:nvSpPr>
          <p:cNvPr id="8" name="">
            <a:extLst xmlns:a="http://schemas.openxmlformats.org/drawingml/2006/main">
              <a:ext uri="{FF2B5EF4-FFF2-40B4-BE49-F238E27FC236}">
                <a16:creationId xmlns:a16="http://schemas.microsoft.com/office/drawing/2014/main" id="{8027B9EE-ACD0-4B89-A9BC-9B3223BC1A90}"/>
              </a:ext>
            </a:extLst>
          </p:cNvPr>
          <p:cNvSpPr>
            <a:spLocks xmlns:a="http://schemas.openxmlformats.org/drawingml/2006/main" noGrp="1"/>
          </p:cNvSpPr>
          <p:nvPr/>
        </p:nvSpPr>
        <p:spPr>
          <a:xfrm xmlns:a="http://schemas.openxmlformats.org/drawingml/2006/main">
            <a:off x="619125" y="42957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Optional configuration</a:t>
            </a:r>
          </a:p>
        </p:txBody>
      </p:sp>
      <p:sp>
        <p:nvSpPr>
          <p:cNvPr id="9" name="">
            <a:extLst xmlns:a="http://schemas.openxmlformats.org/drawingml/2006/main">
              <a:ext uri="{FF2B5EF4-FFF2-40B4-BE49-F238E27FC236}">
                <a16:creationId xmlns:a16="http://schemas.microsoft.com/office/drawing/2014/main" id="{8ACB93E1-D1AB-4FF3-A1B4-A7F6CC6E5043}"/>
              </a:ext>
            </a:extLst>
          </p:cNvPr>
          <p:cNvSpPr>
            <a:spLocks xmlns:a="http://schemas.openxmlformats.org/drawingml/2006/main" noGrp="1"/>
          </p:cNvSpPr>
          <p:nvPr/>
        </p:nvSpPr>
        <p:spPr>
          <a:xfrm xmlns:a="http://schemas.openxmlformats.org/drawingml/2006/main">
            <a:off x="6143625" y="42957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Bedrock Guardrails on chat requests when an ID and version are supplied.</a:t>
            </a:r>
          </a:p>
        </p:txBody>
      </p:sp>
      <p:sp>
        <p:nvSpPr>
          <p:cNvPr id="10" name="">
            <a:extLst xmlns:a="http://schemas.openxmlformats.org/drawingml/2006/main">
              <a:ext uri="{FF2B5EF4-FFF2-40B4-BE49-F238E27FC236}">
                <a16:creationId xmlns:a16="http://schemas.microsoft.com/office/drawing/2014/main" id="{E932774E-05FC-49A3-90B3-7D61C8205DAE}"/>
              </a:ext>
            </a:extLst>
          </p:cNvPr>
          <p:cNvSpPr>
            <a:spLocks xmlns:a="http://schemas.openxmlformats.org/drawingml/2006/main" noGrp="1"/>
          </p:cNvSpPr>
          <p:nvPr/>
        </p:nvSpPr>
        <p:spPr>
          <a:xfrm xmlns:a="http://schemas.openxmlformats.org/drawingml/2006/main">
            <a:off x="619125" y="54006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805299"/>
                </a:solidFill>
                <a:latin typeface="Arial"/>
                <a:ea typeface="Arial"/>
                <a:cs typeface="Arial"/>
              </a:defRPr>
            </a:pPr>
            <a:r>
              <a:rPr sz="2400" b="1">
                <a:solidFill>
                  <a:srgbClr val="805299"/>
                </a:solidFill>
                <a:latin typeface="Arial"/>
                <a:ea typeface="Arial"/>
                <a:cs typeface="Arial"/>
              </a:rPr>
              <a:t>Planned feature</a:t>
            </a:r>
          </a:p>
        </p:txBody>
      </p:sp>
      <p:sp>
        <p:nvSpPr>
          <p:cNvPr id="11" name="">
            <a:extLst xmlns:a="http://schemas.openxmlformats.org/drawingml/2006/main">
              <a:ext uri="{FF2B5EF4-FFF2-40B4-BE49-F238E27FC236}">
                <a16:creationId xmlns:a16="http://schemas.microsoft.com/office/drawing/2014/main" id="{1DA2A80E-6F31-46B7-B2D5-7B0DAD358CA5}"/>
              </a:ext>
            </a:extLst>
          </p:cNvPr>
          <p:cNvSpPr>
            <a:spLocks xmlns:a="http://schemas.openxmlformats.org/drawingml/2006/main" noGrp="1"/>
          </p:cNvSpPr>
          <p:nvPr/>
        </p:nvSpPr>
        <p:spPr>
          <a:xfrm xmlns:a="http://schemas.openxmlformats.org/drawingml/2006/main">
            <a:off x="6143625" y="54006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SageMaker training and inference. The recommendations page uses demo values.</a:t>
            </a:r>
          </a:p>
        </p:txBody>
      </p:sp>
      <p:sp>
        <p:nvSpPr>
          <p:cNvPr id="12" name="">
            <a:extLst xmlns:a="http://schemas.openxmlformats.org/drawingml/2006/main">
              <a:ext uri="{FF2B5EF4-FFF2-40B4-BE49-F238E27FC236}">
                <a16:creationId xmlns:a16="http://schemas.microsoft.com/office/drawing/2014/main" id="{E6B77493-08FF-4D1D-8010-164B84177784}"/>
              </a:ext>
            </a:extLst>
          </p:cNvPr>
          <p:cNvSpPr>
            <a:spLocks xmlns:a="http://schemas.openxmlformats.org/drawingml/2006/main" noGrp="1"/>
          </p:cNvSpPr>
          <p:nvPr/>
        </p:nvSpPr>
        <p:spPr>
          <a:xfrm xmlns:a="http://schemas.openxmlformats.org/drawingml/2006/main">
            <a:off x="619125" y="65055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Client helpers only</a:t>
            </a:r>
          </a:p>
        </p:txBody>
      </p:sp>
      <p:sp>
        <p:nvSpPr>
          <p:cNvPr id="13" name="">
            <a:extLst xmlns:a="http://schemas.openxmlformats.org/drawingml/2006/main">
              <a:ext uri="{FF2B5EF4-FFF2-40B4-BE49-F238E27FC236}">
                <a16:creationId xmlns:a16="http://schemas.microsoft.com/office/drawing/2014/main" id="{CB4D0956-20AA-420C-B7EC-6E3CE9C08708}"/>
              </a:ext>
            </a:extLst>
          </p:cNvPr>
          <p:cNvSpPr>
            <a:spLocks xmlns:a="http://schemas.openxmlformats.org/drawingml/2006/main" noGrp="1"/>
          </p:cNvSpPr>
          <p:nvPr/>
        </p:nvSpPr>
        <p:spPr>
          <a:xfrm xmlns:a="http://schemas.openxmlformats.org/drawingml/2006/main">
            <a:off x="6143625" y="65055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CloudWatch Logs and Secrets Manager. No connected application use found.</a:t>
            </a:r>
          </a:p>
        </p:txBody>
      </p:sp>
      <p:sp>
        <p:nvSpPr>
          <p:cNvPr id="14" name="">
            <a:extLst xmlns:a="http://schemas.openxmlformats.org/drawingml/2006/main">
              <a:ext uri="{FF2B5EF4-FFF2-40B4-BE49-F238E27FC236}">
                <a16:creationId xmlns:a16="http://schemas.microsoft.com/office/drawing/2014/main" id="{CB728447-59AE-4876-AD0A-842453215B0E}"/>
              </a:ext>
            </a:extLst>
          </p:cNvPr>
          <p:cNvSpPr>
            <a:spLocks xmlns:a="http://schemas.openxmlformats.org/drawingml/2006/main" noGrp="1"/>
          </p:cNvSpPr>
          <p:nvPr/>
        </p:nvSpPr>
        <p:spPr>
          <a:xfrm xmlns:a="http://schemas.openxmlformats.org/drawingml/2006/main">
            <a:off x="619125" y="76104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Separate prototype</a:t>
            </a:r>
          </a:p>
        </p:txBody>
      </p:sp>
      <p:sp>
        <p:nvSpPr>
          <p:cNvPr id="15" name="">
            <a:extLst xmlns:a="http://schemas.openxmlformats.org/drawingml/2006/main">
              <a:ext uri="{FF2B5EF4-FFF2-40B4-BE49-F238E27FC236}">
                <a16:creationId xmlns:a16="http://schemas.microsoft.com/office/drawing/2014/main" id="{DDCB3F95-CD92-4ED7-BB3E-A18233D12F9F}"/>
              </a:ext>
            </a:extLst>
          </p:cNvPr>
          <p:cNvSpPr>
            <a:spLocks xmlns:a="http://schemas.openxmlformats.org/drawingml/2006/main" noGrp="1"/>
          </p:cNvSpPr>
          <p:nvPr/>
        </p:nvSpPr>
        <p:spPr>
          <a:xfrm xmlns:a="http://schemas.openxmlformats.org/drawingml/2006/main">
            <a:off x="6143625" y="7610475"/>
            <a:ext cx="11287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A stdio MCP adapter exposes services and uses a fixed demo user.</a:t>
            </a:r>
          </a:p>
        </p:txBody>
      </p:sp>
      <p:sp>
        <p:nvSpPr>
          <p:cNvPr id="16" name="">
            <a:extLst xmlns:a="http://schemas.openxmlformats.org/drawingml/2006/main">
              <a:ext uri="{FF2B5EF4-FFF2-40B4-BE49-F238E27FC236}">
                <a16:creationId xmlns:a16="http://schemas.microsoft.com/office/drawing/2014/main" id="{AF0D0901-B5FF-43F1-8396-0CCA7644D810}"/>
              </a:ext>
            </a:extLst>
          </p:cNvPr>
          <p:cNvSpPr>
            <a:spLocks xmlns:a="http://schemas.openxmlformats.org/drawingml/2006/main" noGrp="1"/>
          </p:cNvSpPr>
          <p:nvPr/>
        </p:nvSpPr>
        <p:spPr>
          <a:xfrm xmlns:a="http://schemas.openxmlformats.org/drawingml/2006/main">
            <a:off x="619125" y="9096375"/>
            <a:ext cx="1666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8766B"/>
                </a:solidFill>
                <a:latin typeface="Arial"/>
                <a:ea typeface="Arial"/>
                <a:cs typeface="Arial"/>
              </a:defRPr>
            </a:pPr>
            <a:r>
              <a:rPr sz="2100" b="0">
                <a:solidFill>
                  <a:srgbClr val="88766B"/>
                </a:solidFill>
                <a:latin typeface="Arial"/>
                <a:ea typeface="Arial"/>
                <a:cs typeface="Arial"/>
              </a:rPr>
              <a:t>Source-code review only. Live AWS operation and production hosting were not verified.</a:t>
            </a:r>
          </a:p>
        </p:txBody>
      </p:sp>
    </p:spTree>
    <p:extLst>
      <p:ext uri="{BB962C8B-B14F-4D97-AF65-F5344CB8AC3E}">
        <p14:creationId xmlns:p14="http://schemas.microsoft.com/office/powerpoint/2010/main" val="364456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2026-09-12T13:16:24.2700000Z</dcterms:created>
  <dcterms:modified xsi:type="dcterms:W3CDTF">2026-09-12T13:16:24.2700000Z</dcterms:modified>
</coreProperties>
</file>